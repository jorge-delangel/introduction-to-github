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130"/>
  </p:notesMasterIdLst>
  <p:sldIdLst>
    <p:sldId id="256" r:id="rId2"/>
    <p:sldId id="257" r:id="rId3"/>
    <p:sldId id="380" r:id="rId4"/>
    <p:sldId id="381" r:id="rId5"/>
    <p:sldId id="382" r:id="rId6"/>
    <p:sldId id="383" r:id="rId7"/>
    <p:sldId id="384" r:id="rId8"/>
    <p:sldId id="385" r:id="rId9"/>
    <p:sldId id="386"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3" r:id="rId114"/>
    <p:sldId id="364" r:id="rId115"/>
    <p:sldId id="365" r:id="rId116"/>
    <p:sldId id="366" r:id="rId117"/>
    <p:sldId id="367" r:id="rId118"/>
    <p:sldId id="368" r:id="rId119"/>
    <p:sldId id="369" r:id="rId120"/>
    <p:sldId id="370" r:id="rId121"/>
    <p:sldId id="371" r:id="rId122"/>
    <p:sldId id="373" r:id="rId123"/>
    <p:sldId id="374" r:id="rId124"/>
    <p:sldId id="375" r:id="rId125"/>
    <p:sldId id="376" r:id="rId126"/>
    <p:sldId id="377" r:id="rId127"/>
    <p:sldId id="378" r:id="rId128"/>
    <p:sldId id="379" r:id="rId1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heme" Target="theme/theme1.xml"/></Relationships>
</file>

<file path=ppt/diagrams/_rels/data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4" Type="http://schemas.openxmlformats.org/officeDocument/2006/relationships/image" Target="../media/image11.svg"/></Relationships>
</file>

<file path=ppt/diagrams/_rels/data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ata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4" Type="http://schemas.openxmlformats.org/officeDocument/2006/relationships/image" Target="../media/image23.svg"/></Relationships>
</file>

<file path=ppt/diagrams/_rels/drawing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4" Type="http://schemas.openxmlformats.org/officeDocument/2006/relationships/image" Target="../media/image11.svg"/></Relationships>
</file>

<file path=ppt/diagrams/_rels/drawing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4" Type="http://schemas.openxmlformats.org/officeDocument/2006/relationships/image" Target="../media/image23.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312A95-3C06-43AF-8A84-72B1BE7EC444}"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BF2DFD30-6AA8-4784-AA8F-D9839C02E1CF}">
      <dgm:prSet/>
      <dgm:spPr/>
      <dgm:t>
        <a:bodyPr/>
        <a:lstStyle/>
        <a:p>
          <a:r>
            <a:rPr lang="en-GB" b="0" i="0"/>
            <a:t>Time Series Analysis holds immense significance in various fields and industries due to its ability to provide valuable insights and make informed decisions based on historical data. Here are some key reasons why Time Series Analysis is essential:</a:t>
          </a:r>
          <a:endParaRPr lang="en-US"/>
        </a:p>
      </dgm:t>
    </dgm:pt>
    <dgm:pt modelId="{CCD843A0-2C15-48A3-AC92-FEEFD02136BE}" type="parTrans" cxnId="{48B8D450-B61C-47E1-AEAA-FFC71F1F7502}">
      <dgm:prSet/>
      <dgm:spPr/>
      <dgm:t>
        <a:bodyPr/>
        <a:lstStyle/>
        <a:p>
          <a:endParaRPr lang="en-US"/>
        </a:p>
      </dgm:t>
    </dgm:pt>
    <dgm:pt modelId="{B59B4361-E95E-455D-B1FC-216C90B14711}" type="sibTrans" cxnId="{48B8D450-B61C-47E1-AEAA-FFC71F1F7502}">
      <dgm:prSet/>
      <dgm:spPr/>
      <dgm:t>
        <a:bodyPr/>
        <a:lstStyle/>
        <a:p>
          <a:endParaRPr lang="en-US"/>
        </a:p>
      </dgm:t>
    </dgm:pt>
    <dgm:pt modelId="{A42A6988-7BC9-4C8E-96E4-3A96F3780154}">
      <dgm:prSet/>
      <dgm:spPr/>
      <dgm:t>
        <a:bodyPr/>
        <a:lstStyle/>
        <a:p>
          <a:r>
            <a:rPr lang="en-GB" b="1" i="0" dirty="0"/>
            <a:t>Understanding Trends and Patterns</a:t>
          </a:r>
          <a:r>
            <a:rPr lang="en-GB" b="0" i="0" dirty="0"/>
            <a:t>: Time series data allows us to identify trends and patterns over time. This is crucial for understanding how data evolves, which can inform various strategies and decisions.</a:t>
          </a:r>
          <a:endParaRPr lang="en-US" dirty="0"/>
        </a:p>
      </dgm:t>
    </dgm:pt>
    <dgm:pt modelId="{EB38FE45-4084-4A5C-B544-CC876B966793}" type="parTrans" cxnId="{3786C8A7-E6F2-4CEA-89B8-696704F9CEF5}">
      <dgm:prSet/>
      <dgm:spPr/>
      <dgm:t>
        <a:bodyPr/>
        <a:lstStyle/>
        <a:p>
          <a:endParaRPr lang="en-US"/>
        </a:p>
      </dgm:t>
    </dgm:pt>
    <dgm:pt modelId="{A86B9944-67CC-4C92-A55C-6D06DE3BDE08}" type="sibTrans" cxnId="{3786C8A7-E6F2-4CEA-89B8-696704F9CEF5}">
      <dgm:prSet/>
      <dgm:spPr/>
      <dgm:t>
        <a:bodyPr/>
        <a:lstStyle/>
        <a:p>
          <a:endParaRPr lang="en-US"/>
        </a:p>
      </dgm:t>
    </dgm:pt>
    <dgm:pt modelId="{C64967AE-97B1-4ADD-9A1F-496731944A45}">
      <dgm:prSet/>
      <dgm:spPr/>
      <dgm:t>
        <a:bodyPr/>
        <a:lstStyle/>
        <a:p>
          <a:r>
            <a:rPr lang="en-GB" b="1" i="0"/>
            <a:t>Forecasting Future Values</a:t>
          </a:r>
          <a:r>
            <a:rPr lang="en-GB" b="0" i="0"/>
            <a:t>: Time series analysis provides the tools to make predictions about future data points. This is used for financial forecasting, sales predictions, demand forecasting, and more.</a:t>
          </a:r>
          <a:endParaRPr lang="en-US"/>
        </a:p>
      </dgm:t>
    </dgm:pt>
    <dgm:pt modelId="{F193110F-6B1A-4C4C-9D98-D57F2B8A2B5C}" type="parTrans" cxnId="{E866313C-4449-459B-88F6-CB2F4F751D2F}">
      <dgm:prSet/>
      <dgm:spPr/>
      <dgm:t>
        <a:bodyPr/>
        <a:lstStyle/>
        <a:p>
          <a:endParaRPr lang="en-US"/>
        </a:p>
      </dgm:t>
    </dgm:pt>
    <dgm:pt modelId="{D636739F-2422-432F-98BC-2F5F77A42965}" type="sibTrans" cxnId="{E866313C-4449-459B-88F6-CB2F4F751D2F}">
      <dgm:prSet/>
      <dgm:spPr/>
      <dgm:t>
        <a:bodyPr/>
        <a:lstStyle/>
        <a:p>
          <a:endParaRPr lang="en-US"/>
        </a:p>
      </dgm:t>
    </dgm:pt>
    <dgm:pt modelId="{46BDB00D-8B85-49D9-89C0-E75DCCE3E828}" type="pres">
      <dgm:prSet presAssocID="{FC312A95-3C06-43AF-8A84-72B1BE7EC444}" presName="linear" presStyleCnt="0">
        <dgm:presLayoutVars>
          <dgm:animLvl val="lvl"/>
          <dgm:resizeHandles val="exact"/>
        </dgm:presLayoutVars>
      </dgm:prSet>
      <dgm:spPr/>
    </dgm:pt>
    <dgm:pt modelId="{476B3478-A956-4975-BFB4-4243CE0F5BB3}" type="pres">
      <dgm:prSet presAssocID="{BF2DFD30-6AA8-4784-AA8F-D9839C02E1CF}" presName="parentText" presStyleLbl="node1" presStyleIdx="0" presStyleCnt="3">
        <dgm:presLayoutVars>
          <dgm:chMax val="0"/>
          <dgm:bulletEnabled val="1"/>
        </dgm:presLayoutVars>
      </dgm:prSet>
      <dgm:spPr/>
    </dgm:pt>
    <dgm:pt modelId="{80E26A66-1702-486E-AA5B-6802E3CD51D0}" type="pres">
      <dgm:prSet presAssocID="{B59B4361-E95E-455D-B1FC-216C90B14711}" presName="spacer" presStyleCnt="0"/>
      <dgm:spPr/>
    </dgm:pt>
    <dgm:pt modelId="{8CE72C7B-EE12-4E78-9FA2-063CBE2F0FCF}" type="pres">
      <dgm:prSet presAssocID="{A42A6988-7BC9-4C8E-96E4-3A96F3780154}" presName="parentText" presStyleLbl="node1" presStyleIdx="1" presStyleCnt="3">
        <dgm:presLayoutVars>
          <dgm:chMax val="0"/>
          <dgm:bulletEnabled val="1"/>
        </dgm:presLayoutVars>
      </dgm:prSet>
      <dgm:spPr/>
    </dgm:pt>
    <dgm:pt modelId="{FE4E60D1-A1CD-42E8-A837-57B7D8512288}" type="pres">
      <dgm:prSet presAssocID="{A86B9944-67CC-4C92-A55C-6D06DE3BDE08}" presName="spacer" presStyleCnt="0"/>
      <dgm:spPr/>
    </dgm:pt>
    <dgm:pt modelId="{FBEC2BA7-38C2-4A10-A3B1-754F574F8891}" type="pres">
      <dgm:prSet presAssocID="{C64967AE-97B1-4ADD-9A1F-496731944A45}" presName="parentText" presStyleLbl="node1" presStyleIdx="2" presStyleCnt="3">
        <dgm:presLayoutVars>
          <dgm:chMax val="0"/>
          <dgm:bulletEnabled val="1"/>
        </dgm:presLayoutVars>
      </dgm:prSet>
      <dgm:spPr/>
    </dgm:pt>
  </dgm:ptLst>
  <dgm:cxnLst>
    <dgm:cxn modelId="{310E5E04-68F7-4E4D-9AEC-EEC91E7FAE1C}" type="presOf" srcId="{C64967AE-97B1-4ADD-9A1F-496731944A45}" destId="{FBEC2BA7-38C2-4A10-A3B1-754F574F8891}" srcOrd="0" destOrd="0" presId="urn:microsoft.com/office/officeart/2005/8/layout/vList2"/>
    <dgm:cxn modelId="{4536DB08-341E-4EF3-BECF-5B253A8859D7}" type="presOf" srcId="{A42A6988-7BC9-4C8E-96E4-3A96F3780154}" destId="{8CE72C7B-EE12-4E78-9FA2-063CBE2F0FCF}" srcOrd="0" destOrd="0" presId="urn:microsoft.com/office/officeart/2005/8/layout/vList2"/>
    <dgm:cxn modelId="{E866313C-4449-459B-88F6-CB2F4F751D2F}" srcId="{FC312A95-3C06-43AF-8A84-72B1BE7EC444}" destId="{C64967AE-97B1-4ADD-9A1F-496731944A45}" srcOrd="2" destOrd="0" parTransId="{F193110F-6B1A-4C4C-9D98-D57F2B8A2B5C}" sibTransId="{D636739F-2422-432F-98BC-2F5F77A42965}"/>
    <dgm:cxn modelId="{48B8D450-B61C-47E1-AEAA-FFC71F1F7502}" srcId="{FC312A95-3C06-43AF-8A84-72B1BE7EC444}" destId="{BF2DFD30-6AA8-4784-AA8F-D9839C02E1CF}" srcOrd="0" destOrd="0" parTransId="{CCD843A0-2C15-48A3-AC92-FEEFD02136BE}" sibTransId="{B59B4361-E95E-455D-B1FC-216C90B14711}"/>
    <dgm:cxn modelId="{BC8B1A95-0B86-47F1-9C2A-C275BA09B575}" type="presOf" srcId="{FC312A95-3C06-43AF-8A84-72B1BE7EC444}" destId="{46BDB00D-8B85-49D9-89C0-E75DCCE3E828}" srcOrd="0" destOrd="0" presId="urn:microsoft.com/office/officeart/2005/8/layout/vList2"/>
    <dgm:cxn modelId="{3786C8A7-E6F2-4CEA-89B8-696704F9CEF5}" srcId="{FC312A95-3C06-43AF-8A84-72B1BE7EC444}" destId="{A42A6988-7BC9-4C8E-96E4-3A96F3780154}" srcOrd="1" destOrd="0" parTransId="{EB38FE45-4084-4A5C-B544-CC876B966793}" sibTransId="{A86B9944-67CC-4C92-A55C-6D06DE3BDE08}"/>
    <dgm:cxn modelId="{15840BDB-A016-4737-B660-E4BC764E448F}" type="presOf" srcId="{BF2DFD30-6AA8-4784-AA8F-D9839C02E1CF}" destId="{476B3478-A956-4975-BFB4-4243CE0F5BB3}" srcOrd="0" destOrd="0" presId="urn:microsoft.com/office/officeart/2005/8/layout/vList2"/>
    <dgm:cxn modelId="{E3C8F9E0-3929-4E81-B470-87CF2DE00A91}" type="presParOf" srcId="{46BDB00D-8B85-49D9-89C0-E75DCCE3E828}" destId="{476B3478-A956-4975-BFB4-4243CE0F5BB3}" srcOrd="0" destOrd="0" presId="urn:microsoft.com/office/officeart/2005/8/layout/vList2"/>
    <dgm:cxn modelId="{45B3A3D7-A33D-422A-AE9C-79CD77E316E5}" type="presParOf" srcId="{46BDB00D-8B85-49D9-89C0-E75DCCE3E828}" destId="{80E26A66-1702-486E-AA5B-6802E3CD51D0}" srcOrd="1" destOrd="0" presId="urn:microsoft.com/office/officeart/2005/8/layout/vList2"/>
    <dgm:cxn modelId="{DDBA1934-8CE0-43F2-A76E-54A2AF1FE9FD}" type="presParOf" srcId="{46BDB00D-8B85-49D9-89C0-E75DCCE3E828}" destId="{8CE72C7B-EE12-4E78-9FA2-063CBE2F0FCF}" srcOrd="2" destOrd="0" presId="urn:microsoft.com/office/officeart/2005/8/layout/vList2"/>
    <dgm:cxn modelId="{AA329A6F-7562-485F-847A-F28CBE2F6D16}" type="presParOf" srcId="{46BDB00D-8B85-49D9-89C0-E75DCCE3E828}" destId="{FE4E60D1-A1CD-42E8-A837-57B7D8512288}" srcOrd="3" destOrd="0" presId="urn:microsoft.com/office/officeart/2005/8/layout/vList2"/>
    <dgm:cxn modelId="{76E8A846-D719-44FA-A590-9A9C7CA99A4E}" type="presParOf" srcId="{46BDB00D-8B85-49D9-89C0-E75DCCE3E828}" destId="{FBEC2BA7-38C2-4A10-A3B1-754F574F8891}"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52AA48B-19FE-47B1-B7D5-FAE5EB6D6D05}"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985D9C26-C149-42AC-B979-B1F8274E4001}">
      <dgm:prSet/>
      <dgm:spPr/>
      <dgm:t>
        <a:bodyPr/>
        <a:lstStyle/>
        <a:p>
          <a:r>
            <a:rPr lang="en-GB" b="1" i="0"/>
            <a:t>Seasonal and Cyclical Patterns</a:t>
          </a:r>
          <a:r>
            <a:rPr lang="en-GB" b="0" i="0"/>
            <a:t>: Many time series data exhibit seasonal or cyclical patterns, such as increased sales during holidays or recurring trends in financial markets. Understanding and leveraging these patterns can lead to more effective strategies.</a:t>
          </a:r>
          <a:endParaRPr lang="en-US"/>
        </a:p>
      </dgm:t>
    </dgm:pt>
    <dgm:pt modelId="{7A32E4A1-DD75-438D-98E2-03FF61FF99AD}" type="parTrans" cxnId="{378D627E-9245-4E23-A198-5046A7937DA5}">
      <dgm:prSet/>
      <dgm:spPr/>
      <dgm:t>
        <a:bodyPr/>
        <a:lstStyle/>
        <a:p>
          <a:endParaRPr lang="en-US"/>
        </a:p>
      </dgm:t>
    </dgm:pt>
    <dgm:pt modelId="{FC8D7D04-F8FD-43AE-A7AC-388FAB8794B9}" type="sibTrans" cxnId="{378D627E-9245-4E23-A198-5046A7937DA5}">
      <dgm:prSet/>
      <dgm:spPr/>
      <dgm:t>
        <a:bodyPr/>
        <a:lstStyle/>
        <a:p>
          <a:endParaRPr lang="en-US"/>
        </a:p>
      </dgm:t>
    </dgm:pt>
    <dgm:pt modelId="{A4E87423-3040-494F-AE30-DC16B6D0F245}">
      <dgm:prSet/>
      <dgm:spPr/>
      <dgm:t>
        <a:bodyPr/>
        <a:lstStyle/>
        <a:p>
          <a:r>
            <a:rPr lang="en-GB" b="1" i="0"/>
            <a:t>Resource Allocation</a:t>
          </a:r>
          <a:r>
            <a:rPr lang="en-GB" b="0" i="0"/>
            <a:t>: Businesses and organizations use time series analysis to allocate resources more efficiently. For instance, optimizing inventory based on demand forecasts can lead to cost savings.</a:t>
          </a:r>
          <a:endParaRPr lang="en-US"/>
        </a:p>
      </dgm:t>
    </dgm:pt>
    <dgm:pt modelId="{E9F9D756-5229-4785-97FA-33159A5DA3E2}" type="parTrans" cxnId="{EE7B7092-20D4-4686-9C97-50CAC49BEB46}">
      <dgm:prSet/>
      <dgm:spPr/>
      <dgm:t>
        <a:bodyPr/>
        <a:lstStyle/>
        <a:p>
          <a:endParaRPr lang="en-US"/>
        </a:p>
      </dgm:t>
    </dgm:pt>
    <dgm:pt modelId="{427479C6-9AB3-4AF3-B2F4-7CDF81D12D67}" type="sibTrans" cxnId="{EE7B7092-20D4-4686-9C97-50CAC49BEB46}">
      <dgm:prSet/>
      <dgm:spPr/>
      <dgm:t>
        <a:bodyPr/>
        <a:lstStyle/>
        <a:p>
          <a:endParaRPr lang="en-US"/>
        </a:p>
      </dgm:t>
    </dgm:pt>
    <dgm:pt modelId="{50DCB318-FF77-407B-BD24-26C231215318}" type="pres">
      <dgm:prSet presAssocID="{B52AA48B-19FE-47B1-B7D5-FAE5EB6D6D05}" presName="linear" presStyleCnt="0">
        <dgm:presLayoutVars>
          <dgm:animLvl val="lvl"/>
          <dgm:resizeHandles val="exact"/>
        </dgm:presLayoutVars>
      </dgm:prSet>
      <dgm:spPr/>
    </dgm:pt>
    <dgm:pt modelId="{DB3D7790-35CE-4631-9EFD-999531A066F4}" type="pres">
      <dgm:prSet presAssocID="{985D9C26-C149-42AC-B979-B1F8274E4001}" presName="parentText" presStyleLbl="node1" presStyleIdx="0" presStyleCnt="2">
        <dgm:presLayoutVars>
          <dgm:chMax val="0"/>
          <dgm:bulletEnabled val="1"/>
        </dgm:presLayoutVars>
      </dgm:prSet>
      <dgm:spPr/>
    </dgm:pt>
    <dgm:pt modelId="{54F0E864-0074-4048-9BE5-D8EDD8FB026F}" type="pres">
      <dgm:prSet presAssocID="{FC8D7D04-F8FD-43AE-A7AC-388FAB8794B9}" presName="spacer" presStyleCnt="0"/>
      <dgm:spPr/>
    </dgm:pt>
    <dgm:pt modelId="{FAA8E702-CFE0-4FBA-AD2B-2AD47BF935F3}" type="pres">
      <dgm:prSet presAssocID="{A4E87423-3040-494F-AE30-DC16B6D0F245}" presName="parentText" presStyleLbl="node1" presStyleIdx="1" presStyleCnt="2">
        <dgm:presLayoutVars>
          <dgm:chMax val="0"/>
          <dgm:bulletEnabled val="1"/>
        </dgm:presLayoutVars>
      </dgm:prSet>
      <dgm:spPr/>
    </dgm:pt>
  </dgm:ptLst>
  <dgm:cxnLst>
    <dgm:cxn modelId="{422AAF69-C32A-4ABA-A6EE-262016A2C2EE}" type="presOf" srcId="{A4E87423-3040-494F-AE30-DC16B6D0F245}" destId="{FAA8E702-CFE0-4FBA-AD2B-2AD47BF935F3}" srcOrd="0" destOrd="0" presId="urn:microsoft.com/office/officeart/2005/8/layout/vList2"/>
    <dgm:cxn modelId="{B9FB0D7B-AC72-4C89-8E49-9B5F764D4660}" type="presOf" srcId="{B52AA48B-19FE-47B1-B7D5-FAE5EB6D6D05}" destId="{50DCB318-FF77-407B-BD24-26C231215318}" srcOrd="0" destOrd="0" presId="urn:microsoft.com/office/officeart/2005/8/layout/vList2"/>
    <dgm:cxn modelId="{378D627E-9245-4E23-A198-5046A7937DA5}" srcId="{B52AA48B-19FE-47B1-B7D5-FAE5EB6D6D05}" destId="{985D9C26-C149-42AC-B979-B1F8274E4001}" srcOrd="0" destOrd="0" parTransId="{7A32E4A1-DD75-438D-98E2-03FF61FF99AD}" sibTransId="{FC8D7D04-F8FD-43AE-A7AC-388FAB8794B9}"/>
    <dgm:cxn modelId="{7E264A8F-0C57-419C-9CCB-10297A475EA1}" type="presOf" srcId="{985D9C26-C149-42AC-B979-B1F8274E4001}" destId="{DB3D7790-35CE-4631-9EFD-999531A066F4}" srcOrd="0" destOrd="0" presId="urn:microsoft.com/office/officeart/2005/8/layout/vList2"/>
    <dgm:cxn modelId="{EE7B7092-20D4-4686-9C97-50CAC49BEB46}" srcId="{B52AA48B-19FE-47B1-B7D5-FAE5EB6D6D05}" destId="{A4E87423-3040-494F-AE30-DC16B6D0F245}" srcOrd="1" destOrd="0" parTransId="{E9F9D756-5229-4785-97FA-33159A5DA3E2}" sibTransId="{427479C6-9AB3-4AF3-B2F4-7CDF81D12D67}"/>
    <dgm:cxn modelId="{32435363-1907-44AD-BAC8-6C999078B7F9}" type="presParOf" srcId="{50DCB318-FF77-407B-BD24-26C231215318}" destId="{DB3D7790-35CE-4631-9EFD-999531A066F4}" srcOrd="0" destOrd="0" presId="urn:microsoft.com/office/officeart/2005/8/layout/vList2"/>
    <dgm:cxn modelId="{50872FA5-95FB-4028-9749-FB69EE209189}" type="presParOf" srcId="{50DCB318-FF77-407B-BD24-26C231215318}" destId="{54F0E864-0074-4048-9BE5-D8EDD8FB026F}" srcOrd="1" destOrd="0" presId="urn:microsoft.com/office/officeart/2005/8/layout/vList2"/>
    <dgm:cxn modelId="{E46D8A1E-51A4-4AFD-B4D1-74228DA58CD8}" type="presParOf" srcId="{50DCB318-FF77-407B-BD24-26C231215318}" destId="{FAA8E702-CFE0-4FBA-AD2B-2AD47BF935F3}" srcOrd="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09D71CB-23E4-4CDF-A7C2-72BA38061C59}"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1212A671-CD50-4084-8CA4-6582207BF781}">
      <dgm:prSet/>
      <dgm:spPr/>
      <dgm:t>
        <a:bodyPr/>
        <a:lstStyle/>
        <a:p>
          <a:r>
            <a:rPr lang="en-GB" b="1" i="0"/>
            <a:t>Anomaly Detection</a:t>
          </a:r>
          <a:r>
            <a:rPr lang="en-GB" b="0" i="0"/>
            <a:t>: Time series analysis helps in identifying anomalies or outliers in data. Detecting unusual patterns can be critical for fraud detection, network security, and fault monitoring.</a:t>
          </a:r>
          <a:endParaRPr lang="en-US"/>
        </a:p>
      </dgm:t>
    </dgm:pt>
    <dgm:pt modelId="{4848C058-05A7-4408-B576-DCB9812A4957}" type="parTrans" cxnId="{F720272F-4AD2-4CBC-96D3-BDE3A7998E74}">
      <dgm:prSet/>
      <dgm:spPr/>
      <dgm:t>
        <a:bodyPr/>
        <a:lstStyle/>
        <a:p>
          <a:endParaRPr lang="en-US"/>
        </a:p>
      </dgm:t>
    </dgm:pt>
    <dgm:pt modelId="{661B972A-9227-4174-A800-DE06EFEEFCA5}" type="sibTrans" cxnId="{F720272F-4AD2-4CBC-96D3-BDE3A7998E74}">
      <dgm:prSet/>
      <dgm:spPr/>
      <dgm:t>
        <a:bodyPr/>
        <a:lstStyle/>
        <a:p>
          <a:endParaRPr lang="en-US"/>
        </a:p>
      </dgm:t>
    </dgm:pt>
    <dgm:pt modelId="{C3A61C33-FE3E-48AC-8DEC-04908AE7E538}">
      <dgm:prSet/>
      <dgm:spPr/>
      <dgm:t>
        <a:bodyPr/>
        <a:lstStyle/>
        <a:p>
          <a:r>
            <a:rPr lang="en-GB" b="1" i="0"/>
            <a:t>Risk Management</a:t>
          </a:r>
          <a:r>
            <a:rPr lang="en-GB" b="0" i="0"/>
            <a:t>: In financial industries, understanding the time series behaviour of assets helps in risk management. Analysing historical asset prices can provide insights into potential future risks.</a:t>
          </a:r>
          <a:endParaRPr lang="en-US"/>
        </a:p>
      </dgm:t>
    </dgm:pt>
    <dgm:pt modelId="{62C2CB47-459E-444C-830D-6902251507DB}" type="parTrans" cxnId="{D6165AAE-173D-49B8-A395-4498BA416C4C}">
      <dgm:prSet/>
      <dgm:spPr/>
      <dgm:t>
        <a:bodyPr/>
        <a:lstStyle/>
        <a:p>
          <a:endParaRPr lang="en-US"/>
        </a:p>
      </dgm:t>
    </dgm:pt>
    <dgm:pt modelId="{0CF7BCC2-0DBF-4DD7-8889-CD2D3047B7E5}" type="sibTrans" cxnId="{D6165AAE-173D-49B8-A395-4498BA416C4C}">
      <dgm:prSet/>
      <dgm:spPr/>
      <dgm:t>
        <a:bodyPr/>
        <a:lstStyle/>
        <a:p>
          <a:endParaRPr lang="en-US"/>
        </a:p>
      </dgm:t>
    </dgm:pt>
    <dgm:pt modelId="{A1D84A7F-9FA1-4C4A-82D7-4C0056B04725}" type="pres">
      <dgm:prSet presAssocID="{609D71CB-23E4-4CDF-A7C2-72BA38061C59}" presName="linear" presStyleCnt="0">
        <dgm:presLayoutVars>
          <dgm:animLvl val="lvl"/>
          <dgm:resizeHandles val="exact"/>
        </dgm:presLayoutVars>
      </dgm:prSet>
      <dgm:spPr/>
    </dgm:pt>
    <dgm:pt modelId="{7A0356E6-5575-4824-BD89-B10A07FB67CC}" type="pres">
      <dgm:prSet presAssocID="{1212A671-CD50-4084-8CA4-6582207BF781}" presName="parentText" presStyleLbl="node1" presStyleIdx="0" presStyleCnt="2">
        <dgm:presLayoutVars>
          <dgm:chMax val="0"/>
          <dgm:bulletEnabled val="1"/>
        </dgm:presLayoutVars>
      </dgm:prSet>
      <dgm:spPr/>
    </dgm:pt>
    <dgm:pt modelId="{AF0459DC-F43E-44E6-9011-BDF654C2FFAA}" type="pres">
      <dgm:prSet presAssocID="{661B972A-9227-4174-A800-DE06EFEEFCA5}" presName="spacer" presStyleCnt="0"/>
      <dgm:spPr/>
    </dgm:pt>
    <dgm:pt modelId="{ABD4087D-64F8-45B3-A291-D67EBD45EAD8}" type="pres">
      <dgm:prSet presAssocID="{C3A61C33-FE3E-48AC-8DEC-04908AE7E538}" presName="parentText" presStyleLbl="node1" presStyleIdx="1" presStyleCnt="2">
        <dgm:presLayoutVars>
          <dgm:chMax val="0"/>
          <dgm:bulletEnabled val="1"/>
        </dgm:presLayoutVars>
      </dgm:prSet>
      <dgm:spPr/>
    </dgm:pt>
  </dgm:ptLst>
  <dgm:cxnLst>
    <dgm:cxn modelId="{F720272F-4AD2-4CBC-96D3-BDE3A7998E74}" srcId="{609D71CB-23E4-4CDF-A7C2-72BA38061C59}" destId="{1212A671-CD50-4084-8CA4-6582207BF781}" srcOrd="0" destOrd="0" parTransId="{4848C058-05A7-4408-B576-DCB9812A4957}" sibTransId="{661B972A-9227-4174-A800-DE06EFEEFCA5}"/>
    <dgm:cxn modelId="{5ABB6A87-B8F5-47E3-9B62-B38B5D82961A}" type="presOf" srcId="{609D71CB-23E4-4CDF-A7C2-72BA38061C59}" destId="{A1D84A7F-9FA1-4C4A-82D7-4C0056B04725}" srcOrd="0" destOrd="0" presId="urn:microsoft.com/office/officeart/2005/8/layout/vList2"/>
    <dgm:cxn modelId="{C2775992-132F-4ACA-B504-191BA389BA30}" type="presOf" srcId="{C3A61C33-FE3E-48AC-8DEC-04908AE7E538}" destId="{ABD4087D-64F8-45B3-A291-D67EBD45EAD8}" srcOrd="0" destOrd="0" presId="urn:microsoft.com/office/officeart/2005/8/layout/vList2"/>
    <dgm:cxn modelId="{D6165AAE-173D-49B8-A395-4498BA416C4C}" srcId="{609D71CB-23E4-4CDF-A7C2-72BA38061C59}" destId="{C3A61C33-FE3E-48AC-8DEC-04908AE7E538}" srcOrd="1" destOrd="0" parTransId="{62C2CB47-459E-444C-830D-6902251507DB}" sibTransId="{0CF7BCC2-0DBF-4DD7-8889-CD2D3047B7E5}"/>
    <dgm:cxn modelId="{515C0CB3-6C2C-4732-A879-9680CCFE97F8}" type="presOf" srcId="{1212A671-CD50-4084-8CA4-6582207BF781}" destId="{7A0356E6-5575-4824-BD89-B10A07FB67CC}" srcOrd="0" destOrd="0" presId="urn:microsoft.com/office/officeart/2005/8/layout/vList2"/>
    <dgm:cxn modelId="{D9DD8907-BB0B-4935-95F2-D07F1D9855CA}" type="presParOf" srcId="{A1D84A7F-9FA1-4C4A-82D7-4C0056B04725}" destId="{7A0356E6-5575-4824-BD89-B10A07FB67CC}" srcOrd="0" destOrd="0" presId="urn:microsoft.com/office/officeart/2005/8/layout/vList2"/>
    <dgm:cxn modelId="{5354B76D-6391-424E-9BA9-BC0E272BBD42}" type="presParOf" srcId="{A1D84A7F-9FA1-4C4A-82D7-4C0056B04725}" destId="{AF0459DC-F43E-44E6-9011-BDF654C2FFAA}" srcOrd="1" destOrd="0" presId="urn:microsoft.com/office/officeart/2005/8/layout/vList2"/>
    <dgm:cxn modelId="{F0D8A23D-C078-442D-B584-1BC643D5A099}" type="presParOf" srcId="{A1D84A7F-9FA1-4C4A-82D7-4C0056B04725}" destId="{ABD4087D-64F8-45B3-A291-D67EBD45EAD8}" srcOrd="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59CDF12-D2EF-45CC-A1DC-4522912DE893}"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F16CD679-50E8-4D2E-B5F4-B42A06742898}">
      <dgm:prSet/>
      <dgm:spPr/>
      <dgm:t>
        <a:bodyPr/>
        <a:lstStyle/>
        <a:p>
          <a:r>
            <a:rPr lang="en-GB" b="1" i="0"/>
            <a:t>Policy and Strategy Making</a:t>
          </a:r>
          <a:r>
            <a:rPr lang="en-GB" b="0" i="0"/>
            <a:t>: Governments and policymakers use time series analysis to inform decisions and policies. For example, analysing historical health data can inform public health strategies.</a:t>
          </a:r>
          <a:endParaRPr lang="en-US"/>
        </a:p>
      </dgm:t>
    </dgm:pt>
    <dgm:pt modelId="{1F50FA5D-FF8B-415B-8F4C-79F57837CFCD}" type="parTrans" cxnId="{7F1C3224-7E9C-48B0-99BA-DD2926276B39}">
      <dgm:prSet/>
      <dgm:spPr/>
      <dgm:t>
        <a:bodyPr/>
        <a:lstStyle/>
        <a:p>
          <a:endParaRPr lang="en-US"/>
        </a:p>
      </dgm:t>
    </dgm:pt>
    <dgm:pt modelId="{42479D32-188E-42FF-A93D-4668DD74CAB4}" type="sibTrans" cxnId="{7F1C3224-7E9C-48B0-99BA-DD2926276B39}">
      <dgm:prSet/>
      <dgm:spPr/>
      <dgm:t>
        <a:bodyPr/>
        <a:lstStyle/>
        <a:p>
          <a:endParaRPr lang="en-US"/>
        </a:p>
      </dgm:t>
    </dgm:pt>
    <dgm:pt modelId="{C7C64F02-6713-4617-BA70-1145CF8565BD}">
      <dgm:prSet/>
      <dgm:spPr/>
      <dgm:t>
        <a:bodyPr/>
        <a:lstStyle/>
        <a:p>
          <a:r>
            <a:rPr lang="en-GB" b="1" i="0"/>
            <a:t>Optimisation</a:t>
          </a:r>
          <a:r>
            <a:rPr lang="en-GB" b="0" i="0"/>
            <a:t>: Time series analysis can optimize various processes, such as energy consumption, traffic management, and supply chain operations.</a:t>
          </a:r>
          <a:endParaRPr lang="en-US"/>
        </a:p>
      </dgm:t>
    </dgm:pt>
    <dgm:pt modelId="{02B98A1A-8F3E-4159-9B41-A1224123B984}" type="parTrans" cxnId="{50156414-EAAF-426F-84CF-4BA5515C61FE}">
      <dgm:prSet/>
      <dgm:spPr/>
      <dgm:t>
        <a:bodyPr/>
        <a:lstStyle/>
        <a:p>
          <a:endParaRPr lang="en-US"/>
        </a:p>
      </dgm:t>
    </dgm:pt>
    <dgm:pt modelId="{37123437-8B98-40B8-B8C3-53044140B9B3}" type="sibTrans" cxnId="{50156414-EAAF-426F-84CF-4BA5515C61FE}">
      <dgm:prSet/>
      <dgm:spPr/>
      <dgm:t>
        <a:bodyPr/>
        <a:lstStyle/>
        <a:p>
          <a:endParaRPr lang="en-US"/>
        </a:p>
      </dgm:t>
    </dgm:pt>
    <dgm:pt modelId="{F9624C12-188A-42FD-970A-3C6D3CBD1237}" type="pres">
      <dgm:prSet presAssocID="{B59CDF12-D2EF-45CC-A1DC-4522912DE893}" presName="linear" presStyleCnt="0">
        <dgm:presLayoutVars>
          <dgm:animLvl val="lvl"/>
          <dgm:resizeHandles val="exact"/>
        </dgm:presLayoutVars>
      </dgm:prSet>
      <dgm:spPr/>
    </dgm:pt>
    <dgm:pt modelId="{CF62C957-5587-4BBF-B673-81A2E6ECA6C2}" type="pres">
      <dgm:prSet presAssocID="{F16CD679-50E8-4D2E-B5F4-B42A06742898}" presName="parentText" presStyleLbl="node1" presStyleIdx="0" presStyleCnt="2">
        <dgm:presLayoutVars>
          <dgm:chMax val="0"/>
          <dgm:bulletEnabled val="1"/>
        </dgm:presLayoutVars>
      </dgm:prSet>
      <dgm:spPr/>
    </dgm:pt>
    <dgm:pt modelId="{7BCFE7F7-5D1F-47F5-BEF0-6E58E0F67DC5}" type="pres">
      <dgm:prSet presAssocID="{42479D32-188E-42FF-A93D-4668DD74CAB4}" presName="spacer" presStyleCnt="0"/>
      <dgm:spPr/>
    </dgm:pt>
    <dgm:pt modelId="{50173F10-FE34-4CE4-AD7D-27C5C802CE8D}" type="pres">
      <dgm:prSet presAssocID="{C7C64F02-6713-4617-BA70-1145CF8565BD}" presName="parentText" presStyleLbl="node1" presStyleIdx="1" presStyleCnt="2">
        <dgm:presLayoutVars>
          <dgm:chMax val="0"/>
          <dgm:bulletEnabled val="1"/>
        </dgm:presLayoutVars>
      </dgm:prSet>
      <dgm:spPr/>
    </dgm:pt>
  </dgm:ptLst>
  <dgm:cxnLst>
    <dgm:cxn modelId="{50156414-EAAF-426F-84CF-4BA5515C61FE}" srcId="{B59CDF12-D2EF-45CC-A1DC-4522912DE893}" destId="{C7C64F02-6713-4617-BA70-1145CF8565BD}" srcOrd="1" destOrd="0" parTransId="{02B98A1A-8F3E-4159-9B41-A1224123B984}" sibTransId="{37123437-8B98-40B8-B8C3-53044140B9B3}"/>
    <dgm:cxn modelId="{7F1C3224-7E9C-48B0-99BA-DD2926276B39}" srcId="{B59CDF12-D2EF-45CC-A1DC-4522912DE893}" destId="{F16CD679-50E8-4D2E-B5F4-B42A06742898}" srcOrd="0" destOrd="0" parTransId="{1F50FA5D-FF8B-415B-8F4C-79F57837CFCD}" sibTransId="{42479D32-188E-42FF-A93D-4668DD74CAB4}"/>
    <dgm:cxn modelId="{3A8C5E4D-CDD5-410E-82F4-2F7957E39210}" type="presOf" srcId="{B59CDF12-D2EF-45CC-A1DC-4522912DE893}" destId="{F9624C12-188A-42FD-970A-3C6D3CBD1237}" srcOrd="0" destOrd="0" presId="urn:microsoft.com/office/officeart/2005/8/layout/vList2"/>
    <dgm:cxn modelId="{810765D4-51B8-4D04-B406-3D59A9947085}" type="presOf" srcId="{C7C64F02-6713-4617-BA70-1145CF8565BD}" destId="{50173F10-FE34-4CE4-AD7D-27C5C802CE8D}" srcOrd="0" destOrd="0" presId="urn:microsoft.com/office/officeart/2005/8/layout/vList2"/>
    <dgm:cxn modelId="{33D7A8E9-F750-4131-99EB-7EF44297DCEB}" type="presOf" srcId="{F16CD679-50E8-4D2E-B5F4-B42A06742898}" destId="{CF62C957-5587-4BBF-B673-81A2E6ECA6C2}" srcOrd="0" destOrd="0" presId="urn:microsoft.com/office/officeart/2005/8/layout/vList2"/>
    <dgm:cxn modelId="{C90291E3-9A7C-418F-A2A7-BF65A1555139}" type="presParOf" srcId="{F9624C12-188A-42FD-970A-3C6D3CBD1237}" destId="{CF62C957-5587-4BBF-B673-81A2E6ECA6C2}" srcOrd="0" destOrd="0" presId="urn:microsoft.com/office/officeart/2005/8/layout/vList2"/>
    <dgm:cxn modelId="{BF4C5D45-1568-4DCD-BFB1-07642F848AC1}" type="presParOf" srcId="{F9624C12-188A-42FD-970A-3C6D3CBD1237}" destId="{7BCFE7F7-5D1F-47F5-BEF0-6E58E0F67DC5}" srcOrd="1" destOrd="0" presId="urn:microsoft.com/office/officeart/2005/8/layout/vList2"/>
    <dgm:cxn modelId="{3C10591B-1A88-4011-BE4F-2FA92C686F56}" type="presParOf" srcId="{F9624C12-188A-42FD-970A-3C6D3CBD1237}" destId="{50173F10-FE34-4CE4-AD7D-27C5C802CE8D}" srcOrd="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058BC89-4BBF-4B6E-B250-C601C0EEBE6C}"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71E62D71-872E-479E-A149-30C04C10CEA9}">
      <dgm:prSet/>
      <dgm:spPr/>
      <dgm:t>
        <a:bodyPr/>
        <a:lstStyle/>
        <a:p>
          <a:r>
            <a:rPr lang="en-GB" b="1" i="0"/>
            <a:t>Scientific Research</a:t>
          </a:r>
          <a:r>
            <a:rPr lang="en-GB" b="0" i="0"/>
            <a:t>: In scientific research, time series data is used in fields like climatology, epidemiology, and astrophysics to analyse patterns and make predictions.</a:t>
          </a:r>
          <a:endParaRPr lang="en-US"/>
        </a:p>
      </dgm:t>
    </dgm:pt>
    <dgm:pt modelId="{8B4DE0F6-25FD-4E8C-AB86-74AF544B5F8C}" type="parTrans" cxnId="{1622356C-A620-45E4-8A7D-03D70E70F709}">
      <dgm:prSet/>
      <dgm:spPr/>
      <dgm:t>
        <a:bodyPr/>
        <a:lstStyle/>
        <a:p>
          <a:endParaRPr lang="en-US"/>
        </a:p>
      </dgm:t>
    </dgm:pt>
    <dgm:pt modelId="{B96E9A66-A24F-43B3-BBBD-46CB868E45B2}" type="sibTrans" cxnId="{1622356C-A620-45E4-8A7D-03D70E70F709}">
      <dgm:prSet/>
      <dgm:spPr/>
      <dgm:t>
        <a:bodyPr/>
        <a:lstStyle/>
        <a:p>
          <a:endParaRPr lang="en-US"/>
        </a:p>
      </dgm:t>
    </dgm:pt>
    <dgm:pt modelId="{EA3F285D-F0E9-48EB-A04A-4A1284B0CC9E}">
      <dgm:prSet/>
      <dgm:spPr/>
      <dgm:t>
        <a:bodyPr/>
        <a:lstStyle/>
        <a:p>
          <a:r>
            <a:rPr lang="en-GB" b="1" i="0"/>
            <a:t>Performance Monitoring</a:t>
          </a:r>
          <a:r>
            <a:rPr lang="en-GB" b="0" i="0"/>
            <a:t>: Organizations use time series analysis to monitor and evaluate the performance of various systems, from manufacturing processes to website traffic.</a:t>
          </a:r>
          <a:endParaRPr lang="en-US"/>
        </a:p>
      </dgm:t>
    </dgm:pt>
    <dgm:pt modelId="{EA09B585-89F5-4A86-80A9-BBA5D40792FF}" type="parTrans" cxnId="{CBE8EF9C-6453-4777-851A-38C788C59E95}">
      <dgm:prSet/>
      <dgm:spPr/>
      <dgm:t>
        <a:bodyPr/>
        <a:lstStyle/>
        <a:p>
          <a:endParaRPr lang="en-US"/>
        </a:p>
      </dgm:t>
    </dgm:pt>
    <dgm:pt modelId="{216DAC6B-6419-4714-8368-71A85BC119F7}" type="sibTrans" cxnId="{CBE8EF9C-6453-4777-851A-38C788C59E95}">
      <dgm:prSet/>
      <dgm:spPr/>
      <dgm:t>
        <a:bodyPr/>
        <a:lstStyle/>
        <a:p>
          <a:endParaRPr lang="en-US"/>
        </a:p>
      </dgm:t>
    </dgm:pt>
    <dgm:pt modelId="{BFF82008-9CF4-436D-B3D7-4DA293A867F0}" type="pres">
      <dgm:prSet presAssocID="{B058BC89-4BBF-4B6E-B250-C601C0EEBE6C}" presName="linear" presStyleCnt="0">
        <dgm:presLayoutVars>
          <dgm:animLvl val="lvl"/>
          <dgm:resizeHandles val="exact"/>
        </dgm:presLayoutVars>
      </dgm:prSet>
      <dgm:spPr/>
    </dgm:pt>
    <dgm:pt modelId="{28E4A7E5-DA0A-4775-9AFC-B02380C0F26A}" type="pres">
      <dgm:prSet presAssocID="{71E62D71-872E-479E-A149-30C04C10CEA9}" presName="parentText" presStyleLbl="node1" presStyleIdx="0" presStyleCnt="2">
        <dgm:presLayoutVars>
          <dgm:chMax val="0"/>
          <dgm:bulletEnabled val="1"/>
        </dgm:presLayoutVars>
      </dgm:prSet>
      <dgm:spPr/>
    </dgm:pt>
    <dgm:pt modelId="{8E968E81-8904-4F99-A976-451B18611480}" type="pres">
      <dgm:prSet presAssocID="{B96E9A66-A24F-43B3-BBBD-46CB868E45B2}" presName="spacer" presStyleCnt="0"/>
      <dgm:spPr/>
    </dgm:pt>
    <dgm:pt modelId="{20C7B90E-D20C-432B-80F3-303B8B79A0F8}" type="pres">
      <dgm:prSet presAssocID="{EA3F285D-F0E9-48EB-A04A-4A1284B0CC9E}" presName="parentText" presStyleLbl="node1" presStyleIdx="1" presStyleCnt="2">
        <dgm:presLayoutVars>
          <dgm:chMax val="0"/>
          <dgm:bulletEnabled val="1"/>
        </dgm:presLayoutVars>
      </dgm:prSet>
      <dgm:spPr/>
    </dgm:pt>
  </dgm:ptLst>
  <dgm:cxnLst>
    <dgm:cxn modelId="{4EF71423-4F04-4569-BD2E-DE1AEE97C54F}" type="presOf" srcId="{EA3F285D-F0E9-48EB-A04A-4A1284B0CC9E}" destId="{20C7B90E-D20C-432B-80F3-303B8B79A0F8}" srcOrd="0" destOrd="0" presId="urn:microsoft.com/office/officeart/2005/8/layout/vList2"/>
    <dgm:cxn modelId="{1622356C-A620-45E4-8A7D-03D70E70F709}" srcId="{B058BC89-4BBF-4B6E-B250-C601C0EEBE6C}" destId="{71E62D71-872E-479E-A149-30C04C10CEA9}" srcOrd="0" destOrd="0" parTransId="{8B4DE0F6-25FD-4E8C-AB86-74AF544B5F8C}" sibTransId="{B96E9A66-A24F-43B3-BBBD-46CB868E45B2}"/>
    <dgm:cxn modelId="{CBE8EF9C-6453-4777-851A-38C788C59E95}" srcId="{B058BC89-4BBF-4B6E-B250-C601C0EEBE6C}" destId="{EA3F285D-F0E9-48EB-A04A-4A1284B0CC9E}" srcOrd="1" destOrd="0" parTransId="{EA09B585-89F5-4A86-80A9-BBA5D40792FF}" sibTransId="{216DAC6B-6419-4714-8368-71A85BC119F7}"/>
    <dgm:cxn modelId="{84B8CBB1-F4A0-4F72-8F60-20BFBA4625F4}" type="presOf" srcId="{71E62D71-872E-479E-A149-30C04C10CEA9}" destId="{28E4A7E5-DA0A-4775-9AFC-B02380C0F26A}" srcOrd="0" destOrd="0" presId="urn:microsoft.com/office/officeart/2005/8/layout/vList2"/>
    <dgm:cxn modelId="{2FAB0ABB-6935-4B59-BBD6-18238524FF52}" type="presOf" srcId="{B058BC89-4BBF-4B6E-B250-C601C0EEBE6C}" destId="{BFF82008-9CF4-436D-B3D7-4DA293A867F0}" srcOrd="0" destOrd="0" presId="urn:microsoft.com/office/officeart/2005/8/layout/vList2"/>
    <dgm:cxn modelId="{660679FC-4DA0-46F2-B2CF-F36ED218E22B}" type="presParOf" srcId="{BFF82008-9CF4-436D-B3D7-4DA293A867F0}" destId="{28E4A7E5-DA0A-4775-9AFC-B02380C0F26A}" srcOrd="0" destOrd="0" presId="urn:microsoft.com/office/officeart/2005/8/layout/vList2"/>
    <dgm:cxn modelId="{DDA3462F-FFC9-4770-9BF2-AA15F76380D4}" type="presParOf" srcId="{BFF82008-9CF4-436D-B3D7-4DA293A867F0}" destId="{8E968E81-8904-4F99-A976-451B18611480}" srcOrd="1" destOrd="0" presId="urn:microsoft.com/office/officeart/2005/8/layout/vList2"/>
    <dgm:cxn modelId="{6A839F1C-1D92-46CA-B38E-6D73203F407E}" type="presParOf" srcId="{BFF82008-9CF4-436D-B3D7-4DA293A867F0}" destId="{20C7B90E-D20C-432B-80F3-303B8B79A0F8}" srcOrd="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AAF1BF4-758A-48A3-BDB6-E23A2623333D}"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1C7485A3-15F5-44E7-B9E1-4B850573DFE0}">
      <dgm:prSet/>
      <dgm:spPr/>
      <dgm:t>
        <a:bodyPr/>
        <a:lstStyle/>
        <a:p>
          <a:r>
            <a:rPr lang="en-GB" b="0" i="0"/>
            <a:t>The primary objectives of Time Series Forecasting are to leverage historical time-ordered data to achieve the following:</a:t>
          </a:r>
          <a:endParaRPr lang="en-US"/>
        </a:p>
      </dgm:t>
    </dgm:pt>
    <dgm:pt modelId="{2FAB33DA-9502-4028-AD3D-DE6196BC69FA}" type="parTrans" cxnId="{C0EC7414-5F8E-4EEC-9067-18034E8C5751}">
      <dgm:prSet/>
      <dgm:spPr/>
      <dgm:t>
        <a:bodyPr/>
        <a:lstStyle/>
        <a:p>
          <a:endParaRPr lang="en-US"/>
        </a:p>
      </dgm:t>
    </dgm:pt>
    <dgm:pt modelId="{6396694B-853B-4F98-9E7B-9A1FF708E6B3}" type="sibTrans" cxnId="{C0EC7414-5F8E-4EEC-9067-18034E8C5751}">
      <dgm:prSet/>
      <dgm:spPr/>
      <dgm:t>
        <a:bodyPr/>
        <a:lstStyle/>
        <a:p>
          <a:endParaRPr lang="en-US"/>
        </a:p>
      </dgm:t>
    </dgm:pt>
    <dgm:pt modelId="{A7AB36A1-E4B0-4911-B5A4-6F266A1E881C}">
      <dgm:prSet/>
      <dgm:spPr/>
      <dgm:t>
        <a:bodyPr/>
        <a:lstStyle/>
        <a:p>
          <a:r>
            <a:rPr lang="en-GB" b="1" i="0"/>
            <a:t>Prediction and Future Planning</a:t>
          </a:r>
          <a:r>
            <a:rPr lang="en-GB" b="0" i="0"/>
            <a:t>: One of the primary objectives of time series forecasting is to predict future values accurately. By analysing historical data, organizations and individuals can anticipate what will happen in the future. This prediction is crucial for planning and making informed decisions. For example, businesses use sales forecasts to plan inventory, and meteorologists use weather forecasts to prepare for extreme weather events.</a:t>
          </a:r>
          <a:endParaRPr lang="en-US"/>
        </a:p>
      </dgm:t>
    </dgm:pt>
    <dgm:pt modelId="{74BD3272-CA46-425F-9DAF-812342149F18}" type="parTrans" cxnId="{9460C74D-C269-44A8-9320-C0A2B07EB5EF}">
      <dgm:prSet/>
      <dgm:spPr/>
      <dgm:t>
        <a:bodyPr/>
        <a:lstStyle/>
        <a:p>
          <a:endParaRPr lang="en-US"/>
        </a:p>
      </dgm:t>
    </dgm:pt>
    <dgm:pt modelId="{CA4C25AB-0D7A-49EB-820C-69BEAEF891A4}" type="sibTrans" cxnId="{9460C74D-C269-44A8-9320-C0A2B07EB5EF}">
      <dgm:prSet/>
      <dgm:spPr/>
      <dgm:t>
        <a:bodyPr/>
        <a:lstStyle/>
        <a:p>
          <a:endParaRPr lang="en-US"/>
        </a:p>
      </dgm:t>
    </dgm:pt>
    <dgm:pt modelId="{0D1C5294-88FB-4CF9-A2F3-DD46C69F98B1}">
      <dgm:prSet/>
      <dgm:spPr/>
      <dgm:t>
        <a:bodyPr/>
        <a:lstStyle/>
        <a:p>
          <a:r>
            <a:rPr lang="en-GB" b="1" i="0"/>
            <a:t>Understanding Patterns and Trends</a:t>
          </a:r>
          <a:r>
            <a:rPr lang="en-GB" b="0" i="0"/>
            <a:t>: Time series forecasting helps in understanding the underlying patterns and trends in data. This involves identifying various components, including seasonality (repeating patterns at fixed intervals), trends (long-term movements in data), and noise (random variations). Recognizing these patterns is essential for making accurate predictions.</a:t>
          </a:r>
          <a:endParaRPr lang="en-US"/>
        </a:p>
      </dgm:t>
    </dgm:pt>
    <dgm:pt modelId="{9987214E-1672-481E-8299-2588B1079114}" type="parTrans" cxnId="{F304D1A7-617B-4148-8C13-37AFED10AD24}">
      <dgm:prSet/>
      <dgm:spPr/>
      <dgm:t>
        <a:bodyPr/>
        <a:lstStyle/>
        <a:p>
          <a:endParaRPr lang="en-US"/>
        </a:p>
      </dgm:t>
    </dgm:pt>
    <dgm:pt modelId="{9E9015B7-521C-4DC7-8714-1B1EB92D7B7B}" type="sibTrans" cxnId="{F304D1A7-617B-4148-8C13-37AFED10AD24}">
      <dgm:prSet/>
      <dgm:spPr/>
      <dgm:t>
        <a:bodyPr/>
        <a:lstStyle/>
        <a:p>
          <a:endParaRPr lang="en-US"/>
        </a:p>
      </dgm:t>
    </dgm:pt>
    <dgm:pt modelId="{2AAEADB9-67D1-4F2A-A999-BE30D2DBBB7B}" type="pres">
      <dgm:prSet presAssocID="{3AAF1BF4-758A-48A3-BDB6-E23A2623333D}" presName="linear" presStyleCnt="0">
        <dgm:presLayoutVars>
          <dgm:animLvl val="lvl"/>
          <dgm:resizeHandles val="exact"/>
        </dgm:presLayoutVars>
      </dgm:prSet>
      <dgm:spPr/>
    </dgm:pt>
    <dgm:pt modelId="{7319731D-B6F8-4C48-8FCB-7AB05D8451F1}" type="pres">
      <dgm:prSet presAssocID="{1C7485A3-15F5-44E7-B9E1-4B850573DFE0}" presName="parentText" presStyleLbl="node1" presStyleIdx="0" presStyleCnt="3">
        <dgm:presLayoutVars>
          <dgm:chMax val="0"/>
          <dgm:bulletEnabled val="1"/>
        </dgm:presLayoutVars>
      </dgm:prSet>
      <dgm:spPr/>
    </dgm:pt>
    <dgm:pt modelId="{04C6CA39-8D95-4FE4-88EF-D06121F4D02C}" type="pres">
      <dgm:prSet presAssocID="{6396694B-853B-4F98-9E7B-9A1FF708E6B3}" presName="spacer" presStyleCnt="0"/>
      <dgm:spPr/>
    </dgm:pt>
    <dgm:pt modelId="{DA1278C3-D025-4A48-AB57-1DF353372D0A}" type="pres">
      <dgm:prSet presAssocID="{A7AB36A1-E4B0-4911-B5A4-6F266A1E881C}" presName="parentText" presStyleLbl="node1" presStyleIdx="1" presStyleCnt="3">
        <dgm:presLayoutVars>
          <dgm:chMax val="0"/>
          <dgm:bulletEnabled val="1"/>
        </dgm:presLayoutVars>
      </dgm:prSet>
      <dgm:spPr/>
    </dgm:pt>
    <dgm:pt modelId="{687673BE-81EA-4B7D-9D87-2346271C168A}" type="pres">
      <dgm:prSet presAssocID="{CA4C25AB-0D7A-49EB-820C-69BEAEF891A4}" presName="spacer" presStyleCnt="0"/>
      <dgm:spPr/>
    </dgm:pt>
    <dgm:pt modelId="{9C52D655-CABA-4B66-8921-51507DF841DF}" type="pres">
      <dgm:prSet presAssocID="{0D1C5294-88FB-4CF9-A2F3-DD46C69F98B1}" presName="parentText" presStyleLbl="node1" presStyleIdx="2" presStyleCnt="3">
        <dgm:presLayoutVars>
          <dgm:chMax val="0"/>
          <dgm:bulletEnabled val="1"/>
        </dgm:presLayoutVars>
      </dgm:prSet>
      <dgm:spPr/>
    </dgm:pt>
  </dgm:ptLst>
  <dgm:cxnLst>
    <dgm:cxn modelId="{79E73408-7DE0-455A-9BE9-BCF5EB040911}" type="presOf" srcId="{0D1C5294-88FB-4CF9-A2F3-DD46C69F98B1}" destId="{9C52D655-CABA-4B66-8921-51507DF841DF}" srcOrd="0" destOrd="0" presId="urn:microsoft.com/office/officeart/2005/8/layout/vList2"/>
    <dgm:cxn modelId="{C0EC7414-5F8E-4EEC-9067-18034E8C5751}" srcId="{3AAF1BF4-758A-48A3-BDB6-E23A2623333D}" destId="{1C7485A3-15F5-44E7-B9E1-4B850573DFE0}" srcOrd="0" destOrd="0" parTransId="{2FAB33DA-9502-4028-AD3D-DE6196BC69FA}" sibTransId="{6396694B-853B-4F98-9E7B-9A1FF708E6B3}"/>
    <dgm:cxn modelId="{9460C74D-C269-44A8-9320-C0A2B07EB5EF}" srcId="{3AAF1BF4-758A-48A3-BDB6-E23A2623333D}" destId="{A7AB36A1-E4B0-4911-B5A4-6F266A1E881C}" srcOrd="1" destOrd="0" parTransId="{74BD3272-CA46-425F-9DAF-812342149F18}" sibTransId="{CA4C25AB-0D7A-49EB-820C-69BEAEF891A4}"/>
    <dgm:cxn modelId="{50E1439C-1E6C-46F2-B4CF-6CCA8ABD136D}" type="presOf" srcId="{3AAF1BF4-758A-48A3-BDB6-E23A2623333D}" destId="{2AAEADB9-67D1-4F2A-A999-BE30D2DBBB7B}" srcOrd="0" destOrd="0" presId="urn:microsoft.com/office/officeart/2005/8/layout/vList2"/>
    <dgm:cxn modelId="{F304D1A7-617B-4148-8C13-37AFED10AD24}" srcId="{3AAF1BF4-758A-48A3-BDB6-E23A2623333D}" destId="{0D1C5294-88FB-4CF9-A2F3-DD46C69F98B1}" srcOrd="2" destOrd="0" parTransId="{9987214E-1672-481E-8299-2588B1079114}" sibTransId="{9E9015B7-521C-4DC7-8714-1B1EB92D7B7B}"/>
    <dgm:cxn modelId="{E17568D7-9EBF-478B-8214-853C4D739081}" type="presOf" srcId="{A7AB36A1-E4B0-4911-B5A4-6F266A1E881C}" destId="{DA1278C3-D025-4A48-AB57-1DF353372D0A}" srcOrd="0" destOrd="0" presId="urn:microsoft.com/office/officeart/2005/8/layout/vList2"/>
    <dgm:cxn modelId="{F2D63AE1-02DC-41F9-82F6-19BB4AED4289}" type="presOf" srcId="{1C7485A3-15F5-44E7-B9E1-4B850573DFE0}" destId="{7319731D-B6F8-4C48-8FCB-7AB05D8451F1}" srcOrd="0" destOrd="0" presId="urn:microsoft.com/office/officeart/2005/8/layout/vList2"/>
    <dgm:cxn modelId="{FEF6BB92-C67A-4205-B8D6-7203258C1999}" type="presParOf" srcId="{2AAEADB9-67D1-4F2A-A999-BE30D2DBBB7B}" destId="{7319731D-B6F8-4C48-8FCB-7AB05D8451F1}" srcOrd="0" destOrd="0" presId="urn:microsoft.com/office/officeart/2005/8/layout/vList2"/>
    <dgm:cxn modelId="{70128195-304B-4CFA-9FDE-D683FD4D872C}" type="presParOf" srcId="{2AAEADB9-67D1-4F2A-A999-BE30D2DBBB7B}" destId="{04C6CA39-8D95-4FE4-88EF-D06121F4D02C}" srcOrd="1" destOrd="0" presId="urn:microsoft.com/office/officeart/2005/8/layout/vList2"/>
    <dgm:cxn modelId="{B85E0A7F-E0F1-409A-9556-FB8B02428924}" type="presParOf" srcId="{2AAEADB9-67D1-4F2A-A999-BE30D2DBBB7B}" destId="{DA1278C3-D025-4A48-AB57-1DF353372D0A}" srcOrd="2" destOrd="0" presId="urn:microsoft.com/office/officeart/2005/8/layout/vList2"/>
    <dgm:cxn modelId="{1D191582-C34E-464C-82C4-4CE6692755C0}" type="presParOf" srcId="{2AAEADB9-67D1-4F2A-A999-BE30D2DBBB7B}" destId="{687673BE-81EA-4B7D-9D87-2346271C168A}" srcOrd="3" destOrd="0" presId="urn:microsoft.com/office/officeart/2005/8/layout/vList2"/>
    <dgm:cxn modelId="{657CB855-04D4-4B65-B534-FEB83073CE92}" type="presParOf" srcId="{2AAEADB9-67D1-4F2A-A999-BE30D2DBBB7B}" destId="{9C52D655-CABA-4B66-8921-51507DF841DF}"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BF27D9B-15CE-4FBE-8DEF-A08F8EFC5C22}"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125E684-3025-4E98-B6CE-41C884F4F447}">
      <dgm:prSet/>
      <dgm:spPr/>
      <dgm:t>
        <a:bodyPr/>
        <a:lstStyle/>
        <a:p>
          <a:r>
            <a:rPr lang="en-GB" b="1" i="0"/>
            <a:t>Model Validation</a:t>
          </a:r>
          <a:r>
            <a:rPr lang="en-GB" b="0" i="0"/>
            <a:t>: Another objective is to develop and validate forecasting models. It's not enough to create models; they must be tested for accuracy and reliability. Cross-validation and error metrics help in assessing how well a model performs. This is essential for building trust in the forecasting results.</a:t>
          </a:r>
          <a:endParaRPr lang="en-US"/>
        </a:p>
      </dgm:t>
    </dgm:pt>
    <dgm:pt modelId="{A15A6836-5274-4797-8D6D-264795FCFD38}" type="parTrans" cxnId="{A3458481-89F2-4F39-9EAC-8E227C636D2E}">
      <dgm:prSet/>
      <dgm:spPr/>
      <dgm:t>
        <a:bodyPr/>
        <a:lstStyle/>
        <a:p>
          <a:endParaRPr lang="en-US"/>
        </a:p>
      </dgm:t>
    </dgm:pt>
    <dgm:pt modelId="{517FAD9F-E886-46CD-8AE7-4E018E090E5D}" type="sibTrans" cxnId="{A3458481-89F2-4F39-9EAC-8E227C636D2E}">
      <dgm:prSet/>
      <dgm:spPr/>
      <dgm:t>
        <a:bodyPr/>
        <a:lstStyle/>
        <a:p>
          <a:endParaRPr lang="en-US"/>
        </a:p>
      </dgm:t>
    </dgm:pt>
    <dgm:pt modelId="{B514AA16-37D7-449A-9D34-C9C62D26B326}">
      <dgm:prSet/>
      <dgm:spPr/>
      <dgm:t>
        <a:bodyPr/>
        <a:lstStyle/>
        <a:p>
          <a:r>
            <a:rPr lang="en-GB" b="1" i="0"/>
            <a:t>Risk Assessment and Management</a:t>
          </a:r>
          <a:r>
            <a:rPr lang="en-GB" b="0" i="0"/>
            <a:t>: Time series forecasting is used to assess and manage risks. By forecasting potential scenarios, organizations can prepare for adverse events and reduce their impact. For example, financial institutions use risk forecasts to manage their portfolios, and insurance companies use it to price policies effectively.</a:t>
          </a:r>
          <a:endParaRPr lang="en-US"/>
        </a:p>
      </dgm:t>
    </dgm:pt>
    <dgm:pt modelId="{2EFB4B27-BC19-47DD-A691-400858FE7FFC}" type="parTrans" cxnId="{3FFE584B-5D3F-4BC0-BEE4-CF50533A6519}">
      <dgm:prSet/>
      <dgm:spPr/>
      <dgm:t>
        <a:bodyPr/>
        <a:lstStyle/>
        <a:p>
          <a:endParaRPr lang="en-US"/>
        </a:p>
      </dgm:t>
    </dgm:pt>
    <dgm:pt modelId="{FBFDF6A6-DB49-4CDA-ADDF-753CA12AA9FB}" type="sibTrans" cxnId="{3FFE584B-5D3F-4BC0-BEE4-CF50533A6519}">
      <dgm:prSet/>
      <dgm:spPr/>
      <dgm:t>
        <a:bodyPr/>
        <a:lstStyle/>
        <a:p>
          <a:endParaRPr lang="en-US"/>
        </a:p>
      </dgm:t>
    </dgm:pt>
    <dgm:pt modelId="{316CB24B-C9CA-42EE-8E95-879DCA947646}" type="pres">
      <dgm:prSet presAssocID="{BBF27D9B-15CE-4FBE-8DEF-A08F8EFC5C22}" presName="root" presStyleCnt="0">
        <dgm:presLayoutVars>
          <dgm:dir/>
          <dgm:resizeHandles val="exact"/>
        </dgm:presLayoutVars>
      </dgm:prSet>
      <dgm:spPr/>
    </dgm:pt>
    <dgm:pt modelId="{16E5D21D-E12E-46AE-B068-1C6F99427E48}" type="pres">
      <dgm:prSet presAssocID="{E125E684-3025-4E98-B6CE-41C884F4F447}" presName="compNode" presStyleCnt="0"/>
      <dgm:spPr/>
    </dgm:pt>
    <dgm:pt modelId="{716D97B7-894D-4A94-97AC-A87F334F3A5F}" type="pres">
      <dgm:prSet presAssocID="{E125E684-3025-4E98-B6CE-41C884F4F447}" presName="bgRect" presStyleLbl="bgShp" presStyleIdx="0" presStyleCnt="2"/>
      <dgm:spPr/>
    </dgm:pt>
    <dgm:pt modelId="{C31CA2E6-685F-4346-BA28-54FB6B829996}" type="pres">
      <dgm:prSet presAssocID="{E125E684-3025-4E98-B6CE-41C884F4F44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ce"/>
        </a:ext>
      </dgm:extLst>
    </dgm:pt>
    <dgm:pt modelId="{B710F368-FA4C-4BA1-93A0-474735EE0866}" type="pres">
      <dgm:prSet presAssocID="{E125E684-3025-4E98-B6CE-41C884F4F447}" presName="spaceRect" presStyleCnt="0"/>
      <dgm:spPr/>
    </dgm:pt>
    <dgm:pt modelId="{9263D868-3C43-4774-A0E5-21C95E0837A9}" type="pres">
      <dgm:prSet presAssocID="{E125E684-3025-4E98-B6CE-41C884F4F447}" presName="parTx" presStyleLbl="revTx" presStyleIdx="0" presStyleCnt="2">
        <dgm:presLayoutVars>
          <dgm:chMax val="0"/>
          <dgm:chPref val="0"/>
        </dgm:presLayoutVars>
      </dgm:prSet>
      <dgm:spPr/>
    </dgm:pt>
    <dgm:pt modelId="{F689FF82-317D-494F-9786-BA12D0EA60CA}" type="pres">
      <dgm:prSet presAssocID="{517FAD9F-E886-46CD-8AE7-4E018E090E5D}" presName="sibTrans" presStyleCnt="0"/>
      <dgm:spPr/>
    </dgm:pt>
    <dgm:pt modelId="{0B15E429-C630-4277-B88A-EFB6ABDD36D0}" type="pres">
      <dgm:prSet presAssocID="{B514AA16-37D7-449A-9D34-C9C62D26B326}" presName="compNode" presStyleCnt="0"/>
      <dgm:spPr/>
    </dgm:pt>
    <dgm:pt modelId="{C74A2F35-859B-4513-8D9B-AE35AED8AE95}" type="pres">
      <dgm:prSet presAssocID="{B514AA16-37D7-449A-9D34-C9C62D26B326}" presName="bgRect" presStyleLbl="bgShp" presStyleIdx="1" presStyleCnt="2"/>
      <dgm:spPr/>
    </dgm:pt>
    <dgm:pt modelId="{E6CCB742-CA3E-435C-BA97-A914F9611669}" type="pres">
      <dgm:prSet presAssocID="{B514AA16-37D7-449A-9D34-C9C62D26B32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D2FA721C-32DE-4DCA-8765-98EA9FA02883}" type="pres">
      <dgm:prSet presAssocID="{B514AA16-37D7-449A-9D34-C9C62D26B326}" presName="spaceRect" presStyleCnt="0"/>
      <dgm:spPr/>
    </dgm:pt>
    <dgm:pt modelId="{51BB8D92-4128-41A9-895B-005030405515}" type="pres">
      <dgm:prSet presAssocID="{B514AA16-37D7-449A-9D34-C9C62D26B326}" presName="parTx" presStyleLbl="revTx" presStyleIdx="1" presStyleCnt="2">
        <dgm:presLayoutVars>
          <dgm:chMax val="0"/>
          <dgm:chPref val="0"/>
        </dgm:presLayoutVars>
      </dgm:prSet>
      <dgm:spPr/>
    </dgm:pt>
  </dgm:ptLst>
  <dgm:cxnLst>
    <dgm:cxn modelId="{DB1F313F-AAC9-4E2C-87C4-B85CFC68EFAE}" type="presOf" srcId="{E125E684-3025-4E98-B6CE-41C884F4F447}" destId="{9263D868-3C43-4774-A0E5-21C95E0837A9}" srcOrd="0" destOrd="0" presId="urn:microsoft.com/office/officeart/2018/2/layout/IconVerticalSolidList"/>
    <dgm:cxn modelId="{3FFE584B-5D3F-4BC0-BEE4-CF50533A6519}" srcId="{BBF27D9B-15CE-4FBE-8DEF-A08F8EFC5C22}" destId="{B514AA16-37D7-449A-9D34-C9C62D26B326}" srcOrd="1" destOrd="0" parTransId="{2EFB4B27-BC19-47DD-A691-400858FE7FFC}" sibTransId="{FBFDF6A6-DB49-4CDA-ADDF-753CA12AA9FB}"/>
    <dgm:cxn modelId="{A3458481-89F2-4F39-9EAC-8E227C636D2E}" srcId="{BBF27D9B-15CE-4FBE-8DEF-A08F8EFC5C22}" destId="{E125E684-3025-4E98-B6CE-41C884F4F447}" srcOrd="0" destOrd="0" parTransId="{A15A6836-5274-4797-8D6D-264795FCFD38}" sibTransId="{517FAD9F-E886-46CD-8AE7-4E018E090E5D}"/>
    <dgm:cxn modelId="{3E68058C-1A6A-4C69-8295-64B218FCB39E}" type="presOf" srcId="{BBF27D9B-15CE-4FBE-8DEF-A08F8EFC5C22}" destId="{316CB24B-C9CA-42EE-8E95-879DCA947646}" srcOrd="0" destOrd="0" presId="urn:microsoft.com/office/officeart/2018/2/layout/IconVerticalSolidList"/>
    <dgm:cxn modelId="{DDD3939B-D0A2-4F6E-AB01-6C35530D63DC}" type="presOf" srcId="{B514AA16-37D7-449A-9D34-C9C62D26B326}" destId="{51BB8D92-4128-41A9-895B-005030405515}" srcOrd="0" destOrd="0" presId="urn:microsoft.com/office/officeart/2018/2/layout/IconVerticalSolidList"/>
    <dgm:cxn modelId="{FF99C8B2-4C7A-4221-8667-96690FB2D239}" type="presParOf" srcId="{316CB24B-C9CA-42EE-8E95-879DCA947646}" destId="{16E5D21D-E12E-46AE-B068-1C6F99427E48}" srcOrd="0" destOrd="0" presId="urn:microsoft.com/office/officeart/2018/2/layout/IconVerticalSolidList"/>
    <dgm:cxn modelId="{2AC67556-1F6D-4108-BB5E-04A08309328C}" type="presParOf" srcId="{16E5D21D-E12E-46AE-B068-1C6F99427E48}" destId="{716D97B7-894D-4A94-97AC-A87F334F3A5F}" srcOrd="0" destOrd="0" presId="urn:microsoft.com/office/officeart/2018/2/layout/IconVerticalSolidList"/>
    <dgm:cxn modelId="{D0E99000-5268-4C15-917C-744F30407963}" type="presParOf" srcId="{16E5D21D-E12E-46AE-B068-1C6F99427E48}" destId="{C31CA2E6-685F-4346-BA28-54FB6B829996}" srcOrd="1" destOrd="0" presId="urn:microsoft.com/office/officeart/2018/2/layout/IconVerticalSolidList"/>
    <dgm:cxn modelId="{EADF91B1-7403-4EB7-B288-B3892B3D63AA}" type="presParOf" srcId="{16E5D21D-E12E-46AE-B068-1C6F99427E48}" destId="{B710F368-FA4C-4BA1-93A0-474735EE0866}" srcOrd="2" destOrd="0" presId="urn:microsoft.com/office/officeart/2018/2/layout/IconVerticalSolidList"/>
    <dgm:cxn modelId="{D64FEE7D-D94A-4228-93B8-177DA4D71ED1}" type="presParOf" srcId="{16E5D21D-E12E-46AE-B068-1C6F99427E48}" destId="{9263D868-3C43-4774-A0E5-21C95E0837A9}" srcOrd="3" destOrd="0" presId="urn:microsoft.com/office/officeart/2018/2/layout/IconVerticalSolidList"/>
    <dgm:cxn modelId="{7E9A018E-03A9-4BD1-958A-857ECC18CE6B}" type="presParOf" srcId="{316CB24B-C9CA-42EE-8E95-879DCA947646}" destId="{F689FF82-317D-494F-9786-BA12D0EA60CA}" srcOrd="1" destOrd="0" presId="urn:microsoft.com/office/officeart/2018/2/layout/IconVerticalSolidList"/>
    <dgm:cxn modelId="{FB54818C-CC29-4014-91FA-5AE0EECB8777}" type="presParOf" srcId="{316CB24B-C9CA-42EE-8E95-879DCA947646}" destId="{0B15E429-C630-4277-B88A-EFB6ABDD36D0}" srcOrd="2" destOrd="0" presId="urn:microsoft.com/office/officeart/2018/2/layout/IconVerticalSolidList"/>
    <dgm:cxn modelId="{58115991-EE80-4B1E-8322-9814B861BDB7}" type="presParOf" srcId="{0B15E429-C630-4277-B88A-EFB6ABDD36D0}" destId="{C74A2F35-859B-4513-8D9B-AE35AED8AE95}" srcOrd="0" destOrd="0" presId="urn:microsoft.com/office/officeart/2018/2/layout/IconVerticalSolidList"/>
    <dgm:cxn modelId="{84D0FBD0-02C7-46DA-919C-E20F976F9E65}" type="presParOf" srcId="{0B15E429-C630-4277-B88A-EFB6ABDD36D0}" destId="{E6CCB742-CA3E-435C-BA97-A914F9611669}" srcOrd="1" destOrd="0" presId="urn:microsoft.com/office/officeart/2018/2/layout/IconVerticalSolidList"/>
    <dgm:cxn modelId="{25BF0DE7-0894-4935-8F88-D66C48321197}" type="presParOf" srcId="{0B15E429-C630-4277-B88A-EFB6ABDD36D0}" destId="{D2FA721C-32DE-4DCA-8765-98EA9FA02883}" srcOrd="2" destOrd="0" presId="urn:microsoft.com/office/officeart/2018/2/layout/IconVerticalSolidList"/>
    <dgm:cxn modelId="{3E078AEC-5E54-48A6-A42B-BA26045AA903}" type="presParOf" srcId="{0B15E429-C630-4277-B88A-EFB6ABDD36D0}" destId="{51BB8D92-4128-41A9-895B-005030405515}"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2A35EC1-C728-4245-BC66-846FB27CF73E}"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A6A8AF8C-67D4-4EFF-9F97-37214039B7AA}">
      <dgm:prSet/>
      <dgm:spPr/>
      <dgm:t>
        <a:bodyPr/>
        <a:lstStyle/>
        <a:p>
          <a:r>
            <a:rPr lang="en-GB" b="1" i="0"/>
            <a:t>Resource Allocation</a:t>
          </a:r>
          <a:r>
            <a:rPr lang="en-GB" b="0" i="0"/>
            <a:t>: Accurate forecasts support efficient resource allocation. By knowing the expected future demand or conditions, organizations can allocate resources such as manpower, inventory, and budget optimally. This leads to cost savings and resource efficiency.</a:t>
          </a:r>
          <a:endParaRPr lang="en-US"/>
        </a:p>
      </dgm:t>
    </dgm:pt>
    <dgm:pt modelId="{264E4CFB-0622-4215-B871-C0D19B420CD5}" type="parTrans" cxnId="{C4712759-F5CE-45B1-BB9A-A4E7BDEE4859}">
      <dgm:prSet/>
      <dgm:spPr/>
      <dgm:t>
        <a:bodyPr/>
        <a:lstStyle/>
        <a:p>
          <a:endParaRPr lang="en-US"/>
        </a:p>
      </dgm:t>
    </dgm:pt>
    <dgm:pt modelId="{1C06CAF7-C6F6-4B34-AACF-0BA986AEC287}" type="sibTrans" cxnId="{C4712759-F5CE-45B1-BB9A-A4E7BDEE4859}">
      <dgm:prSet/>
      <dgm:spPr/>
      <dgm:t>
        <a:bodyPr/>
        <a:lstStyle/>
        <a:p>
          <a:endParaRPr lang="en-US"/>
        </a:p>
      </dgm:t>
    </dgm:pt>
    <dgm:pt modelId="{4C10DCF6-385E-4BEC-8FF1-5E2ABDE022B3}">
      <dgm:prSet/>
      <dgm:spPr/>
      <dgm:t>
        <a:bodyPr/>
        <a:lstStyle/>
        <a:p>
          <a:r>
            <a:rPr lang="en-GB" b="1" i="0"/>
            <a:t>Decision Support</a:t>
          </a:r>
          <a:r>
            <a:rPr lang="en-GB" b="0" i="0"/>
            <a:t>: Time series forecasting acts as a crucial decision support tool. It provides insights and data-driven information for better decision-making. For instance, healthcare professionals use patient admission forecasts to allocate staff and resources accordingly.</a:t>
          </a:r>
          <a:endParaRPr lang="en-US"/>
        </a:p>
      </dgm:t>
    </dgm:pt>
    <dgm:pt modelId="{F2299807-BF15-46A5-A6CE-3F6E09B9DB43}" type="parTrans" cxnId="{BC98C15D-5144-4A23-8057-7485824363CA}">
      <dgm:prSet/>
      <dgm:spPr/>
      <dgm:t>
        <a:bodyPr/>
        <a:lstStyle/>
        <a:p>
          <a:endParaRPr lang="en-US"/>
        </a:p>
      </dgm:t>
    </dgm:pt>
    <dgm:pt modelId="{98943986-8323-4C52-A7D8-91D7E7F940C2}" type="sibTrans" cxnId="{BC98C15D-5144-4A23-8057-7485824363CA}">
      <dgm:prSet/>
      <dgm:spPr/>
      <dgm:t>
        <a:bodyPr/>
        <a:lstStyle/>
        <a:p>
          <a:endParaRPr lang="en-US"/>
        </a:p>
      </dgm:t>
    </dgm:pt>
    <dgm:pt modelId="{1D5C02C2-EEC0-4A44-BD9A-30FFB79D2182}" type="pres">
      <dgm:prSet presAssocID="{42A35EC1-C728-4245-BC66-846FB27CF73E}" presName="linear" presStyleCnt="0">
        <dgm:presLayoutVars>
          <dgm:animLvl val="lvl"/>
          <dgm:resizeHandles val="exact"/>
        </dgm:presLayoutVars>
      </dgm:prSet>
      <dgm:spPr/>
    </dgm:pt>
    <dgm:pt modelId="{35B83932-DC82-4F6C-A8CE-41A18E7CF029}" type="pres">
      <dgm:prSet presAssocID="{A6A8AF8C-67D4-4EFF-9F97-37214039B7AA}" presName="parentText" presStyleLbl="node1" presStyleIdx="0" presStyleCnt="2">
        <dgm:presLayoutVars>
          <dgm:chMax val="0"/>
          <dgm:bulletEnabled val="1"/>
        </dgm:presLayoutVars>
      </dgm:prSet>
      <dgm:spPr/>
    </dgm:pt>
    <dgm:pt modelId="{DB37A98F-A959-47B6-8F52-4F22EDB3575C}" type="pres">
      <dgm:prSet presAssocID="{1C06CAF7-C6F6-4B34-AACF-0BA986AEC287}" presName="spacer" presStyleCnt="0"/>
      <dgm:spPr/>
    </dgm:pt>
    <dgm:pt modelId="{35FE75D8-404A-4A7A-AF43-488DF18BB218}" type="pres">
      <dgm:prSet presAssocID="{4C10DCF6-385E-4BEC-8FF1-5E2ABDE022B3}" presName="parentText" presStyleLbl="node1" presStyleIdx="1" presStyleCnt="2">
        <dgm:presLayoutVars>
          <dgm:chMax val="0"/>
          <dgm:bulletEnabled val="1"/>
        </dgm:presLayoutVars>
      </dgm:prSet>
      <dgm:spPr/>
    </dgm:pt>
  </dgm:ptLst>
  <dgm:cxnLst>
    <dgm:cxn modelId="{BC98C15D-5144-4A23-8057-7485824363CA}" srcId="{42A35EC1-C728-4245-BC66-846FB27CF73E}" destId="{4C10DCF6-385E-4BEC-8FF1-5E2ABDE022B3}" srcOrd="1" destOrd="0" parTransId="{F2299807-BF15-46A5-A6CE-3F6E09B9DB43}" sibTransId="{98943986-8323-4C52-A7D8-91D7E7F940C2}"/>
    <dgm:cxn modelId="{F24BFB52-EC94-4903-8B41-03F892FF7CC7}" type="presOf" srcId="{4C10DCF6-385E-4BEC-8FF1-5E2ABDE022B3}" destId="{35FE75D8-404A-4A7A-AF43-488DF18BB218}" srcOrd="0" destOrd="0" presId="urn:microsoft.com/office/officeart/2005/8/layout/vList2"/>
    <dgm:cxn modelId="{C4712759-F5CE-45B1-BB9A-A4E7BDEE4859}" srcId="{42A35EC1-C728-4245-BC66-846FB27CF73E}" destId="{A6A8AF8C-67D4-4EFF-9F97-37214039B7AA}" srcOrd="0" destOrd="0" parTransId="{264E4CFB-0622-4215-B871-C0D19B420CD5}" sibTransId="{1C06CAF7-C6F6-4B34-AACF-0BA986AEC287}"/>
    <dgm:cxn modelId="{C452E8A7-C5B2-4CCA-B45F-92773ABB035E}" type="presOf" srcId="{42A35EC1-C728-4245-BC66-846FB27CF73E}" destId="{1D5C02C2-EEC0-4A44-BD9A-30FFB79D2182}" srcOrd="0" destOrd="0" presId="urn:microsoft.com/office/officeart/2005/8/layout/vList2"/>
    <dgm:cxn modelId="{715410B0-EB5D-475B-914A-71836A642E31}" type="presOf" srcId="{A6A8AF8C-67D4-4EFF-9F97-37214039B7AA}" destId="{35B83932-DC82-4F6C-A8CE-41A18E7CF029}" srcOrd="0" destOrd="0" presId="urn:microsoft.com/office/officeart/2005/8/layout/vList2"/>
    <dgm:cxn modelId="{83677E80-7786-43A4-951F-23FD79C97DC3}" type="presParOf" srcId="{1D5C02C2-EEC0-4A44-BD9A-30FFB79D2182}" destId="{35B83932-DC82-4F6C-A8CE-41A18E7CF029}" srcOrd="0" destOrd="0" presId="urn:microsoft.com/office/officeart/2005/8/layout/vList2"/>
    <dgm:cxn modelId="{DE33B80B-CB96-4B27-9CBA-909A6963C921}" type="presParOf" srcId="{1D5C02C2-EEC0-4A44-BD9A-30FFB79D2182}" destId="{DB37A98F-A959-47B6-8F52-4F22EDB3575C}" srcOrd="1" destOrd="0" presId="urn:microsoft.com/office/officeart/2005/8/layout/vList2"/>
    <dgm:cxn modelId="{3F119018-D32C-460C-9AC0-1C08F612975F}" type="presParOf" srcId="{1D5C02C2-EEC0-4A44-BD9A-30FFB79D2182}" destId="{35FE75D8-404A-4A7A-AF43-488DF18BB218}"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6A2F0A1-A0CD-4853-BEEA-9607ABA8516D}"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684004FC-303C-404D-8000-F559DE82FF9C}">
      <dgm:prSet/>
      <dgm:spPr/>
      <dgm:t>
        <a:bodyPr/>
        <a:lstStyle/>
        <a:p>
          <a:r>
            <a:rPr lang="en-GB" b="1" i="0"/>
            <a:t>Performance Tracking</a:t>
          </a:r>
          <a:r>
            <a:rPr lang="en-GB" b="0" i="0"/>
            <a:t>: Forecasting is used to track the performance of systems, processes, and investments. By comparing actual results with forecasts, organizations can identify areas where improvements are needed. This is particularly valuable in monitoring the performance of financial investments.</a:t>
          </a:r>
          <a:endParaRPr lang="en-US"/>
        </a:p>
      </dgm:t>
    </dgm:pt>
    <dgm:pt modelId="{A4CAAFFC-C0C1-4CBB-A8C5-21B9EB7A54E8}" type="parTrans" cxnId="{33A49649-1105-4F50-9B17-B98A278CDFB5}">
      <dgm:prSet/>
      <dgm:spPr/>
      <dgm:t>
        <a:bodyPr/>
        <a:lstStyle/>
        <a:p>
          <a:endParaRPr lang="en-US"/>
        </a:p>
      </dgm:t>
    </dgm:pt>
    <dgm:pt modelId="{3DB3C29A-89DC-4BDC-A56D-82613B26EA98}" type="sibTrans" cxnId="{33A49649-1105-4F50-9B17-B98A278CDFB5}">
      <dgm:prSet/>
      <dgm:spPr/>
      <dgm:t>
        <a:bodyPr/>
        <a:lstStyle/>
        <a:p>
          <a:endParaRPr lang="en-US"/>
        </a:p>
      </dgm:t>
    </dgm:pt>
    <dgm:pt modelId="{D49D560C-559C-4CDF-85EE-76B930F023A4}">
      <dgm:prSet/>
      <dgm:spPr/>
      <dgm:t>
        <a:bodyPr/>
        <a:lstStyle/>
        <a:p>
          <a:r>
            <a:rPr lang="en-GB" b="1" i="0"/>
            <a:t>Policy Formulation</a:t>
          </a:r>
          <a:r>
            <a:rPr lang="en-GB" b="0" i="0"/>
            <a:t>: Governments and policymakers use time series forecasting to inform decisions and policies. For example, public health planners use disease incidence forecasts to allocate resources for healthcare. Economic policymakers use forecasts to develop strategies for economic growth and stability.</a:t>
          </a:r>
          <a:endParaRPr lang="en-US"/>
        </a:p>
      </dgm:t>
    </dgm:pt>
    <dgm:pt modelId="{4C884364-D0B4-4AC0-80D3-905522F4B719}" type="parTrans" cxnId="{052813F4-D783-4A72-9298-8C70477CE627}">
      <dgm:prSet/>
      <dgm:spPr/>
      <dgm:t>
        <a:bodyPr/>
        <a:lstStyle/>
        <a:p>
          <a:endParaRPr lang="en-US"/>
        </a:p>
      </dgm:t>
    </dgm:pt>
    <dgm:pt modelId="{8D64222B-24EA-45FE-BE50-E581546D1298}" type="sibTrans" cxnId="{052813F4-D783-4A72-9298-8C70477CE627}">
      <dgm:prSet/>
      <dgm:spPr/>
      <dgm:t>
        <a:bodyPr/>
        <a:lstStyle/>
        <a:p>
          <a:endParaRPr lang="en-US"/>
        </a:p>
      </dgm:t>
    </dgm:pt>
    <dgm:pt modelId="{04388416-B4EF-4591-B80C-7A4166D03B9F}" type="pres">
      <dgm:prSet presAssocID="{06A2F0A1-A0CD-4853-BEEA-9607ABA8516D}" presName="linear" presStyleCnt="0">
        <dgm:presLayoutVars>
          <dgm:animLvl val="lvl"/>
          <dgm:resizeHandles val="exact"/>
        </dgm:presLayoutVars>
      </dgm:prSet>
      <dgm:spPr/>
    </dgm:pt>
    <dgm:pt modelId="{E131CED0-BB92-413D-8BE7-7628B733C3A8}" type="pres">
      <dgm:prSet presAssocID="{684004FC-303C-404D-8000-F559DE82FF9C}" presName="parentText" presStyleLbl="node1" presStyleIdx="0" presStyleCnt="2">
        <dgm:presLayoutVars>
          <dgm:chMax val="0"/>
          <dgm:bulletEnabled val="1"/>
        </dgm:presLayoutVars>
      </dgm:prSet>
      <dgm:spPr/>
    </dgm:pt>
    <dgm:pt modelId="{F2EBD16E-D73D-4B4A-85CD-0BC73B3E5436}" type="pres">
      <dgm:prSet presAssocID="{3DB3C29A-89DC-4BDC-A56D-82613B26EA98}" presName="spacer" presStyleCnt="0"/>
      <dgm:spPr/>
    </dgm:pt>
    <dgm:pt modelId="{AF699502-B56B-4655-BA56-7AFA4DF955BD}" type="pres">
      <dgm:prSet presAssocID="{D49D560C-559C-4CDF-85EE-76B930F023A4}" presName="parentText" presStyleLbl="node1" presStyleIdx="1" presStyleCnt="2">
        <dgm:presLayoutVars>
          <dgm:chMax val="0"/>
          <dgm:bulletEnabled val="1"/>
        </dgm:presLayoutVars>
      </dgm:prSet>
      <dgm:spPr/>
    </dgm:pt>
  </dgm:ptLst>
  <dgm:cxnLst>
    <dgm:cxn modelId="{1617350C-DEB9-4DA7-8322-8D9C15F012C0}" type="presOf" srcId="{D49D560C-559C-4CDF-85EE-76B930F023A4}" destId="{AF699502-B56B-4655-BA56-7AFA4DF955BD}" srcOrd="0" destOrd="0" presId="urn:microsoft.com/office/officeart/2005/8/layout/vList2"/>
    <dgm:cxn modelId="{33A49649-1105-4F50-9B17-B98A278CDFB5}" srcId="{06A2F0A1-A0CD-4853-BEEA-9607ABA8516D}" destId="{684004FC-303C-404D-8000-F559DE82FF9C}" srcOrd="0" destOrd="0" parTransId="{A4CAAFFC-C0C1-4CBB-A8C5-21B9EB7A54E8}" sibTransId="{3DB3C29A-89DC-4BDC-A56D-82613B26EA98}"/>
    <dgm:cxn modelId="{F98D3C96-E77D-443A-BF02-919B4C492261}" type="presOf" srcId="{684004FC-303C-404D-8000-F559DE82FF9C}" destId="{E131CED0-BB92-413D-8BE7-7628B733C3A8}" srcOrd="0" destOrd="0" presId="urn:microsoft.com/office/officeart/2005/8/layout/vList2"/>
    <dgm:cxn modelId="{450728A2-61C1-4432-9A5A-A215DCDAABCA}" type="presOf" srcId="{06A2F0A1-A0CD-4853-BEEA-9607ABA8516D}" destId="{04388416-B4EF-4591-B80C-7A4166D03B9F}" srcOrd="0" destOrd="0" presId="urn:microsoft.com/office/officeart/2005/8/layout/vList2"/>
    <dgm:cxn modelId="{052813F4-D783-4A72-9298-8C70477CE627}" srcId="{06A2F0A1-A0CD-4853-BEEA-9607ABA8516D}" destId="{D49D560C-559C-4CDF-85EE-76B930F023A4}" srcOrd="1" destOrd="0" parTransId="{4C884364-D0B4-4AC0-80D3-905522F4B719}" sibTransId="{8D64222B-24EA-45FE-BE50-E581546D1298}"/>
    <dgm:cxn modelId="{7F014D59-50D6-4657-8F88-490E029770A4}" type="presParOf" srcId="{04388416-B4EF-4591-B80C-7A4166D03B9F}" destId="{E131CED0-BB92-413D-8BE7-7628B733C3A8}" srcOrd="0" destOrd="0" presId="urn:microsoft.com/office/officeart/2005/8/layout/vList2"/>
    <dgm:cxn modelId="{D53460E3-47FE-4A99-BD2B-ADCDACBFC4FC}" type="presParOf" srcId="{04388416-B4EF-4591-B80C-7A4166D03B9F}" destId="{F2EBD16E-D73D-4B4A-85CD-0BC73B3E5436}" srcOrd="1" destOrd="0" presId="urn:microsoft.com/office/officeart/2005/8/layout/vList2"/>
    <dgm:cxn modelId="{89B3C815-0150-45C7-BCAF-1CFEE20B696E}" type="presParOf" srcId="{04388416-B4EF-4591-B80C-7A4166D03B9F}" destId="{AF699502-B56B-4655-BA56-7AFA4DF955BD}"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420A3CE-8FAA-40D0-A77C-9D7059CC589F}"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33F5C9B6-C6CD-4FDE-89CD-B8FFEC072F7C}">
      <dgm:prSet/>
      <dgm:spPr/>
      <dgm:t>
        <a:bodyPr/>
        <a:lstStyle/>
        <a:p>
          <a:r>
            <a:rPr lang="en-GB" b="1" i="0"/>
            <a:t>Market Analysis</a:t>
          </a:r>
          <a:r>
            <a:rPr lang="en-GB" b="0" i="0"/>
            <a:t>: In economics and finance, time series forecasting is crucial for analysing market conditions. It helps in identifying trends and making predictions about stock prices, currency exchange rates, commodity prices, and more. Investors and traders rely on these forecasts for their financial decisions.</a:t>
          </a:r>
          <a:endParaRPr lang="en-US"/>
        </a:p>
      </dgm:t>
    </dgm:pt>
    <dgm:pt modelId="{B22A762F-BF46-4400-B681-9C62055803AC}" type="parTrans" cxnId="{822A705A-8609-4776-94DB-73BF1D98877B}">
      <dgm:prSet/>
      <dgm:spPr/>
      <dgm:t>
        <a:bodyPr/>
        <a:lstStyle/>
        <a:p>
          <a:endParaRPr lang="en-US"/>
        </a:p>
      </dgm:t>
    </dgm:pt>
    <dgm:pt modelId="{F8CB5492-47EA-4CBA-8E21-10F9669A1D86}" type="sibTrans" cxnId="{822A705A-8609-4776-94DB-73BF1D98877B}">
      <dgm:prSet/>
      <dgm:spPr/>
      <dgm:t>
        <a:bodyPr/>
        <a:lstStyle/>
        <a:p>
          <a:endParaRPr lang="en-US"/>
        </a:p>
      </dgm:t>
    </dgm:pt>
    <dgm:pt modelId="{1A13D0CA-27A2-40F5-8853-CD4191E68DC1}">
      <dgm:prSet/>
      <dgm:spPr/>
      <dgm:t>
        <a:bodyPr/>
        <a:lstStyle/>
        <a:p>
          <a:r>
            <a:rPr lang="en-GB" b="1" i="0"/>
            <a:t>Resource Optimization</a:t>
          </a:r>
          <a:r>
            <a:rPr lang="en-GB" b="0" i="0"/>
            <a:t>: Time series forecasting is instrumental in optimizing the utilization of resources. It allows organizations to balance supply and demand efficiently, reducing wastage and costs. This is vital in industries like manufacturing, where production planning is based on demand forecasts.</a:t>
          </a:r>
          <a:endParaRPr lang="en-US"/>
        </a:p>
      </dgm:t>
    </dgm:pt>
    <dgm:pt modelId="{D28AA33E-1F80-4FC9-958E-1FB81EE2B6B5}" type="parTrans" cxnId="{24EBBABC-9997-40E3-A7DF-87681A49CB38}">
      <dgm:prSet/>
      <dgm:spPr/>
      <dgm:t>
        <a:bodyPr/>
        <a:lstStyle/>
        <a:p>
          <a:endParaRPr lang="en-US"/>
        </a:p>
      </dgm:t>
    </dgm:pt>
    <dgm:pt modelId="{15FBC64E-93CF-4C22-BECC-469FE14313ED}" type="sibTrans" cxnId="{24EBBABC-9997-40E3-A7DF-87681A49CB38}">
      <dgm:prSet/>
      <dgm:spPr/>
      <dgm:t>
        <a:bodyPr/>
        <a:lstStyle/>
        <a:p>
          <a:endParaRPr lang="en-US"/>
        </a:p>
      </dgm:t>
    </dgm:pt>
    <dgm:pt modelId="{93462848-9024-4BB3-A09E-B98A3A117EE8}" type="pres">
      <dgm:prSet presAssocID="{8420A3CE-8FAA-40D0-A77C-9D7059CC589F}" presName="linear" presStyleCnt="0">
        <dgm:presLayoutVars>
          <dgm:animLvl val="lvl"/>
          <dgm:resizeHandles val="exact"/>
        </dgm:presLayoutVars>
      </dgm:prSet>
      <dgm:spPr/>
    </dgm:pt>
    <dgm:pt modelId="{53B2BBAE-0D31-44AB-9316-DCDDBC81603C}" type="pres">
      <dgm:prSet presAssocID="{33F5C9B6-C6CD-4FDE-89CD-B8FFEC072F7C}" presName="parentText" presStyleLbl="node1" presStyleIdx="0" presStyleCnt="2">
        <dgm:presLayoutVars>
          <dgm:chMax val="0"/>
          <dgm:bulletEnabled val="1"/>
        </dgm:presLayoutVars>
      </dgm:prSet>
      <dgm:spPr/>
    </dgm:pt>
    <dgm:pt modelId="{B6F6B81C-B67A-40AF-912E-218D168CEE7F}" type="pres">
      <dgm:prSet presAssocID="{F8CB5492-47EA-4CBA-8E21-10F9669A1D86}" presName="spacer" presStyleCnt="0"/>
      <dgm:spPr/>
    </dgm:pt>
    <dgm:pt modelId="{49ADB4EE-1373-4650-A6D5-3929E150C998}" type="pres">
      <dgm:prSet presAssocID="{1A13D0CA-27A2-40F5-8853-CD4191E68DC1}" presName="parentText" presStyleLbl="node1" presStyleIdx="1" presStyleCnt="2">
        <dgm:presLayoutVars>
          <dgm:chMax val="0"/>
          <dgm:bulletEnabled val="1"/>
        </dgm:presLayoutVars>
      </dgm:prSet>
      <dgm:spPr/>
    </dgm:pt>
  </dgm:ptLst>
  <dgm:cxnLst>
    <dgm:cxn modelId="{294DD36C-484A-47B1-8838-6A4E5C5B786B}" type="presOf" srcId="{8420A3CE-8FAA-40D0-A77C-9D7059CC589F}" destId="{93462848-9024-4BB3-A09E-B98A3A117EE8}" srcOrd="0" destOrd="0" presId="urn:microsoft.com/office/officeart/2005/8/layout/vList2"/>
    <dgm:cxn modelId="{822A705A-8609-4776-94DB-73BF1D98877B}" srcId="{8420A3CE-8FAA-40D0-A77C-9D7059CC589F}" destId="{33F5C9B6-C6CD-4FDE-89CD-B8FFEC072F7C}" srcOrd="0" destOrd="0" parTransId="{B22A762F-BF46-4400-B681-9C62055803AC}" sibTransId="{F8CB5492-47EA-4CBA-8E21-10F9669A1D86}"/>
    <dgm:cxn modelId="{24EBBABC-9997-40E3-A7DF-87681A49CB38}" srcId="{8420A3CE-8FAA-40D0-A77C-9D7059CC589F}" destId="{1A13D0CA-27A2-40F5-8853-CD4191E68DC1}" srcOrd="1" destOrd="0" parTransId="{D28AA33E-1F80-4FC9-958E-1FB81EE2B6B5}" sibTransId="{15FBC64E-93CF-4C22-BECC-469FE14313ED}"/>
    <dgm:cxn modelId="{788B70CF-EE78-4625-817A-66A7FAA61492}" type="presOf" srcId="{1A13D0CA-27A2-40F5-8853-CD4191E68DC1}" destId="{49ADB4EE-1373-4650-A6D5-3929E150C998}" srcOrd="0" destOrd="0" presId="urn:microsoft.com/office/officeart/2005/8/layout/vList2"/>
    <dgm:cxn modelId="{1F3415FE-BE06-49EB-92C9-CF517780824A}" type="presOf" srcId="{33F5C9B6-C6CD-4FDE-89CD-B8FFEC072F7C}" destId="{53B2BBAE-0D31-44AB-9316-DCDDBC81603C}" srcOrd="0" destOrd="0" presId="urn:microsoft.com/office/officeart/2005/8/layout/vList2"/>
    <dgm:cxn modelId="{E1EB4251-FF41-4587-A909-0F860A57C837}" type="presParOf" srcId="{93462848-9024-4BB3-A09E-B98A3A117EE8}" destId="{53B2BBAE-0D31-44AB-9316-DCDDBC81603C}" srcOrd="0" destOrd="0" presId="urn:microsoft.com/office/officeart/2005/8/layout/vList2"/>
    <dgm:cxn modelId="{90D03C3B-57F0-42B8-8A1D-938744199378}" type="presParOf" srcId="{93462848-9024-4BB3-A09E-B98A3A117EE8}" destId="{B6F6B81C-B67A-40AF-912E-218D168CEE7F}" srcOrd="1" destOrd="0" presId="urn:microsoft.com/office/officeart/2005/8/layout/vList2"/>
    <dgm:cxn modelId="{82D7E1FB-F7F0-47BD-A6DE-AD681FCF32B2}" type="presParOf" srcId="{93462848-9024-4BB3-A09E-B98A3A117EE8}" destId="{49ADB4EE-1373-4650-A6D5-3929E150C998}"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2963A7C-65F3-48FC-95E5-9194EE97F296}"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0786E3D6-1B12-425A-89D5-10DBCDDFFADF}">
      <dgm:prSet/>
      <dgm:spPr/>
      <dgm:t>
        <a:bodyPr/>
        <a:lstStyle/>
        <a:p>
          <a:r>
            <a:rPr lang="en-GB" b="0" i="0"/>
            <a:t>Time series data possesses several key characteristics that distinguish it from other types of data. Understanding these characteristics is crucial when working with time series data for analysis and modeling. The primary characteristics of time series data include:</a:t>
          </a:r>
          <a:endParaRPr lang="en-US"/>
        </a:p>
      </dgm:t>
    </dgm:pt>
    <dgm:pt modelId="{30114056-E2ED-44C6-BFB0-9F071D9BFBE3}" type="parTrans" cxnId="{674DB4EA-5E02-4D46-9B72-4B6299C6EBFA}">
      <dgm:prSet/>
      <dgm:spPr/>
      <dgm:t>
        <a:bodyPr/>
        <a:lstStyle/>
        <a:p>
          <a:endParaRPr lang="en-US"/>
        </a:p>
      </dgm:t>
    </dgm:pt>
    <dgm:pt modelId="{ABD522C5-0F50-46CF-9BBF-FD3CAA794F70}" type="sibTrans" cxnId="{674DB4EA-5E02-4D46-9B72-4B6299C6EBFA}">
      <dgm:prSet/>
      <dgm:spPr/>
      <dgm:t>
        <a:bodyPr/>
        <a:lstStyle/>
        <a:p>
          <a:endParaRPr lang="en-US"/>
        </a:p>
      </dgm:t>
    </dgm:pt>
    <dgm:pt modelId="{5D1B2E5A-FE78-4984-B46C-E29E25491722}">
      <dgm:prSet/>
      <dgm:spPr/>
      <dgm:t>
        <a:bodyPr/>
        <a:lstStyle/>
        <a:p>
          <a:r>
            <a:rPr lang="en-GB" b="1" i="0"/>
            <a:t>Temporal Order</a:t>
          </a:r>
          <a:r>
            <a:rPr lang="en-GB" b="0" i="0"/>
            <a:t>: Time series data is organized chronologically, where data points follow a specific sequence according to the time they were collected or observed. Each data point is associated with a unique timestamp, and the order of these timestamps is important for understanding the data's behaviour over time.</a:t>
          </a:r>
          <a:endParaRPr lang="en-US"/>
        </a:p>
      </dgm:t>
    </dgm:pt>
    <dgm:pt modelId="{F15EDBFD-A204-4EF8-A503-98269ADB4A60}" type="parTrans" cxnId="{D8C1B7CB-8434-45E2-B1B2-3785B4D707DB}">
      <dgm:prSet/>
      <dgm:spPr/>
      <dgm:t>
        <a:bodyPr/>
        <a:lstStyle/>
        <a:p>
          <a:endParaRPr lang="en-US"/>
        </a:p>
      </dgm:t>
    </dgm:pt>
    <dgm:pt modelId="{1D4AC41D-2455-434B-8AF8-AC715E241363}" type="sibTrans" cxnId="{D8C1B7CB-8434-45E2-B1B2-3785B4D707DB}">
      <dgm:prSet/>
      <dgm:spPr/>
      <dgm:t>
        <a:bodyPr/>
        <a:lstStyle/>
        <a:p>
          <a:endParaRPr lang="en-US"/>
        </a:p>
      </dgm:t>
    </dgm:pt>
    <dgm:pt modelId="{2962A149-A7EC-4351-8EE7-E12845749190}">
      <dgm:prSet/>
      <dgm:spPr/>
      <dgm:t>
        <a:bodyPr/>
        <a:lstStyle/>
        <a:p>
          <a:r>
            <a:rPr lang="en-GB" b="1" i="0"/>
            <a:t>Equally Spaced Intervals</a:t>
          </a:r>
          <a:r>
            <a:rPr lang="en-GB" b="0" i="0"/>
            <a:t>: In many cases, time series data is collected at regular and equally spaced time intervals. This regularity simplifies the analysis and modeling process. Common examples include daily, weekly, or monthly data points.</a:t>
          </a:r>
          <a:endParaRPr lang="en-US"/>
        </a:p>
      </dgm:t>
    </dgm:pt>
    <dgm:pt modelId="{438A6AE0-7D02-4489-8049-5F2A40C88A0B}" type="parTrans" cxnId="{F6CFBAB9-CCC8-420C-B74C-5249AD53CA42}">
      <dgm:prSet/>
      <dgm:spPr/>
      <dgm:t>
        <a:bodyPr/>
        <a:lstStyle/>
        <a:p>
          <a:endParaRPr lang="en-US"/>
        </a:p>
      </dgm:t>
    </dgm:pt>
    <dgm:pt modelId="{26C18D5D-588F-42D5-AD96-4C32EB1CD9A8}" type="sibTrans" cxnId="{F6CFBAB9-CCC8-420C-B74C-5249AD53CA42}">
      <dgm:prSet/>
      <dgm:spPr/>
      <dgm:t>
        <a:bodyPr/>
        <a:lstStyle/>
        <a:p>
          <a:endParaRPr lang="en-US"/>
        </a:p>
      </dgm:t>
    </dgm:pt>
    <dgm:pt modelId="{21B31685-B196-4D7F-86F4-489968AE21B9}" type="pres">
      <dgm:prSet presAssocID="{12963A7C-65F3-48FC-95E5-9194EE97F296}" presName="linear" presStyleCnt="0">
        <dgm:presLayoutVars>
          <dgm:animLvl val="lvl"/>
          <dgm:resizeHandles val="exact"/>
        </dgm:presLayoutVars>
      </dgm:prSet>
      <dgm:spPr/>
    </dgm:pt>
    <dgm:pt modelId="{3B4E663E-C201-443B-8D30-2A50F94D14B3}" type="pres">
      <dgm:prSet presAssocID="{0786E3D6-1B12-425A-89D5-10DBCDDFFADF}" presName="parentText" presStyleLbl="node1" presStyleIdx="0" presStyleCnt="3">
        <dgm:presLayoutVars>
          <dgm:chMax val="0"/>
          <dgm:bulletEnabled val="1"/>
        </dgm:presLayoutVars>
      </dgm:prSet>
      <dgm:spPr/>
    </dgm:pt>
    <dgm:pt modelId="{0A1E1A18-FA1C-436A-8D2A-3A1664D009A0}" type="pres">
      <dgm:prSet presAssocID="{ABD522C5-0F50-46CF-9BBF-FD3CAA794F70}" presName="spacer" presStyleCnt="0"/>
      <dgm:spPr/>
    </dgm:pt>
    <dgm:pt modelId="{2AD85B81-EAFC-48F2-AA14-05B6E8F40C1D}" type="pres">
      <dgm:prSet presAssocID="{5D1B2E5A-FE78-4984-B46C-E29E25491722}" presName="parentText" presStyleLbl="node1" presStyleIdx="1" presStyleCnt="3">
        <dgm:presLayoutVars>
          <dgm:chMax val="0"/>
          <dgm:bulletEnabled val="1"/>
        </dgm:presLayoutVars>
      </dgm:prSet>
      <dgm:spPr/>
    </dgm:pt>
    <dgm:pt modelId="{8145E81A-382D-4817-8C19-B60B65D647A1}" type="pres">
      <dgm:prSet presAssocID="{1D4AC41D-2455-434B-8AF8-AC715E241363}" presName="spacer" presStyleCnt="0"/>
      <dgm:spPr/>
    </dgm:pt>
    <dgm:pt modelId="{25AC7BA6-B11B-4C09-97E9-71F3B8F72813}" type="pres">
      <dgm:prSet presAssocID="{2962A149-A7EC-4351-8EE7-E12845749190}" presName="parentText" presStyleLbl="node1" presStyleIdx="2" presStyleCnt="3">
        <dgm:presLayoutVars>
          <dgm:chMax val="0"/>
          <dgm:bulletEnabled val="1"/>
        </dgm:presLayoutVars>
      </dgm:prSet>
      <dgm:spPr/>
    </dgm:pt>
  </dgm:ptLst>
  <dgm:cxnLst>
    <dgm:cxn modelId="{AF215717-526C-4816-99E2-CAC52DDFE071}" type="presOf" srcId="{2962A149-A7EC-4351-8EE7-E12845749190}" destId="{25AC7BA6-B11B-4C09-97E9-71F3B8F72813}" srcOrd="0" destOrd="0" presId="urn:microsoft.com/office/officeart/2005/8/layout/vList2"/>
    <dgm:cxn modelId="{A1FD1A5B-E452-42E6-8371-B962FCE816EA}" type="presOf" srcId="{0786E3D6-1B12-425A-89D5-10DBCDDFFADF}" destId="{3B4E663E-C201-443B-8D30-2A50F94D14B3}" srcOrd="0" destOrd="0" presId="urn:microsoft.com/office/officeart/2005/8/layout/vList2"/>
    <dgm:cxn modelId="{F6CFBAB9-CCC8-420C-B74C-5249AD53CA42}" srcId="{12963A7C-65F3-48FC-95E5-9194EE97F296}" destId="{2962A149-A7EC-4351-8EE7-E12845749190}" srcOrd="2" destOrd="0" parTransId="{438A6AE0-7D02-4489-8049-5F2A40C88A0B}" sibTransId="{26C18D5D-588F-42D5-AD96-4C32EB1CD9A8}"/>
    <dgm:cxn modelId="{D8C1B7CB-8434-45E2-B1B2-3785B4D707DB}" srcId="{12963A7C-65F3-48FC-95E5-9194EE97F296}" destId="{5D1B2E5A-FE78-4984-B46C-E29E25491722}" srcOrd="1" destOrd="0" parTransId="{F15EDBFD-A204-4EF8-A503-98269ADB4A60}" sibTransId="{1D4AC41D-2455-434B-8AF8-AC715E241363}"/>
    <dgm:cxn modelId="{6A4D36CE-E3AB-4066-8FD6-34472334D901}" type="presOf" srcId="{12963A7C-65F3-48FC-95E5-9194EE97F296}" destId="{21B31685-B196-4D7F-86F4-489968AE21B9}" srcOrd="0" destOrd="0" presId="urn:microsoft.com/office/officeart/2005/8/layout/vList2"/>
    <dgm:cxn modelId="{A9D510D7-E57C-4B67-A974-41C451A8BA15}" type="presOf" srcId="{5D1B2E5A-FE78-4984-B46C-E29E25491722}" destId="{2AD85B81-EAFC-48F2-AA14-05B6E8F40C1D}" srcOrd="0" destOrd="0" presId="urn:microsoft.com/office/officeart/2005/8/layout/vList2"/>
    <dgm:cxn modelId="{674DB4EA-5E02-4D46-9B72-4B6299C6EBFA}" srcId="{12963A7C-65F3-48FC-95E5-9194EE97F296}" destId="{0786E3D6-1B12-425A-89D5-10DBCDDFFADF}" srcOrd="0" destOrd="0" parTransId="{30114056-E2ED-44C6-BFB0-9F071D9BFBE3}" sibTransId="{ABD522C5-0F50-46CF-9BBF-FD3CAA794F70}"/>
    <dgm:cxn modelId="{F2298460-50AC-4817-B1BB-0A547293D678}" type="presParOf" srcId="{21B31685-B196-4D7F-86F4-489968AE21B9}" destId="{3B4E663E-C201-443B-8D30-2A50F94D14B3}" srcOrd="0" destOrd="0" presId="urn:microsoft.com/office/officeart/2005/8/layout/vList2"/>
    <dgm:cxn modelId="{3621F8BB-CE26-492B-BB68-CBCDFA096E75}" type="presParOf" srcId="{21B31685-B196-4D7F-86F4-489968AE21B9}" destId="{0A1E1A18-FA1C-436A-8D2A-3A1664D009A0}" srcOrd="1" destOrd="0" presId="urn:microsoft.com/office/officeart/2005/8/layout/vList2"/>
    <dgm:cxn modelId="{80B6B17E-4930-4637-89DA-7792D13E6B46}" type="presParOf" srcId="{21B31685-B196-4D7F-86F4-489968AE21B9}" destId="{2AD85B81-EAFC-48F2-AA14-05B6E8F40C1D}" srcOrd="2" destOrd="0" presId="urn:microsoft.com/office/officeart/2005/8/layout/vList2"/>
    <dgm:cxn modelId="{CB417222-F431-474C-BCD5-5C60D46216F0}" type="presParOf" srcId="{21B31685-B196-4D7F-86F4-489968AE21B9}" destId="{8145E81A-382D-4817-8C19-B60B65D647A1}" srcOrd="3" destOrd="0" presId="urn:microsoft.com/office/officeart/2005/8/layout/vList2"/>
    <dgm:cxn modelId="{A49D8467-94B3-46E7-A7E0-179B6111EF06}" type="presParOf" srcId="{21B31685-B196-4D7F-86F4-489968AE21B9}" destId="{25AC7BA6-B11B-4C09-97E9-71F3B8F72813}"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C9804BFD-B6B4-4AFA-B461-CEA62A5B0BD1}"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93EBED32-8CBF-4B16-BA1B-D7BDD5F30B23}">
      <dgm:prSet/>
      <dgm:spPr/>
      <dgm:t>
        <a:bodyPr/>
        <a:lstStyle/>
        <a:p>
          <a:r>
            <a:rPr lang="en-GB" b="1" i="0"/>
            <a:t>Temporal Dependency</a:t>
          </a:r>
          <a:r>
            <a:rPr lang="en-GB" b="0" i="0"/>
            <a:t>: Time series data often exhibits temporal dependencies, meaning that each data point's value is influenced by the values of previous data points. This autocorrelation is a critical feature of time series data, and it allows for the identification of trends, seasonality, and patterns.</a:t>
          </a:r>
          <a:endParaRPr lang="en-US"/>
        </a:p>
      </dgm:t>
    </dgm:pt>
    <dgm:pt modelId="{1282CBAA-B821-4C41-AAC7-6B0B17EED2F5}" type="parTrans" cxnId="{9C064213-1429-4B3C-A5A4-09733D3F51C0}">
      <dgm:prSet/>
      <dgm:spPr/>
      <dgm:t>
        <a:bodyPr/>
        <a:lstStyle/>
        <a:p>
          <a:endParaRPr lang="en-US"/>
        </a:p>
      </dgm:t>
    </dgm:pt>
    <dgm:pt modelId="{835B1C9E-6C63-4519-9018-82457B3FAD4B}" type="sibTrans" cxnId="{9C064213-1429-4B3C-A5A4-09733D3F51C0}">
      <dgm:prSet/>
      <dgm:spPr/>
      <dgm:t>
        <a:bodyPr/>
        <a:lstStyle/>
        <a:p>
          <a:endParaRPr lang="en-US"/>
        </a:p>
      </dgm:t>
    </dgm:pt>
    <dgm:pt modelId="{89FDA18C-94A8-469E-81BE-A39F92599B37}">
      <dgm:prSet/>
      <dgm:spPr/>
      <dgm:t>
        <a:bodyPr/>
        <a:lstStyle/>
        <a:p>
          <a:r>
            <a:rPr lang="en-GB" b="1" i="0"/>
            <a:t>Trends</a:t>
          </a:r>
          <a:r>
            <a:rPr lang="en-GB" b="0" i="0"/>
            <a:t>: Time series data can exhibit long-term trends or directional movements. These trends represent gradual changes in the variable of interest over time, whether it's an increasing or decreasing pattern.</a:t>
          </a:r>
          <a:endParaRPr lang="en-US"/>
        </a:p>
      </dgm:t>
    </dgm:pt>
    <dgm:pt modelId="{5356A355-D141-433B-A256-4E9E2ED5F4D4}" type="parTrans" cxnId="{6A8EA1AB-C735-4BDF-87CC-8805A8D0EBC3}">
      <dgm:prSet/>
      <dgm:spPr/>
      <dgm:t>
        <a:bodyPr/>
        <a:lstStyle/>
        <a:p>
          <a:endParaRPr lang="en-US"/>
        </a:p>
      </dgm:t>
    </dgm:pt>
    <dgm:pt modelId="{08014108-993D-4F85-8E34-D105A2D40FBB}" type="sibTrans" cxnId="{6A8EA1AB-C735-4BDF-87CC-8805A8D0EBC3}">
      <dgm:prSet/>
      <dgm:spPr/>
      <dgm:t>
        <a:bodyPr/>
        <a:lstStyle/>
        <a:p>
          <a:endParaRPr lang="en-US"/>
        </a:p>
      </dgm:t>
    </dgm:pt>
    <dgm:pt modelId="{115A6DC9-503A-44E5-805A-B3104CC1F172}" type="pres">
      <dgm:prSet presAssocID="{C9804BFD-B6B4-4AFA-B461-CEA62A5B0BD1}" presName="linear" presStyleCnt="0">
        <dgm:presLayoutVars>
          <dgm:animLvl val="lvl"/>
          <dgm:resizeHandles val="exact"/>
        </dgm:presLayoutVars>
      </dgm:prSet>
      <dgm:spPr/>
    </dgm:pt>
    <dgm:pt modelId="{A4D74906-5EE0-4346-A3AA-922007D6AF12}" type="pres">
      <dgm:prSet presAssocID="{93EBED32-8CBF-4B16-BA1B-D7BDD5F30B23}" presName="parentText" presStyleLbl="node1" presStyleIdx="0" presStyleCnt="2">
        <dgm:presLayoutVars>
          <dgm:chMax val="0"/>
          <dgm:bulletEnabled val="1"/>
        </dgm:presLayoutVars>
      </dgm:prSet>
      <dgm:spPr/>
    </dgm:pt>
    <dgm:pt modelId="{0CE0250D-780C-45F2-9A70-D99D407A0AE0}" type="pres">
      <dgm:prSet presAssocID="{835B1C9E-6C63-4519-9018-82457B3FAD4B}" presName="spacer" presStyleCnt="0"/>
      <dgm:spPr/>
    </dgm:pt>
    <dgm:pt modelId="{8665848A-B742-45A3-B6F5-7EC2D42205F2}" type="pres">
      <dgm:prSet presAssocID="{89FDA18C-94A8-469E-81BE-A39F92599B37}" presName="parentText" presStyleLbl="node1" presStyleIdx="1" presStyleCnt="2">
        <dgm:presLayoutVars>
          <dgm:chMax val="0"/>
          <dgm:bulletEnabled val="1"/>
        </dgm:presLayoutVars>
      </dgm:prSet>
      <dgm:spPr/>
    </dgm:pt>
  </dgm:ptLst>
  <dgm:cxnLst>
    <dgm:cxn modelId="{9C064213-1429-4B3C-A5A4-09733D3F51C0}" srcId="{C9804BFD-B6B4-4AFA-B461-CEA62A5B0BD1}" destId="{93EBED32-8CBF-4B16-BA1B-D7BDD5F30B23}" srcOrd="0" destOrd="0" parTransId="{1282CBAA-B821-4C41-AAC7-6B0B17EED2F5}" sibTransId="{835B1C9E-6C63-4519-9018-82457B3FAD4B}"/>
    <dgm:cxn modelId="{9FBB071B-0023-4CAE-A1E6-CC487A0B6FB0}" type="presOf" srcId="{93EBED32-8CBF-4B16-BA1B-D7BDD5F30B23}" destId="{A4D74906-5EE0-4346-A3AA-922007D6AF12}" srcOrd="0" destOrd="0" presId="urn:microsoft.com/office/officeart/2005/8/layout/vList2"/>
    <dgm:cxn modelId="{2E22D4A9-E8DA-4C22-A028-1A84A86727A6}" type="presOf" srcId="{89FDA18C-94A8-469E-81BE-A39F92599B37}" destId="{8665848A-B742-45A3-B6F5-7EC2D42205F2}" srcOrd="0" destOrd="0" presId="urn:microsoft.com/office/officeart/2005/8/layout/vList2"/>
    <dgm:cxn modelId="{6A8EA1AB-C735-4BDF-87CC-8805A8D0EBC3}" srcId="{C9804BFD-B6B4-4AFA-B461-CEA62A5B0BD1}" destId="{89FDA18C-94A8-469E-81BE-A39F92599B37}" srcOrd="1" destOrd="0" parTransId="{5356A355-D141-433B-A256-4E9E2ED5F4D4}" sibTransId="{08014108-993D-4F85-8E34-D105A2D40FBB}"/>
    <dgm:cxn modelId="{38FAB8B9-E012-4565-A43A-36E8BEEBA897}" type="presOf" srcId="{C9804BFD-B6B4-4AFA-B461-CEA62A5B0BD1}" destId="{115A6DC9-503A-44E5-805A-B3104CC1F172}" srcOrd="0" destOrd="0" presId="urn:microsoft.com/office/officeart/2005/8/layout/vList2"/>
    <dgm:cxn modelId="{0BF8C1D4-DB4B-4E4F-8068-38FF7381ED12}" type="presParOf" srcId="{115A6DC9-503A-44E5-805A-B3104CC1F172}" destId="{A4D74906-5EE0-4346-A3AA-922007D6AF12}" srcOrd="0" destOrd="0" presId="urn:microsoft.com/office/officeart/2005/8/layout/vList2"/>
    <dgm:cxn modelId="{D7CFFD13-2640-480E-8773-0F831373A79F}" type="presParOf" srcId="{115A6DC9-503A-44E5-805A-B3104CC1F172}" destId="{0CE0250D-780C-45F2-9A70-D99D407A0AE0}" srcOrd="1" destOrd="0" presId="urn:microsoft.com/office/officeart/2005/8/layout/vList2"/>
    <dgm:cxn modelId="{09FE3AAC-589E-4548-BCFF-BD9561DFBE4D}" type="presParOf" srcId="{115A6DC9-503A-44E5-805A-B3104CC1F172}" destId="{8665848A-B742-45A3-B6F5-7EC2D42205F2}"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D8364F59-D09F-4744-A960-E0FB42088DC1}"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8B19F210-4BBC-4B99-B54D-A656AF0DA323}">
      <dgm:prSet/>
      <dgm:spPr/>
      <dgm:t>
        <a:bodyPr/>
        <a:lstStyle/>
        <a:p>
          <a:r>
            <a:rPr lang="en-GB" b="1" i="0"/>
            <a:t>Seasonality</a:t>
          </a:r>
          <a:r>
            <a:rPr lang="en-GB" b="0" i="0"/>
            <a:t>: Seasonality refers to the regular, repeating patterns or fluctuations in the data that occur at fixed intervals. These patterns can be daily, weekly, monthly, or associated with other time frames. Seasonality often reflects external factors or cycles, such as the change in consumer behaviour throughout the year or daily temperature variations.</a:t>
          </a:r>
          <a:endParaRPr lang="en-US"/>
        </a:p>
      </dgm:t>
    </dgm:pt>
    <dgm:pt modelId="{E5F24E68-53C5-4911-AA04-AFCA79F3B074}" type="parTrans" cxnId="{D25939B2-D38C-449F-879F-A64A49D46EDE}">
      <dgm:prSet/>
      <dgm:spPr/>
      <dgm:t>
        <a:bodyPr/>
        <a:lstStyle/>
        <a:p>
          <a:endParaRPr lang="en-US"/>
        </a:p>
      </dgm:t>
    </dgm:pt>
    <dgm:pt modelId="{E9E6B1C3-B6FC-473B-ADBB-71FF9A155FE2}" type="sibTrans" cxnId="{D25939B2-D38C-449F-879F-A64A49D46EDE}">
      <dgm:prSet/>
      <dgm:spPr/>
      <dgm:t>
        <a:bodyPr/>
        <a:lstStyle/>
        <a:p>
          <a:endParaRPr lang="en-US"/>
        </a:p>
      </dgm:t>
    </dgm:pt>
    <dgm:pt modelId="{0B27F451-B99F-4BA4-90B2-86D8EA1E6A58}">
      <dgm:prSet/>
      <dgm:spPr/>
      <dgm:t>
        <a:bodyPr/>
        <a:lstStyle/>
        <a:p>
          <a:r>
            <a:rPr lang="en-GB" b="1" i="0"/>
            <a:t>Cyclic Patterns</a:t>
          </a:r>
          <a:r>
            <a:rPr lang="en-GB" b="0" i="0"/>
            <a:t>: In addition to seasonality, time series data may contain cyclic patterns. These patterns are more extended than seasonality and may not have fixed intervals. They can be influenced by economic cycles, business cycles, or other extended periodic effects.</a:t>
          </a:r>
          <a:endParaRPr lang="en-US"/>
        </a:p>
      </dgm:t>
    </dgm:pt>
    <dgm:pt modelId="{C8A75D25-28AD-4A2B-881C-DC3B3228BE43}" type="parTrans" cxnId="{3CD84B7D-AAE3-473C-9099-613BE002880F}">
      <dgm:prSet/>
      <dgm:spPr/>
      <dgm:t>
        <a:bodyPr/>
        <a:lstStyle/>
        <a:p>
          <a:endParaRPr lang="en-US"/>
        </a:p>
      </dgm:t>
    </dgm:pt>
    <dgm:pt modelId="{2F7FAE11-3C53-442A-8745-227A7B98351C}" type="sibTrans" cxnId="{3CD84B7D-AAE3-473C-9099-613BE002880F}">
      <dgm:prSet/>
      <dgm:spPr/>
      <dgm:t>
        <a:bodyPr/>
        <a:lstStyle/>
        <a:p>
          <a:endParaRPr lang="en-US"/>
        </a:p>
      </dgm:t>
    </dgm:pt>
    <dgm:pt modelId="{336250F9-0636-428E-A9D4-CF4C72B37102}" type="pres">
      <dgm:prSet presAssocID="{D8364F59-D09F-4744-A960-E0FB42088DC1}" presName="linear" presStyleCnt="0">
        <dgm:presLayoutVars>
          <dgm:animLvl val="lvl"/>
          <dgm:resizeHandles val="exact"/>
        </dgm:presLayoutVars>
      </dgm:prSet>
      <dgm:spPr/>
    </dgm:pt>
    <dgm:pt modelId="{F73ED4BC-1D07-43B7-9069-72761CB2F075}" type="pres">
      <dgm:prSet presAssocID="{8B19F210-4BBC-4B99-B54D-A656AF0DA323}" presName="parentText" presStyleLbl="node1" presStyleIdx="0" presStyleCnt="2">
        <dgm:presLayoutVars>
          <dgm:chMax val="0"/>
          <dgm:bulletEnabled val="1"/>
        </dgm:presLayoutVars>
      </dgm:prSet>
      <dgm:spPr/>
    </dgm:pt>
    <dgm:pt modelId="{C7DFCFB8-EE5A-4D9C-AF5B-07A2CA002B83}" type="pres">
      <dgm:prSet presAssocID="{E9E6B1C3-B6FC-473B-ADBB-71FF9A155FE2}" presName="spacer" presStyleCnt="0"/>
      <dgm:spPr/>
    </dgm:pt>
    <dgm:pt modelId="{8462563A-355A-4638-BE12-21211638E869}" type="pres">
      <dgm:prSet presAssocID="{0B27F451-B99F-4BA4-90B2-86D8EA1E6A58}" presName="parentText" presStyleLbl="node1" presStyleIdx="1" presStyleCnt="2">
        <dgm:presLayoutVars>
          <dgm:chMax val="0"/>
          <dgm:bulletEnabled val="1"/>
        </dgm:presLayoutVars>
      </dgm:prSet>
      <dgm:spPr/>
    </dgm:pt>
  </dgm:ptLst>
  <dgm:cxnLst>
    <dgm:cxn modelId="{1D46E557-CDCD-40BA-A2DF-6AF906FE6A05}" type="presOf" srcId="{D8364F59-D09F-4744-A960-E0FB42088DC1}" destId="{336250F9-0636-428E-A9D4-CF4C72B37102}" srcOrd="0" destOrd="0" presId="urn:microsoft.com/office/officeart/2005/8/layout/vList2"/>
    <dgm:cxn modelId="{3CD84B7D-AAE3-473C-9099-613BE002880F}" srcId="{D8364F59-D09F-4744-A960-E0FB42088DC1}" destId="{0B27F451-B99F-4BA4-90B2-86D8EA1E6A58}" srcOrd="1" destOrd="0" parTransId="{C8A75D25-28AD-4A2B-881C-DC3B3228BE43}" sibTransId="{2F7FAE11-3C53-442A-8745-227A7B98351C}"/>
    <dgm:cxn modelId="{399DE887-CE63-445D-9FBC-AC88FDC5264F}" type="presOf" srcId="{0B27F451-B99F-4BA4-90B2-86D8EA1E6A58}" destId="{8462563A-355A-4638-BE12-21211638E869}" srcOrd="0" destOrd="0" presId="urn:microsoft.com/office/officeart/2005/8/layout/vList2"/>
    <dgm:cxn modelId="{D25939B2-D38C-449F-879F-A64A49D46EDE}" srcId="{D8364F59-D09F-4744-A960-E0FB42088DC1}" destId="{8B19F210-4BBC-4B99-B54D-A656AF0DA323}" srcOrd="0" destOrd="0" parTransId="{E5F24E68-53C5-4911-AA04-AFCA79F3B074}" sibTransId="{E9E6B1C3-B6FC-473B-ADBB-71FF9A155FE2}"/>
    <dgm:cxn modelId="{7D7305E7-C0D8-43AF-BA52-44BAF947527A}" type="presOf" srcId="{8B19F210-4BBC-4B99-B54D-A656AF0DA323}" destId="{F73ED4BC-1D07-43B7-9069-72761CB2F075}" srcOrd="0" destOrd="0" presId="urn:microsoft.com/office/officeart/2005/8/layout/vList2"/>
    <dgm:cxn modelId="{8515F027-FA97-4ECC-A455-FD52B22961EE}" type="presParOf" srcId="{336250F9-0636-428E-A9D4-CF4C72B37102}" destId="{F73ED4BC-1D07-43B7-9069-72761CB2F075}" srcOrd="0" destOrd="0" presId="urn:microsoft.com/office/officeart/2005/8/layout/vList2"/>
    <dgm:cxn modelId="{F213C9AE-B17D-4D85-A91D-9B277D7CD7B6}" type="presParOf" srcId="{336250F9-0636-428E-A9D4-CF4C72B37102}" destId="{C7DFCFB8-EE5A-4D9C-AF5B-07A2CA002B83}" srcOrd="1" destOrd="0" presId="urn:microsoft.com/office/officeart/2005/8/layout/vList2"/>
    <dgm:cxn modelId="{2345C781-63E0-4ADA-9E34-0E0E83BF2C25}" type="presParOf" srcId="{336250F9-0636-428E-A9D4-CF4C72B37102}" destId="{8462563A-355A-4638-BE12-21211638E869}"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70F6A50E-3E21-4020-BC9F-3792E06429ED}"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10242493-2DF6-4F6C-BB59-2BD8A45FD31C}">
      <dgm:prSet/>
      <dgm:spPr/>
      <dgm:t>
        <a:bodyPr/>
        <a:lstStyle/>
        <a:p>
          <a:r>
            <a:rPr lang="en-GB" b="1" i="0"/>
            <a:t>Noise or Random Variations</a:t>
          </a:r>
          <a:r>
            <a:rPr lang="en-GB" b="0" i="0"/>
            <a:t>: Alongside the underlying patterns and trends, time series data also includes noise or random variations. These are irregular and unpredictable components that contribute to the overall variability in the data. Noise can result from measurement errors, external shocks, or random events.</a:t>
          </a:r>
          <a:endParaRPr lang="en-US"/>
        </a:p>
      </dgm:t>
    </dgm:pt>
    <dgm:pt modelId="{08AEC5EC-2C9B-45A4-8987-AE648AD54537}" type="parTrans" cxnId="{761A94E7-CE08-4B7A-9CF4-3F76402A8874}">
      <dgm:prSet/>
      <dgm:spPr/>
      <dgm:t>
        <a:bodyPr/>
        <a:lstStyle/>
        <a:p>
          <a:endParaRPr lang="en-US"/>
        </a:p>
      </dgm:t>
    </dgm:pt>
    <dgm:pt modelId="{FA157310-0808-4BA9-A14E-60D8DF7C462D}" type="sibTrans" cxnId="{761A94E7-CE08-4B7A-9CF4-3F76402A8874}">
      <dgm:prSet/>
      <dgm:spPr/>
      <dgm:t>
        <a:bodyPr/>
        <a:lstStyle/>
        <a:p>
          <a:endParaRPr lang="en-US"/>
        </a:p>
      </dgm:t>
    </dgm:pt>
    <dgm:pt modelId="{2AFA21F3-31CE-4755-88B7-64D491101CD0}">
      <dgm:prSet/>
      <dgm:spPr/>
      <dgm:t>
        <a:bodyPr/>
        <a:lstStyle/>
        <a:p>
          <a:r>
            <a:rPr lang="en-GB" b="1" i="0"/>
            <a:t>Data Points</a:t>
          </a:r>
          <a:r>
            <a:rPr lang="en-GB" b="0" i="0"/>
            <a:t>: Each data point in a time series consists of two main components: the observed value of the variable being measured (e.g., stock price, temperature, sales) and the corresponding timestamp or time index.</a:t>
          </a:r>
          <a:endParaRPr lang="en-US"/>
        </a:p>
      </dgm:t>
    </dgm:pt>
    <dgm:pt modelId="{5507C44E-BDE8-414F-B774-254956774FF6}" type="parTrans" cxnId="{AD3B5323-6C12-4CF4-88DB-9B875DCFF697}">
      <dgm:prSet/>
      <dgm:spPr/>
      <dgm:t>
        <a:bodyPr/>
        <a:lstStyle/>
        <a:p>
          <a:endParaRPr lang="en-US"/>
        </a:p>
      </dgm:t>
    </dgm:pt>
    <dgm:pt modelId="{F66A8FD1-2977-44F8-B200-067B9654C079}" type="sibTrans" cxnId="{AD3B5323-6C12-4CF4-88DB-9B875DCFF697}">
      <dgm:prSet/>
      <dgm:spPr/>
      <dgm:t>
        <a:bodyPr/>
        <a:lstStyle/>
        <a:p>
          <a:endParaRPr lang="en-US"/>
        </a:p>
      </dgm:t>
    </dgm:pt>
    <dgm:pt modelId="{DBA9F798-56B1-4B10-837C-A422A42F25E7}" type="pres">
      <dgm:prSet presAssocID="{70F6A50E-3E21-4020-BC9F-3792E06429ED}" presName="linear" presStyleCnt="0">
        <dgm:presLayoutVars>
          <dgm:animLvl val="lvl"/>
          <dgm:resizeHandles val="exact"/>
        </dgm:presLayoutVars>
      </dgm:prSet>
      <dgm:spPr/>
    </dgm:pt>
    <dgm:pt modelId="{CA4D6A66-8129-4A54-9F20-973732C1E494}" type="pres">
      <dgm:prSet presAssocID="{10242493-2DF6-4F6C-BB59-2BD8A45FD31C}" presName="parentText" presStyleLbl="node1" presStyleIdx="0" presStyleCnt="2">
        <dgm:presLayoutVars>
          <dgm:chMax val="0"/>
          <dgm:bulletEnabled val="1"/>
        </dgm:presLayoutVars>
      </dgm:prSet>
      <dgm:spPr/>
    </dgm:pt>
    <dgm:pt modelId="{3BC3ABE4-2C65-47D1-A7CF-6F69B7D15587}" type="pres">
      <dgm:prSet presAssocID="{FA157310-0808-4BA9-A14E-60D8DF7C462D}" presName="spacer" presStyleCnt="0"/>
      <dgm:spPr/>
    </dgm:pt>
    <dgm:pt modelId="{10AA14FB-4377-4B05-9C39-CCEA960CFDDF}" type="pres">
      <dgm:prSet presAssocID="{2AFA21F3-31CE-4755-88B7-64D491101CD0}" presName="parentText" presStyleLbl="node1" presStyleIdx="1" presStyleCnt="2">
        <dgm:presLayoutVars>
          <dgm:chMax val="0"/>
          <dgm:bulletEnabled val="1"/>
        </dgm:presLayoutVars>
      </dgm:prSet>
      <dgm:spPr/>
    </dgm:pt>
  </dgm:ptLst>
  <dgm:cxnLst>
    <dgm:cxn modelId="{AD3B5323-6C12-4CF4-88DB-9B875DCFF697}" srcId="{70F6A50E-3E21-4020-BC9F-3792E06429ED}" destId="{2AFA21F3-31CE-4755-88B7-64D491101CD0}" srcOrd="1" destOrd="0" parTransId="{5507C44E-BDE8-414F-B774-254956774FF6}" sibTransId="{F66A8FD1-2977-44F8-B200-067B9654C079}"/>
    <dgm:cxn modelId="{3E978227-BD86-4EA7-88D7-B40A6E2A453B}" type="presOf" srcId="{2AFA21F3-31CE-4755-88B7-64D491101CD0}" destId="{10AA14FB-4377-4B05-9C39-CCEA960CFDDF}" srcOrd="0" destOrd="0" presId="urn:microsoft.com/office/officeart/2005/8/layout/vList2"/>
    <dgm:cxn modelId="{69BB9A81-C432-4297-A673-FF79A74951D6}" type="presOf" srcId="{10242493-2DF6-4F6C-BB59-2BD8A45FD31C}" destId="{CA4D6A66-8129-4A54-9F20-973732C1E494}" srcOrd="0" destOrd="0" presId="urn:microsoft.com/office/officeart/2005/8/layout/vList2"/>
    <dgm:cxn modelId="{C7C697C7-7278-4768-9C7A-E38B6D8466B4}" type="presOf" srcId="{70F6A50E-3E21-4020-BC9F-3792E06429ED}" destId="{DBA9F798-56B1-4B10-837C-A422A42F25E7}" srcOrd="0" destOrd="0" presId="urn:microsoft.com/office/officeart/2005/8/layout/vList2"/>
    <dgm:cxn modelId="{761A94E7-CE08-4B7A-9CF4-3F76402A8874}" srcId="{70F6A50E-3E21-4020-BC9F-3792E06429ED}" destId="{10242493-2DF6-4F6C-BB59-2BD8A45FD31C}" srcOrd="0" destOrd="0" parTransId="{08AEC5EC-2C9B-45A4-8987-AE648AD54537}" sibTransId="{FA157310-0808-4BA9-A14E-60D8DF7C462D}"/>
    <dgm:cxn modelId="{00A338D1-8261-40FC-8044-5E8837CEFF45}" type="presParOf" srcId="{DBA9F798-56B1-4B10-837C-A422A42F25E7}" destId="{CA4D6A66-8129-4A54-9F20-973732C1E494}" srcOrd="0" destOrd="0" presId="urn:microsoft.com/office/officeart/2005/8/layout/vList2"/>
    <dgm:cxn modelId="{CC76106D-E4C2-4FD5-913F-50A331590BEA}" type="presParOf" srcId="{DBA9F798-56B1-4B10-837C-A422A42F25E7}" destId="{3BC3ABE4-2C65-47D1-A7CF-6F69B7D15587}" srcOrd="1" destOrd="0" presId="urn:microsoft.com/office/officeart/2005/8/layout/vList2"/>
    <dgm:cxn modelId="{5F191ED0-F5F1-405D-BFFF-B6B2401CD760}" type="presParOf" srcId="{DBA9F798-56B1-4B10-837C-A422A42F25E7}" destId="{10AA14FB-4377-4B05-9C39-CCEA960CFDDF}"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BD4AB8EA-3427-444C-B482-27252D2A2CBA}"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8C36B7E1-8132-4C36-805E-F757AAA51839}">
      <dgm:prSet/>
      <dgm:spPr/>
      <dgm:t>
        <a:bodyPr/>
        <a:lstStyle/>
        <a:p>
          <a:r>
            <a:rPr lang="en-GB" b="0" i="0"/>
            <a:t>Time series data can be categorized into different types based on the number of variables or observations being measured. The two primary types of time series data are univariate and multivariate time series data.</a:t>
          </a:r>
          <a:endParaRPr lang="en-US"/>
        </a:p>
      </dgm:t>
    </dgm:pt>
    <dgm:pt modelId="{3B07BAA8-8870-4970-BD50-8B18A5991C63}" type="parTrans" cxnId="{CF2644BF-DC94-4F8F-BD0B-EE620F4B5E13}">
      <dgm:prSet/>
      <dgm:spPr/>
      <dgm:t>
        <a:bodyPr/>
        <a:lstStyle/>
        <a:p>
          <a:endParaRPr lang="en-US"/>
        </a:p>
      </dgm:t>
    </dgm:pt>
    <dgm:pt modelId="{AB804331-3CB7-4059-9FF9-16614A24AF8F}" type="sibTrans" cxnId="{CF2644BF-DC94-4F8F-BD0B-EE620F4B5E13}">
      <dgm:prSet/>
      <dgm:spPr/>
      <dgm:t>
        <a:bodyPr/>
        <a:lstStyle/>
        <a:p>
          <a:endParaRPr lang="en-US"/>
        </a:p>
      </dgm:t>
    </dgm:pt>
    <dgm:pt modelId="{FAD03060-236F-412F-ADFC-35077945838F}">
      <dgm:prSet/>
      <dgm:spPr/>
      <dgm:t>
        <a:bodyPr/>
        <a:lstStyle/>
        <a:p>
          <a:r>
            <a:rPr lang="en-IE" b="1" i="0"/>
            <a:t>Univariate Time Series Data:</a:t>
          </a:r>
          <a:endParaRPr lang="en-US"/>
        </a:p>
      </dgm:t>
    </dgm:pt>
    <dgm:pt modelId="{0A822A6E-11D8-46B4-A5F1-57AA25502F85}" type="parTrans" cxnId="{BE5CE9A2-1759-4AC5-AACF-D17ED13242E2}">
      <dgm:prSet/>
      <dgm:spPr/>
      <dgm:t>
        <a:bodyPr/>
        <a:lstStyle/>
        <a:p>
          <a:endParaRPr lang="en-US"/>
        </a:p>
      </dgm:t>
    </dgm:pt>
    <dgm:pt modelId="{50D98680-4182-4BA6-B576-F1E3DD113777}" type="sibTrans" cxnId="{BE5CE9A2-1759-4AC5-AACF-D17ED13242E2}">
      <dgm:prSet/>
      <dgm:spPr/>
      <dgm:t>
        <a:bodyPr/>
        <a:lstStyle/>
        <a:p>
          <a:endParaRPr lang="en-US"/>
        </a:p>
      </dgm:t>
    </dgm:pt>
    <dgm:pt modelId="{D30B5BA0-4019-4C8D-BEE3-C2E310DFE07E}">
      <dgm:prSet/>
      <dgm:spPr/>
      <dgm:t>
        <a:bodyPr/>
        <a:lstStyle/>
        <a:p>
          <a:r>
            <a:rPr lang="en-IE" b="1" i="0"/>
            <a:t>Multivariate Time Series Data:</a:t>
          </a:r>
          <a:endParaRPr lang="en-US"/>
        </a:p>
      </dgm:t>
    </dgm:pt>
    <dgm:pt modelId="{ADFB33DE-8270-49E6-A2A1-556989A3A01C}" type="parTrans" cxnId="{3F037CDF-86BA-49FA-9720-66FB0D65186F}">
      <dgm:prSet/>
      <dgm:spPr/>
      <dgm:t>
        <a:bodyPr/>
        <a:lstStyle/>
        <a:p>
          <a:endParaRPr lang="en-US"/>
        </a:p>
      </dgm:t>
    </dgm:pt>
    <dgm:pt modelId="{57945343-3385-41A6-902E-3DE9821C8848}" type="sibTrans" cxnId="{3F037CDF-86BA-49FA-9720-66FB0D65186F}">
      <dgm:prSet/>
      <dgm:spPr/>
      <dgm:t>
        <a:bodyPr/>
        <a:lstStyle/>
        <a:p>
          <a:endParaRPr lang="en-US"/>
        </a:p>
      </dgm:t>
    </dgm:pt>
    <dgm:pt modelId="{B7BD734D-CC9F-45A7-A3C2-1BB3C600939A}" type="pres">
      <dgm:prSet presAssocID="{BD4AB8EA-3427-444C-B482-27252D2A2CBA}" presName="root" presStyleCnt="0">
        <dgm:presLayoutVars>
          <dgm:dir/>
          <dgm:resizeHandles val="exact"/>
        </dgm:presLayoutVars>
      </dgm:prSet>
      <dgm:spPr/>
    </dgm:pt>
    <dgm:pt modelId="{0E508684-CC4B-453A-835B-916FD348BFCE}" type="pres">
      <dgm:prSet presAssocID="{8C36B7E1-8132-4C36-805E-F757AAA51839}" presName="compNode" presStyleCnt="0"/>
      <dgm:spPr/>
    </dgm:pt>
    <dgm:pt modelId="{F044AE50-C6C5-4D3D-81EA-565D4F5A380B}" type="pres">
      <dgm:prSet presAssocID="{8C36B7E1-8132-4C36-805E-F757AAA51839}" presName="bgRect" presStyleLbl="bgShp" presStyleIdx="0" presStyleCnt="3"/>
      <dgm:spPr/>
    </dgm:pt>
    <dgm:pt modelId="{7FB53EE5-49CC-4E5F-94BD-12FF2C97762A}" type="pres">
      <dgm:prSet presAssocID="{8C36B7E1-8132-4C36-805E-F757AAA5183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cs"/>
        </a:ext>
      </dgm:extLst>
    </dgm:pt>
    <dgm:pt modelId="{AB45A007-ED11-40AA-96E3-3D15004746E5}" type="pres">
      <dgm:prSet presAssocID="{8C36B7E1-8132-4C36-805E-F757AAA51839}" presName="spaceRect" presStyleCnt="0"/>
      <dgm:spPr/>
    </dgm:pt>
    <dgm:pt modelId="{B01C7DBB-6A08-4253-961C-DFC65A744EE0}" type="pres">
      <dgm:prSet presAssocID="{8C36B7E1-8132-4C36-805E-F757AAA51839}" presName="parTx" presStyleLbl="revTx" presStyleIdx="0" presStyleCnt="3">
        <dgm:presLayoutVars>
          <dgm:chMax val="0"/>
          <dgm:chPref val="0"/>
        </dgm:presLayoutVars>
      </dgm:prSet>
      <dgm:spPr/>
    </dgm:pt>
    <dgm:pt modelId="{BFB97BEF-F08D-457F-9B98-12E65303AC04}" type="pres">
      <dgm:prSet presAssocID="{AB804331-3CB7-4059-9FF9-16614A24AF8F}" presName="sibTrans" presStyleCnt="0"/>
      <dgm:spPr/>
    </dgm:pt>
    <dgm:pt modelId="{7A7A40B1-AF57-456D-90C7-CAB8DB6E700D}" type="pres">
      <dgm:prSet presAssocID="{FAD03060-236F-412F-ADFC-35077945838F}" presName="compNode" presStyleCnt="0"/>
      <dgm:spPr/>
    </dgm:pt>
    <dgm:pt modelId="{7539108C-6997-4FFE-9106-F39A3FC0E89F}" type="pres">
      <dgm:prSet presAssocID="{FAD03060-236F-412F-ADFC-35077945838F}" presName="bgRect" presStyleLbl="bgShp" presStyleIdx="1" presStyleCnt="3"/>
      <dgm:spPr/>
    </dgm:pt>
    <dgm:pt modelId="{CA160016-8A20-4E5A-813C-B2F38158BCE1}" type="pres">
      <dgm:prSet presAssocID="{FAD03060-236F-412F-ADFC-35077945838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8184CF6C-2C7A-4C08-A341-DBFCB273E67D}" type="pres">
      <dgm:prSet presAssocID="{FAD03060-236F-412F-ADFC-35077945838F}" presName="spaceRect" presStyleCnt="0"/>
      <dgm:spPr/>
    </dgm:pt>
    <dgm:pt modelId="{70435979-7C5E-4B1C-907F-523D6CA1179B}" type="pres">
      <dgm:prSet presAssocID="{FAD03060-236F-412F-ADFC-35077945838F}" presName="parTx" presStyleLbl="revTx" presStyleIdx="1" presStyleCnt="3">
        <dgm:presLayoutVars>
          <dgm:chMax val="0"/>
          <dgm:chPref val="0"/>
        </dgm:presLayoutVars>
      </dgm:prSet>
      <dgm:spPr/>
    </dgm:pt>
    <dgm:pt modelId="{38F4A508-556A-4062-BE3F-70B052CA0EEB}" type="pres">
      <dgm:prSet presAssocID="{50D98680-4182-4BA6-B576-F1E3DD113777}" presName="sibTrans" presStyleCnt="0"/>
      <dgm:spPr/>
    </dgm:pt>
    <dgm:pt modelId="{DFA67A2C-B4B9-4CC5-A688-C331823C35A9}" type="pres">
      <dgm:prSet presAssocID="{D30B5BA0-4019-4C8D-BEE3-C2E310DFE07E}" presName="compNode" presStyleCnt="0"/>
      <dgm:spPr/>
    </dgm:pt>
    <dgm:pt modelId="{BAD614A7-C238-465F-84CC-AC7D11696EC2}" type="pres">
      <dgm:prSet presAssocID="{D30B5BA0-4019-4C8D-BEE3-C2E310DFE07E}" presName="bgRect" presStyleLbl="bgShp" presStyleIdx="2" presStyleCnt="3"/>
      <dgm:spPr/>
    </dgm:pt>
    <dgm:pt modelId="{DA99DE65-B4DA-4FED-B5A4-0918136910D5}" type="pres">
      <dgm:prSet presAssocID="{D30B5BA0-4019-4C8D-BEE3-C2E310DFE07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tabase"/>
        </a:ext>
      </dgm:extLst>
    </dgm:pt>
    <dgm:pt modelId="{B0132543-C081-422F-A26E-9EB96A63BADB}" type="pres">
      <dgm:prSet presAssocID="{D30B5BA0-4019-4C8D-BEE3-C2E310DFE07E}" presName="spaceRect" presStyleCnt="0"/>
      <dgm:spPr/>
    </dgm:pt>
    <dgm:pt modelId="{5BF0115C-9596-4ED9-BF76-4C2DA77A3044}" type="pres">
      <dgm:prSet presAssocID="{D30B5BA0-4019-4C8D-BEE3-C2E310DFE07E}" presName="parTx" presStyleLbl="revTx" presStyleIdx="2" presStyleCnt="3">
        <dgm:presLayoutVars>
          <dgm:chMax val="0"/>
          <dgm:chPref val="0"/>
        </dgm:presLayoutVars>
      </dgm:prSet>
      <dgm:spPr/>
    </dgm:pt>
  </dgm:ptLst>
  <dgm:cxnLst>
    <dgm:cxn modelId="{2683B83E-C006-4FCF-87EE-7F67031B1B02}" type="presOf" srcId="{D30B5BA0-4019-4C8D-BEE3-C2E310DFE07E}" destId="{5BF0115C-9596-4ED9-BF76-4C2DA77A3044}" srcOrd="0" destOrd="0" presId="urn:microsoft.com/office/officeart/2018/2/layout/IconVerticalSolidList"/>
    <dgm:cxn modelId="{6B0ECD8E-90D1-4AF7-BB5F-62DDFF94CD95}" type="presOf" srcId="{FAD03060-236F-412F-ADFC-35077945838F}" destId="{70435979-7C5E-4B1C-907F-523D6CA1179B}" srcOrd="0" destOrd="0" presId="urn:microsoft.com/office/officeart/2018/2/layout/IconVerticalSolidList"/>
    <dgm:cxn modelId="{BE5CE9A2-1759-4AC5-AACF-D17ED13242E2}" srcId="{BD4AB8EA-3427-444C-B482-27252D2A2CBA}" destId="{FAD03060-236F-412F-ADFC-35077945838F}" srcOrd="1" destOrd="0" parTransId="{0A822A6E-11D8-46B4-A5F1-57AA25502F85}" sibTransId="{50D98680-4182-4BA6-B576-F1E3DD113777}"/>
    <dgm:cxn modelId="{CF2644BF-DC94-4F8F-BD0B-EE620F4B5E13}" srcId="{BD4AB8EA-3427-444C-B482-27252D2A2CBA}" destId="{8C36B7E1-8132-4C36-805E-F757AAA51839}" srcOrd="0" destOrd="0" parTransId="{3B07BAA8-8870-4970-BD50-8B18A5991C63}" sibTransId="{AB804331-3CB7-4059-9FF9-16614A24AF8F}"/>
    <dgm:cxn modelId="{3F037CDF-86BA-49FA-9720-66FB0D65186F}" srcId="{BD4AB8EA-3427-444C-B482-27252D2A2CBA}" destId="{D30B5BA0-4019-4C8D-BEE3-C2E310DFE07E}" srcOrd="2" destOrd="0" parTransId="{ADFB33DE-8270-49E6-A2A1-556989A3A01C}" sibTransId="{57945343-3385-41A6-902E-3DE9821C8848}"/>
    <dgm:cxn modelId="{83DCB2F1-8850-4E69-87AD-19263145042F}" type="presOf" srcId="{8C36B7E1-8132-4C36-805E-F757AAA51839}" destId="{B01C7DBB-6A08-4253-961C-DFC65A744EE0}" srcOrd="0" destOrd="0" presId="urn:microsoft.com/office/officeart/2018/2/layout/IconVerticalSolidList"/>
    <dgm:cxn modelId="{5E4B76F8-9081-4862-A14A-D3CC4360BCFA}" type="presOf" srcId="{BD4AB8EA-3427-444C-B482-27252D2A2CBA}" destId="{B7BD734D-CC9F-45A7-A3C2-1BB3C600939A}" srcOrd="0" destOrd="0" presId="urn:microsoft.com/office/officeart/2018/2/layout/IconVerticalSolidList"/>
    <dgm:cxn modelId="{FF32C889-7839-45A2-94E0-B7514E4D374C}" type="presParOf" srcId="{B7BD734D-CC9F-45A7-A3C2-1BB3C600939A}" destId="{0E508684-CC4B-453A-835B-916FD348BFCE}" srcOrd="0" destOrd="0" presId="urn:microsoft.com/office/officeart/2018/2/layout/IconVerticalSolidList"/>
    <dgm:cxn modelId="{BFF1E43B-E1A5-485F-94F5-D43E19C45C32}" type="presParOf" srcId="{0E508684-CC4B-453A-835B-916FD348BFCE}" destId="{F044AE50-C6C5-4D3D-81EA-565D4F5A380B}" srcOrd="0" destOrd="0" presId="urn:microsoft.com/office/officeart/2018/2/layout/IconVerticalSolidList"/>
    <dgm:cxn modelId="{A735197F-BDFC-49AD-86B0-579176B99C85}" type="presParOf" srcId="{0E508684-CC4B-453A-835B-916FD348BFCE}" destId="{7FB53EE5-49CC-4E5F-94BD-12FF2C97762A}" srcOrd="1" destOrd="0" presId="urn:microsoft.com/office/officeart/2018/2/layout/IconVerticalSolidList"/>
    <dgm:cxn modelId="{4F9D5C46-C53D-44D8-896E-F762865B09AF}" type="presParOf" srcId="{0E508684-CC4B-453A-835B-916FD348BFCE}" destId="{AB45A007-ED11-40AA-96E3-3D15004746E5}" srcOrd="2" destOrd="0" presId="urn:microsoft.com/office/officeart/2018/2/layout/IconVerticalSolidList"/>
    <dgm:cxn modelId="{6A0D674C-F0FF-4923-ACFC-2DD9CEF25044}" type="presParOf" srcId="{0E508684-CC4B-453A-835B-916FD348BFCE}" destId="{B01C7DBB-6A08-4253-961C-DFC65A744EE0}" srcOrd="3" destOrd="0" presId="urn:microsoft.com/office/officeart/2018/2/layout/IconVerticalSolidList"/>
    <dgm:cxn modelId="{C74445A6-ACBA-4AAE-AD68-6D91D5553980}" type="presParOf" srcId="{B7BD734D-CC9F-45A7-A3C2-1BB3C600939A}" destId="{BFB97BEF-F08D-457F-9B98-12E65303AC04}" srcOrd="1" destOrd="0" presId="urn:microsoft.com/office/officeart/2018/2/layout/IconVerticalSolidList"/>
    <dgm:cxn modelId="{699BD366-127C-4CBE-9EAF-EC4DECB4A85F}" type="presParOf" srcId="{B7BD734D-CC9F-45A7-A3C2-1BB3C600939A}" destId="{7A7A40B1-AF57-456D-90C7-CAB8DB6E700D}" srcOrd="2" destOrd="0" presId="urn:microsoft.com/office/officeart/2018/2/layout/IconVerticalSolidList"/>
    <dgm:cxn modelId="{185D5743-6C81-47E6-8937-126906932836}" type="presParOf" srcId="{7A7A40B1-AF57-456D-90C7-CAB8DB6E700D}" destId="{7539108C-6997-4FFE-9106-F39A3FC0E89F}" srcOrd="0" destOrd="0" presId="urn:microsoft.com/office/officeart/2018/2/layout/IconVerticalSolidList"/>
    <dgm:cxn modelId="{F82EA0B8-F086-4140-AAD3-2D8CF5F65DAA}" type="presParOf" srcId="{7A7A40B1-AF57-456D-90C7-CAB8DB6E700D}" destId="{CA160016-8A20-4E5A-813C-B2F38158BCE1}" srcOrd="1" destOrd="0" presId="urn:microsoft.com/office/officeart/2018/2/layout/IconVerticalSolidList"/>
    <dgm:cxn modelId="{87B84533-D533-4F74-B0DF-CAABD169E087}" type="presParOf" srcId="{7A7A40B1-AF57-456D-90C7-CAB8DB6E700D}" destId="{8184CF6C-2C7A-4C08-A341-DBFCB273E67D}" srcOrd="2" destOrd="0" presId="urn:microsoft.com/office/officeart/2018/2/layout/IconVerticalSolidList"/>
    <dgm:cxn modelId="{C6FDA926-A65C-49A2-A8D2-8C3905AEB595}" type="presParOf" srcId="{7A7A40B1-AF57-456D-90C7-CAB8DB6E700D}" destId="{70435979-7C5E-4B1C-907F-523D6CA1179B}" srcOrd="3" destOrd="0" presId="urn:microsoft.com/office/officeart/2018/2/layout/IconVerticalSolidList"/>
    <dgm:cxn modelId="{520F6349-7FC0-4712-84D4-4AD9B389E5DA}" type="presParOf" srcId="{B7BD734D-CC9F-45A7-A3C2-1BB3C600939A}" destId="{38F4A508-556A-4062-BE3F-70B052CA0EEB}" srcOrd="3" destOrd="0" presId="urn:microsoft.com/office/officeart/2018/2/layout/IconVerticalSolidList"/>
    <dgm:cxn modelId="{94562C91-DFA3-45D0-8480-4FDFB5294468}" type="presParOf" srcId="{B7BD734D-CC9F-45A7-A3C2-1BB3C600939A}" destId="{DFA67A2C-B4B9-4CC5-A688-C331823C35A9}" srcOrd="4" destOrd="0" presId="urn:microsoft.com/office/officeart/2018/2/layout/IconVerticalSolidList"/>
    <dgm:cxn modelId="{36E20CB1-A5BE-4E70-B57F-0B7FC0973EF8}" type="presParOf" srcId="{DFA67A2C-B4B9-4CC5-A688-C331823C35A9}" destId="{BAD614A7-C238-465F-84CC-AC7D11696EC2}" srcOrd="0" destOrd="0" presId="urn:microsoft.com/office/officeart/2018/2/layout/IconVerticalSolidList"/>
    <dgm:cxn modelId="{F43CBC01-0FF8-4E7A-84B9-33FBB5FC9B47}" type="presParOf" srcId="{DFA67A2C-B4B9-4CC5-A688-C331823C35A9}" destId="{DA99DE65-B4DA-4FED-B5A4-0918136910D5}" srcOrd="1" destOrd="0" presId="urn:microsoft.com/office/officeart/2018/2/layout/IconVerticalSolidList"/>
    <dgm:cxn modelId="{863667C0-80B1-40D3-875D-388350368C5C}" type="presParOf" srcId="{DFA67A2C-B4B9-4CC5-A688-C331823C35A9}" destId="{B0132543-C081-422F-A26E-9EB96A63BADB}" srcOrd="2" destOrd="0" presId="urn:microsoft.com/office/officeart/2018/2/layout/IconVerticalSolidList"/>
    <dgm:cxn modelId="{64D498A6-D9AC-43CF-B65B-4418CE1C72DE}" type="presParOf" srcId="{DFA67A2C-B4B9-4CC5-A688-C331823C35A9}" destId="{5BF0115C-9596-4ED9-BF76-4C2DA77A3044}"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9C9D5431-0050-41E2-986B-9A9747687FCC}"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D368833-4F91-445D-BD9D-59CD2BD32F67}">
      <dgm:prSet/>
      <dgm:spPr/>
      <dgm:t>
        <a:bodyPr/>
        <a:lstStyle/>
        <a:p>
          <a:r>
            <a:rPr lang="en-GB" b="1" i="0"/>
            <a:t>Definition</a:t>
          </a:r>
          <a:r>
            <a:rPr lang="en-GB" b="0" i="0"/>
            <a:t>: Univariate time series data consists of a single variable observed or measured at different time intervals. It represents the behaviour of that single variable over time.</a:t>
          </a:r>
          <a:endParaRPr lang="en-US"/>
        </a:p>
      </dgm:t>
    </dgm:pt>
    <dgm:pt modelId="{024F7FDE-EFB0-4F5A-87AF-052EE29EC2D6}" type="parTrans" cxnId="{50F70883-6A8D-4681-9C2D-FFFF1799CC58}">
      <dgm:prSet/>
      <dgm:spPr/>
      <dgm:t>
        <a:bodyPr/>
        <a:lstStyle/>
        <a:p>
          <a:endParaRPr lang="en-US"/>
        </a:p>
      </dgm:t>
    </dgm:pt>
    <dgm:pt modelId="{B5BC97DC-1A5F-4185-8827-05EDAF98303A}" type="sibTrans" cxnId="{50F70883-6A8D-4681-9C2D-FFFF1799CC58}">
      <dgm:prSet/>
      <dgm:spPr/>
      <dgm:t>
        <a:bodyPr/>
        <a:lstStyle/>
        <a:p>
          <a:endParaRPr lang="en-US"/>
        </a:p>
      </dgm:t>
    </dgm:pt>
    <dgm:pt modelId="{1ACE4C9A-7A04-49D4-AF3C-BA3052AC865D}">
      <dgm:prSet/>
      <dgm:spPr/>
      <dgm:t>
        <a:bodyPr/>
        <a:lstStyle/>
        <a:p>
          <a:r>
            <a:rPr lang="en-GB" b="1" i="0"/>
            <a:t>Examples</a:t>
          </a:r>
          <a:r>
            <a:rPr lang="en-GB" b="0" i="0"/>
            <a:t>: Univariate time series data can include historical stock prices of a single company, daily temperature readings at a specific location, monthly sales figures for a product, or the daily closing price of a stock market index. In each case, there is only one variable of interest, and its values are recorded over time.</a:t>
          </a:r>
          <a:endParaRPr lang="en-US"/>
        </a:p>
      </dgm:t>
    </dgm:pt>
    <dgm:pt modelId="{F851AC68-4E53-4219-AA00-FBAB772FE603}" type="parTrans" cxnId="{33DFB494-4DDD-4930-95C8-F85466E1F15A}">
      <dgm:prSet/>
      <dgm:spPr/>
      <dgm:t>
        <a:bodyPr/>
        <a:lstStyle/>
        <a:p>
          <a:endParaRPr lang="en-US"/>
        </a:p>
      </dgm:t>
    </dgm:pt>
    <dgm:pt modelId="{B3B2B7B6-FA26-494C-ACA9-0F610EF07802}" type="sibTrans" cxnId="{33DFB494-4DDD-4930-95C8-F85466E1F15A}">
      <dgm:prSet/>
      <dgm:spPr/>
      <dgm:t>
        <a:bodyPr/>
        <a:lstStyle/>
        <a:p>
          <a:endParaRPr lang="en-US"/>
        </a:p>
      </dgm:t>
    </dgm:pt>
    <dgm:pt modelId="{B9A1E6A8-3160-487F-B1D4-099B049D0E80}" type="pres">
      <dgm:prSet presAssocID="{9C9D5431-0050-41E2-986B-9A9747687FCC}" presName="root" presStyleCnt="0">
        <dgm:presLayoutVars>
          <dgm:dir/>
          <dgm:resizeHandles val="exact"/>
        </dgm:presLayoutVars>
      </dgm:prSet>
      <dgm:spPr/>
    </dgm:pt>
    <dgm:pt modelId="{4E3E286A-6243-4C92-9C73-58AB6481B407}" type="pres">
      <dgm:prSet presAssocID="{5D368833-4F91-445D-BD9D-59CD2BD32F67}" presName="compNode" presStyleCnt="0"/>
      <dgm:spPr/>
    </dgm:pt>
    <dgm:pt modelId="{6A4EC829-6044-4C87-BDEC-9F6DFA04F9B2}" type="pres">
      <dgm:prSet presAssocID="{5D368833-4F91-445D-BD9D-59CD2BD32F67}" presName="bgRect" presStyleLbl="bgShp" presStyleIdx="0" presStyleCnt="2"/>
      <dgm:spPr/>
    </dgm:pt>
    <dgm:pt modelId="{310C7182-5172-4597-8F04-E1B1B67E41A2}" type="pres">
      <dgm:prSet presAssocID="{5D368833-4F91-445D-BD9D-59CD2BD32F6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opwatch"/>
        </a:ext>
      </dgm:extLst>
    </dgm:pt>
    <dgm:pt modelId="{53713A6F-E54E-435F-B2A6-5ACFB2EED851}" type="pres">
      <dgm:prSet presAssocID="{5D368833-4F91-445D-BD9D-59CD2BD32F67}" presName="spaceRect" presStyleCnt="0"/>
      <dgm:spPr/>
    </dgm:pt>
    <dgm:pt modelId="{8CC4D98B-5CEB-4584-B83C-2917BC8DD7F9}" type="pres">
      <dgm:prSet presAssocID="{5D368833-4F91-445D-BD9D-59CD2BD32F67}" presName="parTx" presStyleLbl="revTx" presStyleIdx="0" presStyleCnt="2">
        <dgm:presLayoutVars>
          <dgm:chMax val="0"/>
          <dgm:chPref val="0"/>
        </dgm:presLayoutVars>
      </dgm:prSet>
      <dgm:spPr/>
    </dgm:pt>
    <dgm:pt modelId="{A0ACF03E-88CE-40FB-B7C8-16A35151400D}" type="pres">
      <dgm:prSet presAssocID="{B5BC97DC-1A5F-4185-8827-05EDAF98303A}" presName="sibTrans" presStyleCnt="0"/>
      <dgm:spPr/>
    </dgm:pt>
    <dgm:pt modelId="{42E8FD77-5E1A-472C-91AC-443CF21AA438}" type="pres">
      <dgm:prSet presAssocID="{1ACE4C9A-7A04-49D4-AF3C-BA3052AC865D}" presName="compNode" presStyleCnt="0"/>
      <dgm:spPr/>
    </dgm:pt>
    <dgm:pt modelId="{9F6F8537-8287-4D81-8E3C-C05976E7DA67}" type="pres">
      <dgm:prSet presAssocID="{1ACE4C9A-7A04-49D4-AF3C-BA3052AC865D}" presName="bgRect" presStyleLbl="bgShp" presStyleIdx="1" presStyleCnt="2"/>
      <dgm:spPr/>
    </dgm:pt>
    <dgm:pt modelId="{2AC873B0-4CCB-410B-B160-B7181DB70E3C}" type="pres">
      <dgm:prSet presAssocID="{1ACE4C9A-7A04-49D4-AF3C-BA3052AC865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7638480F-C0B9-4C3A-B1C0-36A70BB79563}" type="pres">
      <dgm:prSet presAssocID="{1ACE4C9A-7A04-49D4-AF3C-BA3052AC865D}" presName="spaceRect" presStyleCnt="0"/>
      <dgm:spPr/>
    </dgm:pt>
    <dgm:pt modelId="{01DBE73B-AF54-45E9-8DFF-1E4D3748A5D9}" type="pres">
      <dgm:prSet presAssocID="{1ACE4C9A-7A04-49D4-AF3C-BA3052AC865D}" presName="parTx" presStyleLbl="revTx" presStyleIdx="1" presStyleCnt="2">
        <dgm:presLayoutVars>
          <dgm:chMax val="0"/>
          <dgm:chPref val="0"/>
        </dgm:presLayoutVars>
      </dgm:prSet>
      <dgm:spPr/>
    </dgm:pt>
  </dgm:ptLst>
  <dgm:cxnLst>
    <dgm:cxn modelId="{D4715C40-DF98-40DF-8D67-8DFBCB9ACD02}" type="presOf" srcId="{1ACE4C9A-7A04-49D4-AF3C-BA3052AC865D}" destId="{01DBE73B-AF54-45E9-8DFF-1E4D3748A5D9}" srcOrd="0" destOrd="0" presId="urn:microsoft.com/office/officeart/2018/2/layout/IconVerticalSolidList"/>
    <dgm:cxn modelId="{82239140-D8FE-4413-BC82-1147C3CD11CE}" type="presOf" srcId="{9C9D5431-0050-41E2-986B-9A9747687FCC}" destId="{B9A1E6A8-3160-487F-B1D4-099B049D0E80}" srcOrd="0" destOrd="0" presId="urn:microsoft.com/office/officeart/2018/2/layout/IconVerticalSolidList"/>
    <dgm:cxn modelId="{50F70883-6A8D-4681-9C2D-FFFF1799CC58}" srcId="{9C9D5431-0050-41E2-986B-9A9747687FCC}" destId="{5D368833-4F91-445D-BD9D-59CD2BD32F67}" srcOrd="0" destOrd="0" parTransId="{024F7FDE-EFB0-4F5A-87AF-052EE29EC2D6}" sibTransId="{B5BC97DC-1A5F-4185-8827-05EDAF98303A}"/>
    <dgm:cxn modelId="{33DFB494-4DDD-4930-95C8-F85466E1F15A}" srcId="{9C9D5431-0050-41E2-986B-9A9747687FCC}" destId="{1ACE4C9A-7A04-49D4-AF3C-BA3052AC865D}" srcOrd="1" destOrd="0" parTransId="{F851AC68-4E53-4219-AA00-FBAB772FE603}" sibTransId="{B3B2B7B6-FA26-494C-ACA9-0F610EF07802}"/>
    <dgm:cxn modelId="{D62377F4-0DD6-4074-BB7D-6AE0CB7D88F8}" type="presOf" srcId="{5D368833-4F91-445D-BD9D-59CD2BD32F67}" destId="{8CC4D98B-5CEB-4584-B83C-2917BC8DD7F9}" srcOrd="0" destOrd="0" presId="urn:microsoft.com/office/officeart/2018/2/layout/IconVerticalSolidList"/>
    <dgm:cxn modelId="{0430FC85-8D3E-4006-8587-7075E8681E77}" type="presParOf" srcId="{B9A1E6A8-3160-487F-B1D4-099B049D0E80}" destId="{4E3E286A-6243-4C92-9C73-58AB6481B407}" srcOrd="0" destOrd="0" presId="urn:microsoft.com/office/officeart/2018/2/layout/IconVerticalSolidList"/>
    <dgm:cxn modelId="{35F5378D-22FF-4018-8E62-66B6283FB76B}" type="presParOf" srcId="{4E3E286A-6243-4C92-9C73-58AB6481B407}" destId="{6A4EC829-6044-4C87-BDEC-9F6DFA04F9B2}" srcOrd="0" destOrd="0" presId="urn:microsoft.com/office/officeart/2018/2/layout/IconVerticalSolidList"/>
    <dgm:cxn modelId="{97126615-ADF3-44A6-BA52-A9699FD30907}" type="presParOf" srcId="{4E3E286A-6243-4C92-9C73-58AB6481B407}" destId="{310C7182-5172-4597-8F04-E1B1B67E41A2}" srcOrd="1" destOrd="0" presId="urn:microsoft.com/office/officeart/2018/2/layout/IconVerticalSolidList"/>
    <dgm:cxn modelId="{D2097A5D-C44D-41AA-A2BD-33F19885C562}" type="presParOf" srcId="{4E3E286A-6243-4C92-9C73-58AB6481B407}" destId="{53713A6F-E54E-435F-B2A6-5ACFB2EED851}" srcOrd="2" destOrd="0" presId="urn:microsoft.com/office/officeart/2018/2/layout/IconVerticalSolidList"/>
    <dgm:cxn modelId="{703D98FF-2FAE-4894-8ACB-4B50218F4351}" type="presParOf" srcId="{4E3E286A-6243-4C92-9C73-58AB6481B407}" destId="{8CC4D98B-5CEB-4584-B83C-2917BC8DD7F9}" srcOrd="3" destOrd="0" presId="urn:microsoft.com/office/officeart/2018/2/layout/IconVerticalSolidList"/>
    <dgm:cxn modelId="{4904E0EB-8684-4476-9A84-06BBC4791839}" type="presParOf" srcId="{B9A1E6A8-3160-487F-B1D4-099B049D0E80}" destId="{A0ACF03E-88CE-40FB-B7C8-16A35151400D}" srcOrd="1" destOrd="0" presId="urn:microsoft.com/office/officeart/2018/2/layout/IconVerticalSolidList"/>
    <dgm:cxn modelId="{15994B56-4892-4444-AFBE-74B2F84C43F4}" type="presParOf" srcId="{B9A1E6A8-3160-487F-B1D4-099B049D0E80}" destId="{42E8FD77-5E1A-472C-91AC-443CF21AA438}" srcOrd="2" destOrd="0" presId="urn:microsoft.com/office/officeart/2018/2/layout/IconVerticalSolidList"/>
    <dgm:cxn modelId="{DC2F2E58-536A-420F-B96E-6CE96C87D661}" type="presParOf" srcId="{42E8FD77-5E1A-472C-91AC-443CF21AA438}" destId="{9F6F8537-8287-4D81-8E3C-C05976E7DA67}" srcOrd="0" destOrd="0" presId="urn:microsoft.com/office/officeart/2018/2/layout/IconVerticalSolidList"/>
    <dgm:cxn modelId="{1FED1FAE-7AA0-4873-AC5E-3E9157382EEB}" type="presParOf" srcId="{42E8FD77-5E1A-472C-91AC-443CF21AA438}" destId="{2AC873B0-4CCB-410B-B160-B7181DB70E3C}" srcOrd="1" destOrd="0" presId="urn:microsoft.com/office/officeart/2018/2/layout/IconVerticalSolidList"/>
    <dgm:cxn modelId="{5984816D-103E-40B9-8CB5-FDFD900F904A}" type="presParOf" srcId="{42E8FD77-5E1A-472C-91AC-443CF21AA438}" destId="{7638480F-C0B9-4C3A-B1C0-36A70BB79563}" srcOrd="2" destOrd="0" presId="urn:microsoft.com/office/officeart/2018/2/layout/IconVerticalSolidList"/>
    <dgm:cxn modelId="{85BF3E5A-9D32-4622-855A-E5AA19833F4D}" type="presParOf" srcId="{42E8FD77-5E1A-472C-91AC-443CF21AA438}" destId="{01DBE73B-AF54-45E9-8DFF-1E4D3748A5D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FE515B44-A562-4C7C-889D-75C03A3D2C77}"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5F60F62E-E5F3-4D86-AC85-2F65BBF18C14}">
      <dgm:prSet/>
      <dgm:spPr/>
      <dgm:t>
        <a:bodyPr/>
        <a:lstStyle/>
        <a:p>
          <a:r>
            <a:rPr lang="en-GB" b="1" i="0"/>
            <a:t>Definition</a:t>
          </a:r>
          <a:r>
            <a:rPr lang="en-GB" b="0" i="0"/>
            <a:t>: Multivariate time series data involves multiple variables that are observed or measured simultaneously at different time intervals. This type of data provides a more comprehensive view of the relationships and interactions between multiple variables over time.</a:t>
          </a:r>
          <a:endParaRPr lang="en-US"/>
        </a:p>
      </dgm:t>
    </dgm:pt>
    <dgm:pt modelId="{1D4F9355-EA22-4441-8B92-917889B2B1B0}" type="parTrans" cxnId="{4420CB10-7BDB-4E13-8294-BACFC3296435}">
      <dgm:prSet/>
      <dgm:spPr/>
      <dgm:t>
        <a:bodyPr/>
        <a:lstStyle/>
        <a:p>
          <a:endParaRPr lang="en-US"/>
        </a:p>
      </dgm:t>
    </dgm:pt>
    <dgm:pt modelId="{5241012F-1C68-4426-8E6D-B26266643173}" type="sibTrans" cxnId="{4420CB10-7BDB-4E13-8294-BACFC3296435}">
      <dgm:prSet/>
      <dgm:spPr/>
      <dgm:t>
        <a:bodyPr/>
        <a:lstStyle/>
        <a:p>
          <a:endParaRPr lang="en-US"/>
        </a:p>
      </dgm:t>
    </dgm:pt>
    <dgm:pt modelId="{A4AA16DC-8AF2-44F6-B561-19DB1FEF7B79}">
      <dgm:prSet/>
      <dgm:spPr/>
      <dgm:t>
        <a:bodyPr/>
        <a:lstStyle/>
        <a:p>
          <a:r>
            <a:rPr lang="en-GB" b="1" i="0"/>
            <a:t>Examples</a:t>
          </a:r>
          <a:r>
            <a:rPr lang="en-GB" b="0" i="0"/>
            <a:t>: Multivariate time series data is commonly used in various domains. For instance, in the field of finance, multivariate data could include historical stock prices for several companies within the same industry, along with other economic indicators like interest rates and inflation rates. In environmental science, it might encompass temperature, humidity, and air quality measurements over time.</a:t>
          </a:r>
          <a:endParaRPr lang="en-US"/>
        </a:p>
      </dgm:t>
    </dgm:pt>
    <dgm:pt modelId="{1BA886D9-935A-489E-A1CF-4093577EC636}" type="parTrans" cxnId="{37F7F13E-6F54-4EA4-98CB-29C619261658}">
      <dgm:prSet/>
      <dgm:spPr/>
      <dgm:t>
        <a:bodyPr/>
        <a:lstStyle/>
        <a:p>
          <a:endParaRPr lang="en-US"/>
        </a:p>
      </dgm:t>
    </dgm:pt>
    <dgm:pt modelId="{739A7BFB-DBDE-481F-A66E-46A0029AAB54}" type="sibTrans" cxnId="{37F7F13E-6F54-4EA4-98CB-29C619261658}">
      <dgm:prSet/>
      <dgm:spPr/>
      <dgm:t>
        <a:bodyPr/>
        <a:lstStyle/>
        <a:p>
          <a:endParaRPr lang="en-US"/>
        </a:p>
      </dgm:t>
    </dgm:pt>
    <dgm:pt modelId="{7F48ED66-24CC-4443-B992-85C71B57F5FE}" type="pres">
      <dgm:prSet presAssocID="{FE515B44-A562-4C7C-889D-75C03A3D2C77}" presName="linear" presStyleCnt="0">
        <dgm:presLayoutVars>
          <dgm:animLvl val="lvl"/>
          <dgm:resizeHandles val="exact"/>
        </dgm:presLayoutVars>
      </dgm:prSet>
      <dgm:spPr/>
    </dgm:pt>
    <dgm:pt modelId="{0C39E3BD-5A67-46B9-9F6E-0CF994230EE5}" type="pres">
      <dgm:prSet presAssocID="{5F60F62E-E5F3-4D86-AC85-2F65BBF18C14}" presName="parentText" presStyleLbl="node1" presStyleIdx="0" presStyleCnt="2">
        <dgm:presLayoutVars>
          <dgm:chMax val="0"/>
          <dgm:bulletEnabled val="1"/>
        </dgm:presLayoutVars>
      </dgm:prSet>
      <dgm:spPr/>
    </dgm:pt>
    <dgm:pt modelId="{DAD00420-D605-4A13-8382-47FB2A4AF291}" type="pres">
      <dgm:prSet presAssocID="{5241012F-1C68-4426-8E6D-B26266643173}" presName="spacer" presStyleCnt="0"/>
      <dgm:spPr/>
    </dgm:pt>
    <dgm:pt modelId="{C1F41EAC-0880-4CBF-B963-4720EB711B8F}" type="pres">
      <dgm:prSet presAssocID="{A4AA16DC-8AF2-44F6-B561-19DB1FEF7B79}" presName="parentText" presStyleLbl="node1" presStyleIdx="1" presStyleCnt="2">
        <dgm:presLayoutVars>
          <dgm:chMax val="0"/>
          <dgm:bulletEnabled val="1"/>
        </dgm:presLayoutVars>
      </dgm:prSet>
      <dgm:spPr/>
    </dgm:pt>
  </dgm:ptLst>
  <dgm:cxnLst>
    <dgm:cxn modelId="{4420CB10-7BDB-4E13-8294-BACFC3296435}" srcId="{FE515B44-A562-4C7C-889D-75C03A3D2C77}" destId="{5F60F62E-E5F3-4D86-AC85-2F65BBF18C14}" srcOrd="0" destOrd="0" parTransId="{1D4F9355-EA22-4441-8B92-917889B2B1B0}" sibTransId="{5241012F-1C68-4426-8E6D-B26266643173}"/>
    <dgm:cxn modelId="{F6B36E3C-603E-4D92-8F5B-30EB6698A744}" type="presOf" srcId="{FE515B44-A562-4C7C-889D-75C03A3D2C77}" destId="{7F48ED66-24CC-4443-B992-85C71B57F5FE}" srcOrd="0" destOrd="0" presId="urn:microsoft.com/office/officeart/2005/8/layout/vList2"/>
    <dgm:cxn modelId="{37F7F13E-6F54-4EA4-98CB-29C619261658}" srcId="{FE515B44-A562-4C7C-889D-75C03A3D2C77}" destId="{A4AA16DC-8AF2-44F6-B561-19DB1FEF7B79}" srcOrd="1" destOrd="0" parTransId="{1BA886D9-935A-489E-A1CF-4093577EC636}" sibTransId="{739A7BFB-DBDE-481F-A66E-46A0029AAB54}"/>
    <dgm:cxn modelId="{BCE7955B-85DA-4BE3-9DB2-376591E059FD}" type="presOf" srcId="{5F60F62E-E5F3-4D86-AC85-2F65BBF18C14}" destId="{0C39E3BD-5A67-46B9-9F6E-0CF994230EE5}" srcOrd="0" destOrd="0" presId="urn:microsoft.com/office/officeart/2005/8/layout/vList2"/>
    <dgm:cxn modelId="{A3E36CC6-FA77-43D9-B1DC-3633D9A78F41}" type="presOf" srcId="{A4AA16DC-8AF2-44F6-B561-19DB1FEF7B79}" destId="{C1F41EAC-0880-4CBF-B963-4720EB711B8F}" srcOrd="0" destOrd="0" presId="urn:microsoft.com/office/officeart/2005/8/layout/vList2"/>
    <dgm:cxn modelId="{C52D69C0-9C58-4E24-BA53-AE91FCB3C329}" type="presParOf" srcId="{7F48ED66-24CC-4443-B992-85C71B57F5FE}" destId="{0C39E3BD-5A67-46B9-9F6E-0CF994230EE5}" srcOrd="0" destOrd="0" presId="urn:microsoft.com/office/officeart/2005/8/layout/vList2"/>
    <dgm:cxn modelId="{892B21D7-F2C5-4BCF-A43B-0103D09F4040}" type="presParOf" srcId="{7F48ED66-24CC-4443-B992-85C71B57F5FE}" destId="{DAD00420-D605-4A13-8382-47FB2A4AF291}" srcOrd="1" destOrd="0" presId="urn:microsoft.com/office/officeart/2005/8/layout/vList2"/>
    <dgm:cxn modelId="{D481CD4D-1B25-4059-8CF9-AB12AA222538}" type="presParOf" srcId="{7F48ED66-24CC-4443-B992-85C71B57F5FE}" destId="{C1F41EAC-0880-4CBF-B963-4720EB711B8F}"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8662E464-D106-4A25-B5F4-73AD7CE3ED8C}"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3C0D8CF0-79E8-4EDC-A776-95EAACFE0358}">
      <dgm:prSet/>
      <dgm:spPr/>
      <dgm:t>
        <a:bodyPr/>
        <a:lstStyle/>
        <a:p>
          <a:r>
            <a:rPr lang="en-GB" b="1" i="0"/>
            <a:t>Seasonal Component</a:t>
          </a:r>
          <a:r>
            <a:rPr lang="en-GB" b="0" i="0"/>
            <a:t>:</a:t>
          </a:r>
          <a:endParaRPr lang="en-US"/>
        </a:p>
      </dgm:t>
    </dgm:pt>
    <dgm:pt modelId="{2AF77AC9-64FD-41D0-AA98-6AA0F012FD46}" type="parTrans" cxnId="{336D0E0C-C8D4-4D22-8C06-D522F85BCCE7}">
      <dgm:prSet/>
      <dgm:spPr/>
      <dgm:t>
        <a:bodyPr/>
        <a:lstStyle/>
        <a:p>
          <a:endParaRPr lang="en-US"/>
        </a:p>
      </dgm:t>
    </dgm:pt>
    <dgm:pt modelId="{A2379390-E528-4D31-BADC-B8F60D79EED7}" type="sibTrans" cxnId="{336D0E0C-C8D4-4D22-8C06-D522F85BCCE7}">
      <dgm:prSet/>
      <dgm:spPr/>
      <dgm:t>
        <a:bodyPr/>
        <a:lstStyle/>
        <a:p>
          <a:endParaRPr lang="en-US"/>
        </a:p>
      </dgm:t>
    </dgm:pt>
    <dgm:pt modelId="{78D3A92E-F97C-412A-9A0E-48CD023DBCE5}">
      <dgm:prSet/>
      <dgm:spPr/>
      <dgm:t>
        <a:bodyPr/>
        <a:lstStyle/>
        <a:p>
          <a:r>
            <a:rPr lang="en-GB" b="0" i="0"/>
            <a:t>The seasonal component reflects the systematic, periodic fluctuations in the data that occur at consistent intervals. These intervals can be daily, weekly, monthly, quarterly, or annually, depending on the nature of the data.</a:t>
          </a:r>
          <a:endParaRPr lang="en-US"/>
        </a:p>
      </dgm:t>
    </dgm:pt>
    <dgm:pt modelId="{38ADF69C-4695-41DC-A4F1-AB48149240D1}" type="parTrans" cxnId="{EB24F02E-6795-4533-97AD-999AEE4D1C15}">
      <dgm:prSet/>
      <dgm:spPr/>
      <dgm:t>
        <a:bodyPr/>
        <a:lstStyle/>
        <a:p>
          <a:endParaRPr lang="en-US"/>
        </a:p>
      </dgm:t>
    </dgm:pt>
    <dgm:pt modelId="{9AE66E48-BF33-42A3-8E3B-B794BCD5904F}" type="sibTrans" cxnId="{EB24F02E-6795-4533-97AD-999AEE4D1C15}">
      <dgm:prSet/>
      <dgm:spPr/>
      <dgm:t>
        <a:bodyPr/>
        <a:lstStyle/>
        <a:p>
          <a:endParaRPr lang="en-US"/>
        </a:p>
      </dgm:t>
    </dgm:pt>
    <dgm:pt modelId="{18791647-20FC-4E88-8C25-52F4B10076A4}">
      <dgm:prSet/>
      <dgm:spPr/>
      <dgm:t>
        <a:bodyPr/>
        <a:lstStyle/>
        <a:p>
          <a:r>
            <a:rPr lang="en-GB" b="0" i="0"/>
            <a:t>Seasonal patterns often result from external factors like weather, holidays, or economic cycles. They can have a significant impact on the data's behaviour, particularly in fields like retail, agriculture, and tourism.</a:t>
          </a:r>
          <a:endParaRPr lang="en-US"/>
        </a:p>
      </dgm:t>
    </dgm:pt>
    <dgm:pt modelId="{14D6C6F0-9708-4F19-9F81-DA17A88852BD}" type="parTrans" cxnId="{C1E00EB6-4414-4E66-8D2E-99D8C1043455}">
      <dgm:prSet/>
      <dgm:spPr/>
      <dgm:t>
        <a:bodyPr/>
        <a:lstStyle/>
        <a:p>
          <a:endParaRPr lang="en-US"/>
        </a:p>
      </dgm:t>
    </dgm:pt>
    <dgm:pt modelId="{A12795DD-C69F-48DF-8C5B-937B6442389D}" type="sibTrans" cxnId="{C1E00EB6-4414-4E66-8D2E-99D8C1043455}">
      <dgm:prSet/>
      <dgm:spPr/>
      <dgm:t>
        <a:bodyPr/>
        <a:lstStyle/>
        <a:p>
          <a:endParaRPr lang="en-US"/>
        </a:p>
      </dgm:t>
    </dgm:pt>
    <dgm:pt modelId="{47D28A31-0411-4EF3-B553-F812C41B0838}">
      <dgm:prSet/>
      <dgm:spPr/>
      <dgm:t>
        <a:bodyPr/>
        <a:lstStyle/>
        <a:p>
          <a:r>
            <a:rPr lang="en-GB" b="0" i="0"/>
            <a:t>Detecting and understanding the seasonal component is crucial for adjusting data and making predictions that account for these recurrent patterns.</a:t>
          </a:r>
          <a:endParaRPr lang="en-US"/>
        </a:p>
      </dgm:t>
    </dgm:pt>
    <dgm:pt modelId="{0145B0F4-C0DE-4622-874E-8C8D030A5BA4}" type="parTrans" cxnId="{960C9C66-B1B1-4553-9B8D-16C53491830C}">
      <dgm:prSet/>
      <dgm:spPr/>
      <dgm:t>
        <a:bodyPr/>
        <a:lstStyle/>
        <a:p>
          <a:endParaRPr lang="en-US"/>
        </a:p>
      </dgm:t>
    </dgm:pt>
    <dgm:pt modelId="{73BBD9A7-0E16-4F57-9CA1-6A790A22196B}" type="sibTrans" cxnId="{960C9C66-B1B1-4553-9B8D-16C53491830C}">
      <dgm:prSet/>
      <dgm:spPr/>
      <dgm:t>
        <a:bodyPr/>
        <a:lstStyle/>
        <a:p>
          <a:endParaRPr lang="en-US"/>
        </a:p>
      </dgm:t>
    </dgm:pt>
    <dgm:pt modelId="{E4FA5037-0CCB-4087-A235-DCAE75A233C1}" type="pres">
      <dgm:prSet presAssocID="{8662E464-D106-4A25-B5F4-73AD7CE3ED8C}" presName="linear" presStyleCnt="0">
        <dgm:presLayoutVars>
          <dgm:animLvl val="lvl"/>
          <dgm:resizeHandles val="exact"/>
        </dgm:presLayoutVars>
      </dgm:prSet>
      <dgm:spPr/>
    </dgm:pt>
    <dgm:pt modelId="{997761A5-0CD7-4B60-8676-F977F4C02D75}" type="pres">
      <dgm:prSet presAssocID="{3C0D8CF0-79E8-4EDC-A776-95EAACFE0358}" presName="parentText" presStyleLbl="node1" presStyleIdx="0" presStyleCnt="4">
        <dgm:presLayoutVars>
          <dgm:chMax val="0"/>
          <dgm:bulletEnabled val="1"/>
        </dgm:presLayoutVars>
      </dgm:prSet>
      <dgm:spPr/>
    </dgm:pt>
    <dgm:pt modelId="{48E8FBC8-9BA9-41C8-B24F-64F654233363}" type="pres">
      <dgm:prSet presAssocID="{A2379390-E528-4D31-BADC-B8F60D79EED7}" presName="spacer" presStyleCnt="0"/>
      <dgm:spPr/>
    </dgm:pt>
    <dgm:pt modelId="{D741331B-4C30-4A6F-9F69-D7F87E563A2A}" type="pres">
      <dgm:prSet presAssocID="{78D3A92E-F97C-412A-9A0E-48CD023DBCE5}" presName="parentText" presStyleLbl="node1" presStyleIdx="1" presStyleCnt="4">
        <dgm:presLayoutVars>
          <dgm:chMax val="0"/>
          <dgm:bulletEnabled val="1"/>
        </dgm:presLayoutVars>
      </dgm:prSet>
      <dgm:spPr/>
    </dgm:pt>
    <dgm:pt modelId="{1BE77A91-2179-4327-833D-1E342FE78ECC}" type="pres">
      <dgm:prSet presAssocID="{9AE66E48-BF33-42A3-8E3B-B794BCD5904F}" presName="spacer" presStyleCnt="0"/>
      <dgm:spPr/>
    </dgm:pt>
    <dgm:pt modelId="{25471049-310E-4C1A-969D-C86FC749F706}" type="pres">
      <dgm:prSet presAssocID="{18791647-20FC-4E88-8C25-52F4B10076A4}" presName="parentText" presStyleLbl="node1" presStyleIdx="2" presStyleCnt="4">
        <dgm:presLayoutVars>
          <dgm:chMax val="0"/>
          <dgm:bulletEnabled val="1"/>
        </dgm:presLayoutVars>
      </dgm:prSet>
      <dgm:spPr/>
    </dgm:pt>
    <dgm:pt modelId="{F96E873C-4A74-4848-87E8-04E365B34DFD}" type="pres">
      <dgm:prSet presAssocID="{A12795DD-C69F-48DF-8C5B-937B6442389D}" presName="spacer" presStyleCnt="0"/>
      <dgm:spPr/>
    </dgm:pt>
    <dgm:pt modelId="{E57BF5EC-F45E-4042-B4CF-2F29E0B16C21}" type="pres">
      <dgm:prSet presAssocID="{47D28A31-0411-4EF3-B553-F812C41B0838}" presName="parentText" presStyleLbl="node1" presStyleIdx="3" presStyleCnt="4">
        <dgm:presLayoutVars>
          <dgm:chMax val="0"/>
          <dgm:bulletEnabled val="1"/>
        </dgm:presLayoutVars>
      </dgm:prSet>
      <dgm:spPr/>
    </dgm:pt>
  </dgm:ptLst>
  <dgm:cxnLst>
    <dgm:cxn modelId="{336D0E0C-C8D4-4D22-8C06-D522F85BCCE7}" srcId="{8662E464-D106-4A25-B5F4-73AD7CE3ED8C}" destId="{3C0D8CF0-79E8-4EDC-A776-95EAACFE0358}" srcOrd="0" destOrd="0" parTransId="{2AF77AC9-64FD-41D0-AA98-6AA0F012FD46}" sibTransId="{A2379390-E528-4D31-BADC-B8F60D79EED7}"/>
    <dgm:cxn modelId="{EB24F02E-6795-4533-97AD-999AEE4D1C15}" srcId="{8662E464-D106-4A25-B5F4-73AD7CE3ED8C}" destId="{78D3A92E-F97C-412A-9A0E-48CD023DBCE5}" srcOrd="1" destOrd="0" parTransId="{38ADF69C-4695-41DC-A4F1-AB48149240D1}" sibTransId="{9AE66E48-BF33-42A3-8E3B-B794BCD5904F}"/>
    <dgm:cxn modelId="{3BE89F3D-08FE-40E1-9D3F-DE13B9E7A7AB}" type="presOf" srcId="{78D3A92E-F97C-412A-9A0E-48CD023DBCE5}" destId="{D741331B-4C30-4A6F-9F69-D7F87E563A2A}" srcOrd="0" destOrd="0" presId="urn:microsoft.com/office/officeart/2005/8/layout/vList2"/>
    <dgm:cxn modelId="{960C9C66-B1B1-4553-9B8D-16C53491830C}" srcId="{8662E464-D106-4A25-B5F4-73AD7CE3ED8C}" destId="{47D28A31-0411-4EF3-B553-F812C41B0838}" srcOrd="3" destOrd="0" parTransId="{0145B0F4-C0DE-4622-874E-8C8D030A5BA4}" sibTransId="{73BBD9A7-0E16-4F57-9CA1-6A790A22196B}"/>
    <dgm:cxn modelId="{DDD9324F-56B4-401E-968D-DD742EE5FF38}" type="presOf" srcId="{18791647-20FC-4E88-8C25-52F4B10076A4}" destId="{25471049-310E-4C1A-969D-C86FC749F706}" srcOrd="0" destOrd="0" presId="urn:microsoft.com/office/officeart/2005/8/layout/vList2"/>
    <dgm:cxn modelId="{27E1EF53-7596-435A-8175-FBD1645BFC72}" type="presOf" srcId="{47D28A31-0411-4EF3-B553-F812C41B0838}" destId="{E57BF5EC-F45E-4042-B4CF-2F29E0B16C21}" srcOrd="0" destOrd="0" presId="urn:microsoft.com/office/officeart/2005/8/layout/vList2"/>
    <dgm:cxn modelId="{E776975A-B0C6-47BC-8D78-CC6C0DCFFCB7}" type="presOf" srcId="{8662E464-D106-4A25-B5F4-73AD7CE3ED8C}" destId="{E4FA5037-0CCB-4087-A235-DCAE75A233C1}" srcOrd="0" destOrd="0" presId="urn:microsoft.com/office/officeart/2005/8/layout/vList2"/>
    <dgm:cxn modelId="{C1E00EB6-4414-4E66-8D2E-99D8C1043455}" srcId="{8662E464-D106-4A25-B5F4-73AD7CE3ED8C}" destId="{18791647-20FC-4E88-8C25-52F4B10076A4}" srcOrd="2" destOrd="0" parTransId="{14D6C6F0-9708-4F19-9F81-DA17A88852BD}" sibTransId="{A12795DD-C69F-48DF-8C5B-937B6442389D}"/>
    <dgm:cxn modelId="{FECC0ED9-6CF7-464B-9D21-135702572744}" type="presOf" srcId="{3C0D8CF0-79E8-4EDC-A776-95EAACFE0358}" destId="{997761A5-0CD7-4B60-8676-F977F4C02D75}" srcOrd="0" destOrd="0" presId="urn:microsoft.com/office/officeart/2005/8/layout/vList2"/>
    <dgm:cxn modelId="{CA5C5CB4-9D19-44E5-864C-B5B65075C41C}" type="presParOf" srcId="{E4FA5037-0CCB-4087-A235-DCAE75A233C1}" destId="{997761A5-0CD7-4B60-8676-F977F4C02D75}" srcOrd="0" destOrd="0" presId="urn:microsoft.com/office/officeart/2005/8/layout/vList2"/>
    <dgm:cxn modelId="{575E14F5-D1D0-4FCB-A5B8-12DAC607DD99}" type="presParOf" srcId="{E4FA5037-0CCB-4087-A235-DCAE75A233C1}" destId="{48E8FBC8-9BA9-41C8-B24F-64F654233363}" srcOrd="1" destOrd="0" presId="urn:microsoft.com/office/officeart/2005/8/layout/vList2"/>
    <dgm:cxn modelId="{EFA2088B-7F9E-4CCA-AF69-D4A583838967}" type="presParOf" srcId="{E4FA5037-0CCB-4087-A235-DCAE75A233C1}" destId="{D741331B-4C30-4A6F-9F69-D7F87E563A2A}" srcOrd="2" destOrd="0" presId="urn:microsoft.com/office/officeart/2005/8/layout/vList2"/>
    <dgm:cxn modelId="{26DD5947-E110-44AF-8B53-799F7D9C6852}" type="presParOf" srcId="{E4FA5037-0CCB-4087-A235-DCAE75A233C1}" destId="{1BE77A91-2179-4327-833D-1E342FE78ECC}" srcOrd="3" destOrd="0" presId="urn:microsoft.com/office/officeart/2005/8/layout/vList2"/>
    <dgm:cxn modelId="{FFFB07DF-E7D9-4CE4-A67C-819E61BAE2AD}" type="presParOf" srcId="{E4FA5037-0CCB-4087-A235-DCAE75A233C1}" destId="{25471049-310E-4C1A-969D-C86FC749F706}" srcOrd="4" destOrd="0" presId="urn:microsoft.com/office/officeart/2005/8/layout/vList2"/>
    <dgm:cxn modelId="{E47E9553-E3FD-423D-88F4-35EAB9CFCCA7}" type="presParOf" srcId="{E4FA5037-0CCB-4087-A235-DCAE75A233C1}" destId="{F96E873C-4A74-4848-87E8-04E365B34DFD}" srcOrd="5" destOrd="0" presId="urn:microsoft.com/office/officeart/2005/8/layout/vList2"/>
    <dgm:cxn modelId="{DF94C5EF-6B21-4638-A152-1EE79C8C650B}" type="presParOf" srcId="{E4FA5037-0CCB-4087-A235-DCAE75A233C1}" destId="{E57BF5EC-F45E-4042-B4CF-2F29E0B16C21}"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E147EE30-F781-4F60-A3EF-3025DD017A79}"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D2309417-954A-41AD-8F57-0CE518DCDD68}">
      <dgm:prSet/>
      <dgm:spPr/>
      <dgm:t>
        <a:bodyPr/>
        <a:lstStyle/>
        <a:p>
          <a:r>
            <a:rPr lang="en-GB" b="1" i="0"/>
            <a:t>Cyclical Component</a:t>
          </a:r>
          <a:r>
            <a:rPr lang="en-GB" b="0" i="0"/>
            <a:t>:</a:t>
          </a:r>
          <a:endParaRPr lang="en-US"/>
        </a:p>
      </dgm:t>
    </dgm:pt>
    <dgm:pt modelId="{53C468E6-C8D3-4475-9D78-ADC4A24142E0}" type="parTrans" cxnId="{3B0F9EDA-4BC9-432B-B95F-4C309D17BC13}">
      <dgm:prSet/>
      <dgm:spPr/>
      <dgm:t>
        <a:bodyPr/>
        <a:lstStyle/>
        <a:p>
          <a:endParaRPr lang="en-US"/>
        </a:p>
      </dgm:t>
    </dgm:pt>
    <dgm:pt modelId="{68BD3537-A677-46F7-B673-0D4450B8FFAF}" type="sibTrans" cxnId="{3B0F9EDA-4BC9-432B-B95F-4C309D17BC13}">
      <dgm:prSet/>
      <dgm:spPr/>
      <dgm:t>
        <a:bodyPr/>
        <a:lstStyle/>
        <a:p>
          <a:endParaRPr lang="en-US"/>
        </a:p>
      </dgm:t>
    </dgm:pt>
    <dgm:pt modelId="{CB4A928C-6522-46C6-A817-3AA8C9E6D5C8}">
      <dgm:prSet/>
      <dgm:spPr/>
      <dgm:t>
        <a:bodyPr/>
        <a:lstStyle/>
        <a:p>
          <a:r>
            <a:rPr lang="en-GB" b="0" i="0"/>
            <a:t>The cyclical component captures longer-term periodic behaviour that is not as regular as seasonality. These cycles are often associated with economic and business cycles.</a:t>
          </a:r>
          <a:endParaRPr lang="en-US"/>
        </a:p>
      </dgm:t>
    </dgm:pt>
    <dgm:pt modelId="{0D00124A-2D3D-426B-897E-BBBDF8B4E3DE}" type="parTrans" cxnId="{C37A59DE-1B93-49F9-A090-25F3FA6A04C5}">
      <dgm:prSet/>
      <dgm:spPr/>
      <dgm:t>
        <a:bodyPr/>
        <a:lstStyle/>
        <a:p>
          <a:endParaRPr lang="en-US"/>
        </a:p>
      </dgm:t>
    </dgm:pt>
    <dgm:pt modelId="{1C1F40DB-070F-4476-9D66-DA64488D915A}" type="sibTrans" cxnId="{C37A59DE-1B93-49F9-A090-25F3FA6A04C5}">
      <dgm:prSet/>
      <dgm:spPr/>
      <dgm:t>
        <a:bodyPr/>
        <a:lstStyle/>
        <a:p>
          <a:endParaRPr lang="en-US"/>
        </a:p>
      </dgm:t>
    </dgm:pt>
    <dgm:pt modelId="{A7C87C91-9672-4AEF-8399-81D321C5D8E5}">
      <dgm:prSet/>
      <dgm:spPr/>
      <dgm:t>
        <a:bodyPr/>
        <a:lstStyle/>
        <a:p>
          <a:r>
            <a:rPr lang="en-GB" b="0" i="0"/>
            <a:t>Cyclical patterns are more challenging to model than seasonal patterns because they don't have a fixed duration or amplitude. They can last for several years and exhibit variations in intensity.</a:t>
          </a:r>
          <a:endParaRPr lang="en-US"/>
        </a:p>
      </dgm:t>
    </dgm:pt>
    <dgm:pt modelId="{10100926-3BF3-408D-A9FF-E6E8F6B396C2}" type="parTrans" cxnId="{E54AB2D7-0A14-43C3-BF38-94DFB68B4E2E}">
      <dgm:prSet/>
      <dgm:spPr/>
      <dgm:t>
        <a:bodyPr/>
        <a:lstStyle/>
        <a:p>
          <a:endParaRPr lang="en-US"/>
        </a:p>
      </dgm:t>
    </dgm:pt>
    <dgm:pt modelId="{CE724A92-3426-4246-9C70-ECAD5B1ABD63}" type="sibTrans" cxnId="{E54AB2D7-0A14-43C3-BF38-94DFB68B4E2E}">
      <dgm:prSet/>
      <dgm:spPr/>
      <dgm:t>
        <a:bodyPr/>
        <a:lstStyle/>
        <a:p>
          <a:endParaRPr lang="en-US"/>
        </a:p>
      </dgm:t>
    </dgm:pt>
    <dgm:pt modelId="{291DD3E5-1CAA-47A8-B75D-88AF7B6B82B2}">
      <dgm:prSet/>
      <dgm:spPr/>
      <dgm:t>
        <a:bodyPr/>
        <a:lstStyle/>
        <a:p>
          <a:r>
            <a:rPr lang="en-GB" b="0" i="0"/>
            <a:t>Identifying the cyclical component is essential for analysing and forecasting economic and financial data, as well as for planning long-term strategies.</a:t>
          </a:r>
          <a:endParaRPr lang="en-US"/>
        </a:p>
      </dgm:t>
    </dgm:pt>
    <dgm:pt modelId="{E82C0E71-0F11-4653-B745-014DB448BA73}" type="parTrans" cxnId="{F26ABE98-E56F-42CC-8D9E-30D3DC354D8F}">
      <dgm:prSet/>
      <dgm:spPr/>
      <dgm:t>
        <a:bodyPr/>
        <a:lstStyle/>
        <a:p>
          <a:endParaRPr lang="en-US"/>
        </a:p>
      </dgm:t>
    </dgm:pt>
    <dgm:pt modelId="{BC862FB6-9027-44D7-8FA0-4D2B9116D299}" type="sibTrans" cxnId="{F26ABE98-E56F-42CC-8D9E-30D3DC354D8F}">
      <dgm:prSet/>
      <dgm:spPr/>
      <dgm:t>
        <a:bodyPr/>
        <a:lstStyle/>
        <a:p>
          <a:endParaRPr lang="en-US"/>
        </a:p>
      </dgm:t>
    </dgm:pt>
    <dgm:pt modelId="{47B23469-BA8E-4CFC-A602-303EA4D89871}" type="pres">
      <dgm:prSet presAssocID="{E147EE30-F781-4F60-A3EF-3025DD017A79}" presName="linear" presStyleCnt="0">
        <dgm:presLayoutVars>
          <dgm:animLvl val="lvl"/>
          <dgm:resizeHandles val="exact"/>
        </dgm:presLayoutVars>
      </dgm:prSet>
      <dgm:spPr/>
    </dgm:pt>
    <dgm:pt modelId="{F2242A7B-FFAC-4EBA-83F3-0A5B8B27AF97}" type="pres">
      <dgm:prSet presAssocID="{D2309417-954A-41AD-8F57-0CE518DCDD68}" presName="parentText" presStyleLbl="node1" presStyleIdx="0" presStyleCnt="4">
        <dgm:presLayoutVars>
          <dgm:chMax val="0"/>
          <dgm:bulletEnabled val="1"/>
        </dgm:presLayoutVars>
      </dgm:prSet>
      <dgm:spPr/>
    </dgm:pt>
    <dgm:pt modelId="{2C5A5EDD-8116-46DE-8AF5-2E0EC5790FD2}" type="pres">
      <dgm:prSet presAssocID="{68BD3537-A677-46F7-B673-0D4450B8FFAF}" presName="spacer" presStyleCnt="0"/>
      <dgm:spPr/>
    </dgm:pt>
    <dgm:pt modelId="{47F6BA31-281C-40A7-ACB0-6C836A6356E8}" type="pres">
      <dgm:prSet presAssocID="{CB4A928C-6522-46C6-A817-3AA8C9E6D5C8}" presName="parentText" presStyleLbl="node1" presStyleIdx="1" presStyleCnt="4">
        <dgm:presLayoutVars>
          <dgm:chMax val="0"/>
          <dgm:bulletEnabled val="1"/>
        </dgm:presLayoutVars>
      </dgm:prSet>
      <dgm:spPr/>
    </dgm:pt>
    <dgm:pt modelId="{C1C8A6C2-9319-491B-9576-FBA024C4EF37}" type="pres">
      <dgm:prSet presAssocID="{1C1F40DB-070F-4476-9D66-DA64488D915A}" presName="spacer" presStyleCnt="0"/>
      <dgm:spPr/>
    </dgm:pt>
    <dgm:pt modelId="{E80A7615-4094-4138-8604-226FF0607939}" type="pres">
      <dgm:prSet presAssocID="{A7C87C91-9672-4AEF-8399-81D321C5D8E5}" presName="parentText" presStyleLbl="node1" presStyleIdx="2" presStyleCnt="4">
        <dgm:presLayoutVars>
          <dgm:chMax val="0"/>
          <dgm:bulletEnabled val="1"/>
        </dgm:presLayoutVars>
      </dgm:prSet>
      <dgm:spPr/>
    </dgm:pt>
    <dgm:pt modelId="{BFB7ABDD-AAC0-4D4A-8231-2E03F224E49E}" type="pres">
      <dgm:prSet presAssocID="{CE724A92-3426-4246-9C70-ECAD5B1ABD63}" presName="spacer" presStyleCnt="0"/>
      <dgm:spPr/>
    </dgm:pt>
    <dgm:pt modelId="{8F8725A8-0D69-4263-AC4C-C889767DB203}" type="pres">
      <dgm:prSet presAssocID="{291DD3E5-1CAA-47A8-B75D-88AF7B6B82B2}" presName="parentText" presStyleLbl="node1" presStyleIdx="3" presStyleCnt="4">
        <dgm:presLayoutVars>
          <dgm:chMax val="0"/>
          <dgm:bulletEnabled val="1"/>
        </dgm:presLayoutVars>
      </dgm:prSet>
      <dgm:spPr/>
    </dgm:pt>
  </dgm:ptLst>
  <dgm:cxnLst>
    <dgm:cxn modelId="{12904441-CE85-43DD-81AD-E6CEA48EBB5C}" type="presOf" srcId="{E147EE30-F781-4F60-A3EF-3025DD017A79}" destId="{47B23469-BA8E-4CFC-A602-303EA4D89871}" srcOrd="0" destOrd="0" presId="urn:microsoft.com/office/officeart/2005/8/layout/vList2"/>
    <dgm:cxn modelId="{0DD5856A-04FC-45C2-A347-94F7F4EBEBFC}" type="presOf" srcId="{D2309417-954A-41AD-8F57-0CE518DCDD68}" destId="{F2242A7B-FFAC-4EBA-83F3-0A5B8B27AF97}" srcOrd="0" destOrd="0" presId="urn:microsoft.com/office/officeart/2005/8/layout/vList2"/>
    <dgm:cxn modelId="{24CAD994-1E7C-4BDD-972C-1A177B0CA1A2}" type="presOf" srcId="{A7C87C91-9672-4AEF-8399-81D321C5D8E5}" destId="{E80A7615-4094-4138-8604-226FF0607939}" srcOrd="0" destOrd="0" presId="urn:microsoft.com/office/officeart/2005/8/layout/vList2"/>
    <dgm:cxn modelId="{F26ABE98-E56F-42CC-8D9E-30D3DC354D8F}" srcId="{E147EE30-F781-4F60-A3EF-3025DD017A79}" destId="{291DD3E5-1CAA-47A8-B75D-88AF7B6B82B2}" srcOrd="3" destOrd="0" parTransId="{E82C0E71-0F11-4653-B745-014DB448BA73}" sibTransId="{BC862FB6-9027-44D7-8FA0-4D2B9116D299}"/>
    <dgm:cxn modelId="{0AF78FD7-70F6-46A2-93A4-073DFC504066}" type="presOf" srcId="{291DD3E5-1CAA-47A8-B75D-88AF7B6B82B2}" destId="{8F8725A8-0D69-4263-AC4C-C889767DB203}" srcOrd="0" destOrd="0" presId="urn:microsoft.com/office/officeart/2005/8/layout/vList2"/>
    <dgm:cxn modelId="{E54AB2D7-0A14-43C3-BF38-94DFB68B4E2E}" srcId="{E147EE30-F781-4F60-A3EF-3025DD017A79}" destId="{A7C87C91-9672-4AEF-8399-81D321C5D8E5}" srcOrd="2" destOrd="0" parTransId="{10100926-3BF3-408D-A9FF-E6E8F6B396C2}" sibTransId="{CE724A92-3426-4246-9C70-ECAD5B1ABD63}"/>
    <dgm:cxn modelId="{3B0F9EDA-4BC9-432B-B95F-4C309D17BC13}" srcId="{E147EE30-F781-4F60-A3EF-3025DD017A79}" destId="{D2309417-954A-41AD-8F57-0CE518DCDD68}" srcOrd="0" destOrd="0" parTransId="{53C468E6-C8D3-4475-9D78-ADC4A24142E0}" sibTransId="{68BD3537-A677-46F7-B673-0D4450B8FFAF}"/>
    <dgm:cxn modelId="{C37A59DE-1B93-49F9-A090-25F3FA6A04C5}" srcId="{E147EE30-F781-4F60-A3EF-3025DD017A79}" destId="{CB4A928C-6522-46C6-A817-3AA8C9E6D5C8}" srcOrd="1" destOrd="0" parTransId="{0D00124A-2D3D-426B-897E-BBBDF8B4E3DE}" sibTransId="{1C1F40DB-070F-4476-9D66-DA64488D915A}"/>
    <dgm:cxn modelId="{30DAF8F4-28BA-4B17-8FD1-710124871649}" type="presOf" srcId="{CB4A928C-6522-46C6-A817-3AA8C9E6D5C8}" destId="{47F6BA31-281C-40A7-ACB0-6C836A6356E8}" srcOrd="0" destOrd="0" presId="urn:microsoft.com/office/officeart/2005/8/layout/vList2"/>
    <dgm:cxn modelId="{67A0FF5E-6B8B-4F6B-AD20-B66F72F5AADF}" type="presParOf" srcId="{47B23469-BA8E-4CFC-A602-303EA4D89871}" destId="{F2242A7B-FFAC-4EBA-83F3-0A5B8B27AF97}" srcOrd="0" destOrd="0" presId="urn:microsoft.com/office/officeart/2005/8/layout/vList2"/>
    <dgm:cxn modelId="{715B06D5-A0DA-45C6-AFF6-18DF21410567}" type="presParOf" srcId="{47B23469-BA8E-4CFC-A602-303EA4D89871}" destId="{2C5A5EDD-8116-46DE-8AF5-2E0EC5790FD2}" srcOrd="1" destOrd="0" presId="urn:microsoft.com/office/officeart/2005/8/layout/vList2"/>
    <dgm:cxn modelId="{2F825F55-7491-450A-B962-29795A3502D8}" type="presParOf" srcId="{47B23469-BA8E-4CFC-A602-303EA4D89871}" destId="{47F6BA31-281C-40A7-ACB0-6C836A6356E8}" srcOrd="2" destOrd="0" presId="urn:microsoft.com/office/officeart/2005/8/layout/vList2"/>
    <dgm:cxn modelId="{B9F4E9CD-DAA5-4575-B42C-E4DB46A7C3A9}" type="presParOf" srcId="{47B23469-BA8E-4CFC-A602-303EA4D89871}" destId="{C1C8A6C2-9319-491B-9576-FBA024C4EF37}" srcOrd="3" destOrd="0" presId="urn:microsoft.com/office/officeart/2005/8/layout/vList2"/>
    <dgm:cxn modelId="{15F853F4-152A-4956-A2CD-DD8223B49BF7}" type="presParOf" srcId="{47B23469-BA8E-4CFC-A602-303EA4D89871}" destId="{E80A7615-4094-4138-8604-226FF0607939}" srcOrd="4" destOrd="0" presId="urn:microsoft.com/office/officeart/2005/8/layout/vList2"/>
    <dgm:cxn modelId="{11F2A75E-3DB2-4C7F-9E6D-8C4BF25355F8}" type="presParOf" srcId="{47B23469-BA8E-4CFC-A602-303EA4D89871}" destId="{BFB7ABDD-AAC0-4D4A-8231-2E03F224E49E}" srcOrd="5" destOrd="0" presId="urn:microsoft.com/office/officeart/2005/8/layout/vList2"/>
    <dgm:cxn modelId="{58CA77F5-5DA1-45A0-8FD7-3ABF0733436B}" type="presParOf" srcId="{47B23469-BA8E-4CFC-A602-303EA4D89871}" destId="{8F8725A8-0D69-4263-AC4C-C889767DB203}"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7F10F599-726E-45D1-B9C9-04D7D15FE145}"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522D46DE-A659-4672-BA60-91BF6F847D18}">
      <dgm:prSet/>
      <dgm:spPr/>
      <dgm:t>
        <a:bodyPr/>
        <a:lstStyle/>
        <a:p>
          <a:r>
            <a:rPr lang="en-GB" b="1" i="0"/>
            <a:t>Irregular or Residual Component</a:t>
          </a:r>
          <a:r>
            <a:rPr lang="en-GB" b="0" i="0"/>
            <a:t>:</a:t>
          </a:r>
          <a:endParaRPr lang="en-US"/>
        </a:p>
      </dgm:t>
    </dgm:pt>
    <dgm:pt modelId="{57FA34F3-5457-4F8E-A9CC-01A5FA2BAF69}" type="parTrans" cxnId="{8B683773-31A0-4559-8E5D-8DFFF365C5FD}">
      <dgm:prSet/>
      <dgm:spPr/>
      <dgm:t>
        <a:bodyPr/>
        <a:lstStyle/>
        <a:p>
          <a:endParaRPr lang="en-US"/>
        </a:p>
      </dgm:t>
    </dgm:pt>
    <dgm:pt modelId="{935F2042-EBA4-4B3D-B7CB-C42644B1C269}" type="sibTrans" cxnId="{8B683773-31A0-4559-8E5D-8DFFF365C5FD}">
      <dgm:prSet/>
      <dgm:spPr/>
      <dgm:t>
        <a:bodyPr/>
        <a:lstStyle/>
        <a:p>
          <a:endParaRPr lang="en-US"/>
        </a:p>
      </dgm:t>
    </dgm:pt>
    <dgm:pt modelId="{8ABA8AF9-A088-4C30-AB98-48B947D79F49}">
      <dgm:prSet/>
      <dgm:spPr/>
      <dgm:t>
        <a:bodyPr/>
        <a:lstStyle/>
        <a:p>
          <a:r>
            <a:rPr lang="en-GB" b="0" i="0"/>
            <a:t>The irregular or residual component represents the random and unpredictable fluctuations in the data that cannot be attributed to trend, seasonality, or cyclical effects.</a:t>
          </a:r>
          <a:endParaRPr lang="en-US"/>
        </a:p>
      </dgm:t>
    </dgm:pt>
    <dgm:pt modelId="{E57DDFEC-7EEC-43BA-AF2F-EC55EE0396DB}" type="parTrans" cxnId="{000B34DA-FBB0-4A19-9181-26254BE9815B}">
      <dgm:prSet/>
      <dgm:spPr/>
      <dgm:t>
        <a:bodyPr/>
        <a:lstStyle/>
        <a:p>
          <a:endParaRPr lang="en-US"/>
        </a:p>
      </dgm:t>
    </dgm:pt>
    <dgm:pt modelId="{0932CBEB-037A-46A3-B95E-0A3F65BF7EA4}" type="sibTrans" cxnId="{000B34DA-FBB0-4A19-9181-26254BE9815B}">
      <dgm:prSet/>
      <dgm:spPr/>
      <dgm:t>
        <a:bodyPr/>
        <a:lstStyle/>
        <a:p>
          <a:endParaRPr lang="en-US"/>
        </a:p>
      </dgm:t>
    </dgm:pt>
    <dgm:pt modelId="{EBC9CDE3-6C9A-4617-8E17-AB592359989D}">
      <dgm:prSet/>
      <dgm:spPr/>
      <dgm:t>
        <a:bodyPr/>
        <a:lstStyle/>
        <a:p>
          <a:r>
            <a:rPr lang="en-GB" b="0" i="0"/>
            <a:t>These irregularities can result from various factors, including short-term disturbances, measurement errors, or unexpected events.</a:t>
          </a:r>
          <a:endParaRPr lang="en-US"/>
        </a:p>
      </dgm:t>
    </dgm:pt>
    <dgm:pt modelId="{AF509E26-D007-4240-9571-DD37D8D8A037}" type="parTrans" cxnId="{87BEC627-5433-4CA5-93F4-68525D380907}">
      <dgm:prSet/>
      <dgm:spPr/>
      <dgm:t>
        <a:bodyPr/>
        <a:lstStyle/>
        <a:p>
          <a:endParaRPr lang="en-US"/>
        </a:p>
      </dgm:t>
    </dgm:pt>
    <dgm:pt modelId="{72C2613B-C88E-4480-8BB8-1ECEEED09DDF}" type="sibTrans" cxnId="{87BEC627-5433-4CA5-93F4-68525D380907}">
      <dgm:prSet/>
      <dgm:spPr/>
      <dgm:t>
        <a:bodyPr/>
        <a:lstStyle/>
        <a:p>
          <a:endParaRPr lang="en-US"/>
        </a:p>
      </dgm:t>
    </dgm:pt>
    <dgm:pt modelId="{A75E9D7C-E6AC-4E7E-89D7-E7F7492C8F19}">
      <dgm:prSet/>
      <dgm:spPr/>
      <dgm:t>
        <a:bodyPr/>
        <a:lstStyle/>
        <a:p>
          <a:r>
            <a:rPr lang="en-GB" b="0" i="0"/>
            <a:t>Understanding the irregular component helps in assessing the model's forecasting accuracy and identifying potential outliers and anomalies in the data.</a:t>
          </a:r>
          <a:endParaRPr lang="en-US"/>
        </a:p>
      </dgm:t>
    </dgm:pt>
    <dgm:pt modelId="{1B3F369E-9F2F-4BE4-AB2D-3A6C262130C2}" type="parTrans" cxnId="{E9FB8391-CC59-4DEA-B729-00B5B5E545A6}">
      <dgm:prSet/>
      <dgm:spPr/>
      <dgm:t>
        <a:bodyPr/>
        <a:lstStyle/>
        <a:p>
          <a:endParaRPr lang="en-US"/>
        </a:p>
      </dgm:t>
    </dgm:pt>
    <dgm:pt modelId="{40E55500-7FDF-4FBA-85F8-137DDF5F6672}" type="sibTrans" cxnId="{E9FB8391-CC59-4DEA-B729-00B5B5E545A6}">
      <dgm:prSet/>
      <dgm:spPr/>
      <dgm:t>
        <a:bodyPr/>
        <a:lstStyle/>
        <a:p>
          <a:endParaRPr lang="en-US"/>
        </a:p>
      </dgm:t>
    </dgm:pt>
    <dgm:pt modelId="{410E214B-83B2-416E-AFEF-597E7BF214AA}" type="pres">
      <dgm:prSet presAssocID="{7F10F599-726E-45D1-B9C9-04D7D15FE145}" presName="linear" presStyleCnt="0">
        <dgm:presLayoutVars>
          <dgm:animLvl val="lvl"/>
          <dgm:resizeHandles val="exact"/>
        </dgm:presLayoutVars>
      </dgm:prSet>
      <dgm:spPr/>
    </dgm:pt>
    <dgm:pt modelId="{66277480-5DFE-40DD-A5DE-FC43F6890137}" type="pres">
      <dgm:prSet presAssocID="{522D46DE-A659-4672-BA60-91BF6F847D18}" presName="parentText" presStyleLbl="node1" presStyleIdx="0" presStyleCnt="4">
        <dgm:presLayoutVars>
          <dgm:chMax val="0"/>
          <dgm:bulletEnabled val="1"/>
        </dgm:presLayoutVars>
      </dgm:prSet>
      <dgm:spPr/>
    </dgm:pt>
    <dgm:pt modelId="{EA5CA37D-A4E9-4D6C-ACA4-F56989F37C0C}" type="pres">
      <dgm:prSet presAssocID="{935F2042-EBA4-4B3D-B7CB-C42644B1C269}" presName="spacer" presStyleCnt="0"/>
      <dgm:spPr/>
    </dgm:pt>
    <dgm:pt modelId="{3983B9B0-01F7-4F71-B9CA-635098657A29}" type="pres">
      <dgm:prSet presAssocID="{8ABA8AF9-A088-4C30-AB98-48B947D79F49}" presName="parentText" presStyleLbl="node1" presStyleIdx="1" presStyleCnt="4">
        <dgm:presLayoutVars>
          <dgm:chMax val="0"/>
          <dgm:bulletEnabled val="1"/>
        </dgm:presLayoutVars>
      </dgm:prSet>
      <dgm:spPr/>
    </dgm:pt>
    <dgm:pt modelId="{10FAB0F5-8DE7-45EF-8C2B-1923C83542AA}" type="pres">
      <dgm:prSet presAssocID="{0932CBEB-037A-46A3-B95E-0A3F65BF7EA4}" presName="spacer" presStyleCnt="0"/>
      <dgm:spPr/>
    </dgm:pt>
    <dgm:pt modelId="{B06E1D86-67F0-4275-B160-3B6C3865EE95}" type="pres">
      <dgm:prSet presAssocID="{EBC9CDE3-6C9A-4617-8E17-AB592359989D}" presName="parentText" presStyleLbl="node1" presStyleIdx="2" presStyleCnt="4">
        <dgm:presLayoutVars>
          <dgm:chMax val="0"/>
          <dgm:bulletEnabled val="1"/>
        </dgm:presLayoutVars>
      </dgm:prSet>
      <dgm:spPr/>
    </dgm:pt>
    <dgm:pt modelId="{CDE5CEE9-D98D-4D05-A1FC-DFD939896CCF}" type="pres">
      <dgm:prSet presAssocID="{72C2613B-C88E-4480-8BB8-1ECEEED09DDF}" presName="spacer" presStyleCnt="0"/>
      <dgm:spPr/>
    </dgm:pt>
    <dgm:pt modelId="{D898ECB0-C743-4CE2-93F5-D19A8F272541}" type="pres">
      <dgm:prSet presAssocID="{A75E9D7C-E6AC-4E7E-89D7-E7F7492C8F19}" presName="parentText" presStyleLbl="node1" presStyleIdx="3" presStyleCnt="4">
        <dgm:presLayoutVars>
          <dgm:chMax val="0"/>
          <dgm:bulletEnabled val="1"/>
        </dgm:presLayoutVars>
      </dgm:prSet>
      <dgm:spPr/>
    </dgm:pt>
  </dgm:ptLst>
  <dgm:cxnLst>
    <dgm:cxn modelId="{87BEC627-5433-4CA5-93F4-68525D380907}" srcId="{7F10F599-726E-45D1-B9C9-04D7D15FE145}" destId="{EBC9CDE3-6C9A-4617-8E17-AB592359989D}" srcOrd="2" destOrd="0" parTransId="{AF509E26-D007-4240-9571-DD37D8D8A037}" sibTransId="{72C2613B-C88E-4480-8BB8-1ECEEED09DDF}"/>
    <dgm:cxn modelId="{C4945138-4CB6-4D20-A120-6C1842183A26}" type="presOf" srcId="{522D46DE-A659-4672-BA60-91BF6F847D18}" destId="{66277480-5DFE-40DD-A5DE-FC43F6890137}" srcOrd="0" destOrd="0" presId="urn:microsoft.com/office/officeart/2005/8/layout/vList2"/>
    <dgm:cxn modelId="{81B4C75B-9D2E-4F16-97C4-31F7DC438D8B}" type="presOf" srcId="{EBC9CDE3-6C9A-4617-8E17-AB592359989D}" destId="{B06E1D86-67F0-4275-B160-3B6C3865EE95}" srcOrd="0" destOrd="0" presId="urn:microsoft.com/office/officeart/2005/8/layout/vList2"/>
    <dgm:cxn modelId="{8B683773-31A0-4559-8E5D-8DFFF365C5FD}" srcId="{7F10F599-726E-45D1-B9C9-04D7D15FE145}" destId="{522D46DE-A659-4672-BA60-91BF6F847D18}" srcOrd="0" destOrd="0" parTransId="{57FA34F3-5457-4F8E-A9CC-01A5FA2BAF69}" sibTransId="{935F2042-EBA4-4B3D-B7CB-C42644B1C269}"/>
    <dgm:cxn modelId="{E9FB8391-CC59-4DEA-B729-00B5B5E545A6}" srcId="{7F10F599-726E-45D1-B9C9-04D7D15FE145}" destId="{A75E9D7C-E6AC-4E7E-89D7-E7F7492C8F19}" srcOrd="3" destOrd="0" parTransId="{1B3F369E-9F2F-4BE4-AB2D-3A6C262130C2}" sibTransId="{40E55500-7FDF-4FBA-85F8-137DDF5F6672}"/>
    <dgm:cxn modelId="{E510829B-270C-4073-9BBC-D48B62AACDFB}" type="presOf" srcId="{7F10F599-726E-45D1-B9C9-04D7D15FE145}" destId="{410E214B-83B2-416E-AFEF-597E7BF214AA}" srcOrd="0" destOrd="0" presId="urn:microsoft.com/office/officeart/2005/8/layout/vList2"/>
    <dgm:cxn modelId="{990D5CAB-4BD0-4F94-A169-1EA5F8CF455F}" type="presOf" srcId="{A75E9D7C-E6AC-4E7E-89D7-E7F7492C8F19}" destId="{D898ECB0-C743-4CE2-93F5-D19A8F272541}" srcOrd="0" destOrd="0" presId="urn:microsoft.com/office/officeart/2005/8/layout/vList2"/>
    <dgm:cxn modelId="{6464A3D2-88FD-4977-AC5B-384202F22FCE}" type="presOf" srcId="{8ABA8AF9-A088-4C30-AB98-48B947D79F49}" destId="{3983B9B0-01F7-4F71-B9CA-635098657A29}" srcOrd="0" destOrd="0" presId="urn:microsoft.com/office/officeart/2005/8/layout/vList2"/>
    <dgm:cxn modelId="{000B34DA-FBB0-4A19-9181-26254BE9815B}" srcId="{7F10F599-726E-45D1-B9C9-04D7D15FE145}" destId="{8ABA8AF9-A088-4C30-AB98-48B947D79F49}" srcOrd="1" destOrd="0" parTransId="{E57DDFEC-7EEC-43BA-AF2F-EC55EE0396DB}" sibTransId="{0932CBEB-037A-46A3-B95E-0A3F65BF7EA4}"/>
    <dgm:cxn modelId="{145BBD4E-E6B4-4A65-AA93-A76E996E05B6}" type="presParOf" srcId="{410E214B-83B2-416E-AFEF-597E7BF214AA}" destId="{66277480-5DFE-40DD-A5DE-FC43F6890137}" srcOrd="0" destOrd="0" presId="urn:microsoft.com/office/officeart/2005/8/layout/vList2"/>
    <dgm:cxn modelId="{A42B82EA-0154-4935-A890-63CC1E351CDB}" type="presParOf" srcId="{410E214B-83B2-416E-AFEF-597E7BF214AA}" destId="{EA5CA37D-A4E9-4D6C-ACA4-F56989F37C0C}" srcOrd="1" destOrd="0" presId="urn:microsoft.com/office/officeart/2005/8/layout/vList2"/>
    <dgm:cxn modelId="{E91027F8-C6F0-4DE8-8437-2BFAC0CE9A1D}" type="presParOf" srcId="{410E214B-83B2-416E-AFEF-597E7BF214AA}" destId="{3983B9B0-01F7-4F71-B9CA-635098657A29}" srcOrd="2" destOrd="0" presId="urn:microsoft.com/office/officeart/2005/8/layout/vList2"/>
    <dgm:cxn modelId="{D8161F62-42E7-4552-9BC2-DC17B40A1992}" type="presParOf" srcId="{410E214B-83B2-416E-AFEF-597E7BF214AA}" destId="{10FAB0F5-8DE7-45EF-8C2B-1923C83542AA}" srcOrd="3" destOrd="0" presId="urn:microsoft.com/office/officeart/2005/8/layout/vList2"/>
    <dgm:cxn modelId="{026D5050-E9C3-44FD-B620-AA0EAA01268A}" type="presParOf" srcId="{410E214B-83B2-416E-AFEF-597E7BF214AA}" destId="{B06E1D86-67F0-4275-B160-3B6C3865EE95}" srcOrd="4" destOrd="0" presId="urn:microsoft.com/office/officeart/2005/8/layout/vList2"/>
    <dgm:cxn modelId="{7E9D63C4-CBC9-4A32-8B31-345C0AA4F270}" type="presParOf" srcId="{410E214B-83B2-416E-AFEF-597E7BF214AA}" destId="{CDE5CEE9-D98D-4D05-A1FC-DFD939896CCF}" srcOrd="5" destOrd="0" presId="urn:microsoft.com/office/officeart/2005/8/layout/vList2"/>
    <dgm:cxn modelId="{BE7DB0C3-C32B-4CEF-B629-A1C1D94D5527}" type="presParOf" srcId="{410E214B-83B2-416E-AFEF-597E7BF214AA}" destId="{D898ECB0-C743-4CE2-93F5-D19A8F272541}"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6527E347-532E-4BF8-8DA3-C77801FB1715}"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en-US"/>
        </a:p>
      </dgm:t>
    </dgm:pt>
    <dgm:pt modelId="{50DFD1DB-D5DF-4232-B516-889B0CFA8A22}">
      <dgm:prSet/>
      <dgm:spPr/>
      <dgm:t>
        <a:bodyPr/>
        <a:lstStyle/>
        <a:p>
          <a:r>
            <a:rPr lang="en-GB" b="1" i="0"/>
            <a:t>Definition of Trend Analysis:</a:t>
          </a:r>
          <a:endParaRPr lang="en-US"/>
        </a:p>
      </dgm:t>
    </dgm:pt>
    <dgm:pt modelId="{4A46080A-1B86-4797-A551-BC7083176E87}" type="parTrans" cxnId="{7F653D8E-2D8D-43F1-82A7-84D16A82C84E}">
      <dgm:prSet/>
      <dgm:spPr/>
      <dgm:t>
        <a:bodyPr/>
        <a:lstStyle/>
        <a:p>
          <a:endParaRPr lang="en-US"/>
        </a:p>
      </dgm:t>
    </dgm:pt>
    <dgm:pt modelId="{B6959967-94EB-42E8-AA53-F6547DF8D1AF}" type="sibTrans" cxnId="{7F653D8E-2D8D-43F1-82A7-84D16A82C84E}">
      <dgm:prSet/>
      <dgm:spPr/>
      <dgm:t>
        <a:bodyPr/>
        <a:lstStyle/>
        <a:p>
          <a:endParaRPr lang="en-US"/>
        </a:p>
      </dgm:t>
    </dgm:pt>
    <dgm:pt modelId="{C2373483-CECF-47EF-82C0-8B8B097CEE5A}">
      <dgm:prSet/>
      <dgm:spPr/>
      <dgm:t>
        <a:bodyPr/>
        <a:lstStyle/>
        <a:p>
          <a:r>
            <a:rPr lang="en-GB" b="0" i="0"/>
            <a:t>Trend analysis is the process of identifying and characterizing long-term movements or patterns in time series data. It focuses on understanding whether the data is generally increasing, decreasing, or maintaining a stable level over an extended period.</a:t>
          </a:r>
          <a:endParaRPr lang="en-US"/>
        </a:p>
      </dgm:t>
    </dgm:pt>
    <dgm:pt modelId="{8BEB1035-D699-48F6-A7A4-84007FB784BC}" type="parTrans" cxnId="{EAF9D90E-CFD6-488D-AA42-67462832EA20}">
      <dgm:prSet/>
      <dgm:spPr/>
      <dgm:t>
        <a:bodyPr/>
        <a:lstStyle/>
        <a:p>
          <a:endParaRPr lang="en-US"/>
        </a:p>
      </dgm:t>
    </dgm:pt>
    <dgm:pt modelId="{A7DE14F2-C2EE-425C-BF97-B8DEE87DD74C}" type="sibTrans" cxnId="{EAF9D90E-CFD6-488D-AA42-67462832EA20}">
      <dgm:prSet/>
      <dgm:spPr/>
      <dgm:t>
        <a:bodyPr/>
        <a:lstStyle/>
        <a:p>
          <a:endParaRPr lang="en-US"/>
        </a:p>
      </dgm:t>
    </dgm:pt>
    <dgm:pt modelId="{58F5B23D-C7D2-44BD-82D9-B15296AD885E}" type="pres">
      <dgm:prSet presAssocID="{6527E347-532E-4BF8-8DA3-C77801FB1715}" presName="linear" presStyleCnt="0">
        <dgm:presLayoutVars>
          <dgm:animLvl val="lvl"/>
          <dgm:resizeHandles val="exact"/>
        </dgm:presLayoutVars>
      </dgm:prSet>
      <dgm:spPr/>
    </dgm:pt>
    <dgm:pt modelId="{61DB8494-AE25-4DD1-A873-46BEB1E22E20}" type="pres">
      <dgm:prSet presAssocID="{50DFD1DB-D5DF-4232-B516-889B0CFA8A22}" presName="parentText" presStyleLbl="node1" presStyleIdx="0" presStyleCnt="2">
        <dgm:presLayoutVars>
          <dgm:chMax val="0"/>
          <dgm:bulletEnabled val="1"/>
        </dgm:presLayoutVars>
      </dgm:prSet>
      <dgm:spPr/>
    </dgm:pt>
    <dgm:pt modelId="{0A190E80-51E7-4184-A88F-A4F6C12B4BFA}" type="pres">
      <dgm:prSet presAssocID="{B6959967-94EB-42E8-AA53-F6547DF8D1AF}" presName="spacer" presStyleCnt="0"/>
      <dgm:spPr/>
    </dgm:pt>
    <dgm:pt modelId="{C9A6C37B-131A-4067-84BA-8484034366C6}" type="pres">
      <dgm:prSet presAssocID="{C2373483-CECF-47EF-82C0-8B8B097CEE5A}" presName="parentText" presStyleLbl="node1" presStyleIdx="1" presStyleCnt="2">
        <dgm:presLayoutVars>
          <dgm:chMax val="0"/>
          <dgm:bulletEnabled val="1"/>
        </dgm:presLayoutVars>
      </dgm:prSet>
      <dgm:spPr/>
    </dgm:pt>
  </dgm:ptLst>
  <dgm:cxnLst>
    <dgm:cxn modelId="{EAF9D90E-CFD6-488D-AA42-67462832EA20}" srcId="{6527E347-532E-4BF8-8DA3-C77801FB1715}" destId="{C2373483-CECF-47EF-82C0-8B8B097CEE5A}" srcOrd="1" destOrd="0" parTransId="{8BEB1035-D699-48F6-A7A4-84007FB784BC}" sibTransId="{A7DE14F2-C2EE-425C-BF97-B8DEE87DD74C}"/>
    <dgm:cxn modelId="{372FD77A-AAC1-444F-904D-729F7320ECAA}" type="presOf" srcId="{50DFD1DB-D5DF-4232-B516-889B0CFA8A22}" destId="{61DB8494-AE25-4DD1-A873-46BEB1E22E20}" srcOrd="0" destOrd="0" presId="urn:microsoft.com/office/officeart/2005/8/layout/vList2"/>
    <dgm:cxn modelId="{7F653D8E-2D8D-43F1-82A7-84D16A82C84E}" srcId="{6527E347-532E-4BF8-8DA3-C77801FB1715}" destId="{50DFD1DB-D5DF-4232-B516-889B0CFA8A22}" srcOrd="0" destOrd="0" parTransId="{4A46080A-1B86-4797-A551-BC7083176E87}" sibTransId="{B6959967-94EB-42E8-AA53-F6547DF8D1AF}"/>
    <dgm:cxn modelId="{CFBA6693-1449-4010-B4A5-23315059C006}" type="presOf" srcId="{C2373483-CECF-47EF-82C0-8B8B097CEE5A}" destId="{C9A6C37B-131A-4067-84BA-8484034366C6}" srcOrd="0" destOrd="0" presId="urn:microsoft.com/office/officeart/2005/8/layout/vList2"/>
    <dgm:cxn modelId="{A0027CD1-55CF-4254-8963-0B3D86661FBB}" type="presOf" srcId="{6527E347-532E-4BF8-8DA3-C77801FB1715}" destId="{58F5B23D-C7D2-44BD-82D9-B15296AD885E}" srcOrd="0" destOrd="0" presId="urn:microsoft.com/office/officeart/2005/8/layout/vList2"/>
    <dgm:cxn modelId="{92C6E36D-1A0C-4C96-A597-FA3FE4C46D01}" type="presParOf" srcId="{58F5B23D-C7D2-44BD-82D9-B15296AD885E}" destId="{61DB8494-AE25-4DD1-A873-46BEB1E22E20}" srcOrd="0" destOrd="0" presId="urn:microsoft.com/office/officeart/2005/8/layout/vList2"/>
    <dgm:cxn modelId="{CA0E3C51-9390-4A4C-8EA5-3EBCFE5102FD}" type="presParOf" srcId="{58F5B23D-C7D2-44BD-82D9-B15296AD885E}" destId="{0A190E80-51E7-4184-A88F-A4F6C12B4BFA}" srcOrd="1" destOrd="0" presId="urn:microsoft.com/office/officeart/2005/8/layout/vList2"/>
    <dgm:cxn modelId="{0AEE1FEF-7F14-4324-86BA-747AA30A5DCF}" type="presParOf" srcId="{58F5B23D-C7D2-44BD-82D9-B15296AD885E}" destId="{C9A6C37B-131A-4067-84BA-8484034366C6}"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2201091A-6919-48BE-B2B2-CD38FF63A224}"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9EB83AD1-8794-41A4-B8FB-BAAD46487998}">
      <dgm:prSet/>
      <dgm:spPr/>
      <dgm:t>
        <a:bodyPr/>
        <a:lstStyle/>
        <a:p>
          <a:r>
            <a:rPr lang="en-IE" b="1" i="0"/>
            <a:t>Objectives of Trend Analysis:</a:t>
          </a:r>
          <a:endParaRPr lang="en-US"/>
        </a:p>
      </dgm:t>
    </dgm:pt>
    <dgm:pt modelId="{5FE7BB9A-5FD6-43EF-8089-7AFF5E596740}" type="parTrans" cxnId="{6488DE53-FA0B-49B3-AB28-649A2CE3AE89}">
      <dgm:prSet/>
      <dgm:spPr/>
      <dgm:t>
        <a:bodyPr/>
        <a:lstStyle/>
        <a:p>
          <a:endParaRPr lang="en-US"/>
        </a:p>
      </dgm:t>
    </dgm:pt>
    <dgm:pt modelId="{4373169A-4FE9-489A-A35E-5B77535D0742}" type="sibTrans" cxnId="{6488DE53-FA0B-49B3-AB28-649A2CE3AE89}">
      <dgm:prSet/>
      <dgm:spPr/>
      <dgm:t>
        <a:bodyPr/>
        <a:lstStyle/>
        <a:p>
          <a:endParaRPr lang="en-US"/>
        </a:p>
      </dgm:t>
    </dgm:pt>
    <dgm:pt modelId="{1A2C3464-03CE-4C8F-B5B5-562DA40ECB2B}">
      <dgm:prSet/>
      <dgm:spPr/>
      <dgm:t>
        <a:bodyPr/>
        <a:lstStyle/>
        <a:p>
          <a:r>
            <a:rPr lang="en-GB" b="0" i="0"/>
            <a:t>The primary objectives of trend analysis include, identifying the underlying long-term direction in the data.</a:t>
          </a:r>
          <a:endParaRPr lang="en-US"/>
        </a:p>
      </dgm:t>
    </dgm:pt>
    <dgm:pt modelId="{E1B0E0D0-F05F-44EB-BA4B-4A16BE84E8EA}" type="parTrans" cxnId="{9B9D42F0-C427-447C-A8F2-96C0508E1C8D}">
      <dgm:prSet/>
      <dgm:spPr/>
      <dgm:t>
        <a:bodyPr/>
        <a:lstStyle/>
        <a:p>
          <a:endParaRPr lang="en-US"/>
        </a:p>
      </dgm:t>
    </dgm:pt>
    <dgm:pt modelId="{647FEE4D-5C64-4EEE-AC47-9238288ECB67}" type="sibTrans" cxnId="{9B9D42F0-C427-447C-A8F2-96C0508E1C8D}">
      <dgm:prSet/>
      <dgm:spPr/>
      <dgm:t>
        <a:bodyPr/>
        <a:lstStyle/>
        <a:p>
          <a:endParaRPr lang="en-US"/>
        </a:p>
      </dgm:t>
    </dgm:pt>
    <dgm:pt modelId="{1D275CA0-DA33-41B8-8BAC-E0D89A23F282}">
      <dgm:prSet/>
      <dgm:spPr/>
      <dgm:t>
        <a:bodyPr/>
        <a:lstStyle/>
        <a:p>
          <a:r>
            <a:rPr lang="en-GB" b="0" i="0"/>
            <a:t>Assessing whether the data exhibits a rising, falling, or stable trend.</a:t>
          </a:r>
          <a:endParaRPr lang="en-US"/>
        </a:p>
      </dgm:t>
    </dgm:pt>
    <dgm:pt modelId="{234710AE-FC20-4A03-A05B-23268394E2D9}" type="parTrans" cxnId="{E3F14694-BF5C-443D-B01C-4F379695D939}">
      <dgm:prSet/>
      <dgm:spPr/>
      <dgm:t>
        <a:bodyPr/>
        <a:lstStyle/>
        <a:p>
          <a:endParaRPr lang="en-US"/>
        </a:p>
      </dgm:t>
    </dgm:pt>
    <dgm:pt modelId="{E139252A-63C2-4A47-9226-B74DF8118A1E}" type="sibTrans" cxnId="{E3F14694-BF5C-443D-B01C-4F379695D939}">
      <dgm:prSet/>
      <dgm:spPr/>
      <dgm:t>
        <a:bodyPr/>
        <a:lstStyle/>
        <a:p>
          <a:endParaRPr lang="en-US"/>
        </a:p>
      </dgm:t>
    </dgm:pt>
    <dgm:pt modelId="{FD34F1CF-946D-4176-A73B-0651B2CB35E5}">
      <dgm:prSet/>
      <dgm:spPr/>
      <dgm:t>
        <a:bodyPr/>
        <a:lstStyle/>
        <a:p>
          <a:r>
            <a:rPr lang="en-GB" b="0" i="0"/>
            <a:t>Quantifying the rate and magnitude of the trend if present.</a:t>
          </a:r>
          <a:endParaRPr lang="en-US"/>
        </a:p>
      </dgm:t>
    </dgm:pt>
    <dgm:pt modelId="{17AA758F-7BA3-4443-831C-E89486A050E5}" type="parTrans" cxnId="{B519DBA5-EAA5-4AE5-B82A-5BB76822ED57}">
      <dgm:prSet/>
      <dgm:spPr/>
      <dgm:t>
        <a:bodyPr/>
        <a:lstStyle/>
        <a:p>
          <a:endParaRPr lang="en-US"/>
        </a:p>
      </dgm:t>
    </dgm:pt>
    <dgm:pt modelId="{F087C984-CD13-46B1-B759-ACCAF065E921}" type="sibTrans" cxnId="{B519DBA5-EAA5-4AE5-B82A-5BB76822ED57}">
      <dgm:prSet/>
      <dgm:spPr/>
      <dgm:t>
        <a:bodyPr/>
        <a:lstStyle/>
        <a:p>
          <a:endParaRPr lang="en-US"/>
        </a:p>
      </dgm:t>
    </dgm:pt>
    <dgm:pt modelId="{B712A3A3-2EF3-42AC-88EC-06DAFE579AF2}">
      <dgm:prSet/>
      <dgm:spPr/>
      <dgm:t>
        <a:bodyPr/>
        <a:lstStyle/>
        <a:p>
          <a:r>
            <a:rPr lang="en-GB" b="0" i="0"/>
            <a:t>Recognizing the potential drivers or factors contributing to the observed trend.</a:t>
          </a:r>
          <a:endParaRPr lang="en-US"/>
        </a:p>
      </dgm:t>
    </dgm:pt>
    <dgm:pt modelId="{4A5AD61E-E5D8-44E2-85DE-2D32C17A5D13}" type="parTrans" cxnId="{FFDE2DFB-9966-44A3-A910-C945AED63E29}">
      <dgm:prSet/>
      <dgm:spPr/>
      <dgm:t>
        <a:bodyPr/>
        <a:lstStyle/>
        <a:p>
          <a:endParaRPr lang="en-US"/>
        </a:p>
      </dgm:t>
    </dgm:pt>
    <dgm:pt modelId="{CC5FFF0D-4089-416A-B4A9-5266C02B7CD9}" type="sibTrans" cxnId="{FFDE2DFB-9966-44A3-A910-C945AED63E29}">
      <dgm:prSet/>
      <dgm:spPr/>
      <dgm:t>
        <a:bodyPr/>
        <a:lstStyle/>
        <a:p>
          <a:endParaRPr lang="en-US"/>
        </a:p>
      </dgm:t>
    </dgm:pt>
    <dgm:pt modelId="{5C6B6D6E-A480-407F-87A8-46B9A692F4F8}">
      <dgm:prSet/>
      <dgm:spPr/>
      <dgm:t>
        <a:bodyPr/>
        <a:lstStyle/>
        <a:p>
          <a:r>
            <a:rPr lang="en-GB" b="0" i="0"/>
            <a:t>Using the insights from trend analysis for forecasting and decision-making.</a:t>
          </a:r>
          <a:endParaRPr lang="en-US"/>
        </a:p>
      </dgm:t>
    </dgm:pt>
    <dgm:pt modelId="{DA98C552-CA76-4F65-8960-2CC311561E4C}" type="parTrans" cxnId="{93102A23-EABD-40C4-9509-22CCCD3CB00B}">
      <dgm:prSet/>
      <dgm:spPr/>
      <dgm:t>
        <a:bodyPr/>
        <a:lstStyle/>
        <a:p>
          <a:endParaRPr lang="en-US"/>
        </a:p>
      </dgm:t>
    </dgm:pt>
    <dgm:pt modelId="{445760F1-A511-4DA9-938B-865A8A1AC07E}" type="sibTrans" cxnId="{93102A23-EABD-40C4-9509-22CCCD3CB00B}">
      <dgm:prSet/>
      <dgm:spPr/>
      <dgm:t>
        <a:bodyPr/>
        <a:lstStyle/>
        <a:p>
          <a:endParaRPr lang="en-US"/>
        </a:p>
      </dgm:t>
    </dgm:pt>
    <dgm:pt modelId="{88C1FCDA-8C67-4B60-A1E3-8906BAC41A7D}" type="pres">
      <dgm:prSet presAssocID="{2201091A-6919-48BE-B2B2-CD38FF63A224}" presName="linear" presStyleCnt="0">
        <dgm:presLayoutVars>
          <dgm:animLvl val="lvl"/>
          <dgm:resizeHandles val="exact"/>
        </dgm:presLayoutVars>
      </dgm:prSet>
      <dgm:spPr/>
    </dgm:pt>
    <dgm:pt modelId="{87AC3F6E-DC3C-49E6-8147-82449C3B4DA9}" type="pres">
      <dgm:prSet presAssocID="{9EB83AD1-8794-41A4-B8FB-BAAD46487998}" presName="parentText" presStyleLbl="node1" presStyleIdx="0" presStyleCnt="6">
        <dgm:presLayoutVars>
          <dgm:chMax val="0"/>
          <dgm:bulletEnabled val="1"/>
        </dgm:presLayoutVars>
      </dgm:prSet>
      <dgm:spPr/>
    </dgm:pt>
    <dgm:pt modelId="{58B97C53-2576-4374-B267-6B69D9CA43EF}" type="pres">
      <dgm:prSet presAssocID="{4373169A-4FE9-489A-A35E-5B77535D0742}" presName="spacer" presStyleCnt="0"/>
      <dgm:spPr/>
    </dgm:pt>
    <dgm:pt modelId="{31D3114F-97AF-4F13-B99C-A4AE6A9A61EF}" type="pres">
      <dgm:prSet presAssocID="{1A2C3464-03CE-4C8F-B5B5-562DA40ECB2B}" presName="parentText" presStyleLbl="node1" presStyleIdx="1" presStyleCnt="6">
        <dgm:presLayoutVars>
          <dgm:chMax val="0"/>
          <dgm:bulletEnabled val="1"/>
        </dgm:presLayoutVars>
      </dgm:prSet>
      <dgm:spPr/>
    </dgm:pt>
    <dgm:pt modelId="{2F196E03-1E99-4A61-BF9A-D0A6C8145A8B}" type="pres">
      <dgm:prSet presAssocID="{647FEE4D-5C64-4EEE-AC47-9238288ECB67}" presName="spacer" presStyleCnt="0"/>
      <dgm:spPr/>
    </dgm:pt>
    <dgm:pt modelId="{F452E6F5-9C3E-4CE0-8C03-970D5E787538}" type="pres">
      <dgm:prSet presAssocID="{1D275CA0-DA33-41B8-8BAC-E0D89A23F282}" presName="parentText" presStyleLbl="node1" presStyleIdx="2" presStyleCnt="6">
        <dgm:presLayoutVars>
          <dgm:chMax val="0"/>
          <dgm:bulletEnabled val="1"/>
        </dgm:presLayoutVars>
      </dgm:prSet>
      <dgm:spPr/>
    </dgm:pt>
    <dgm:pt modelId="{A590D000-3952-4CB0-98AD-5D28DC6C349B}" type="pres">
      <dgm:prSet presAssocID="{E139252A-63C2-4A47-9226-B74DF8118A1E}" presName="spacer" presStyleCnt="0"/>
      <dgm:spPr/>
    </dgm:pt>
    <dgm:pt modelId="{314293A2-411A-48B5-BFEE-5C65419DC87B}" type="pres">
      <dgm:prSet presAssocID="{FD34F1CF-946D-4176-A73B-0651B2CB35E5}" presName="parentText" presStyleLbl="node1" presStyleIdx="3" presStyleCnt="6">
        <dgm:presLayoutVars>
          <dgm:chMax val="0"/>
          <dgm:bulletEnabled val="1"/>
        </dgm:presLayoutVars>
      </dgm:prSet>
      <dgm:spPr/>
    </dgm:pt>
    <dgm:pt modelId="{65985EA0-0A83-4624-8A0E-3F64FE708A67}" type="pres">
      <dgm:prSet presAssocID="{F087C984-CD13-46B1-B759-ACCAF065E921}" presName="spacer" presStyleCnt="0"/>
      <dgm:spPr/>
    </dgm:pt>
    <dgm:pt modelId="{126CCBC4-F97A-464F-955C-41F0387CA838}" type="pres">
      <dgm:prSet presAssocID="{B712A3A3-2EF3-42AC-88EC-06DAFE579AF2}" presName="parentText" presStyleLbl="node1" presStyleIdx="4" presStyleCnt="6">
        <dgm:presLayoutVars>
          <dgm:chMax val="0"/>
          <dgm:bulletEnabled val="1"/>
        </dgm:presLayoutVars>
      </dgm:prSet>
      <dgm:spPr/>
    </dgm:pt>
    <dgm:pt modelId="{090E6BDF-185E-483D-8DE4-EFDC9D650BC4}" type="pres">
      <dgm:prSet presAssocID="{CC5FFF0D-4089-416A-B4A9-5266C02B7CD9}" presName="spacer" presStyleCnt="0"/>
      <dgm:spPr/>
    </dgm:pt>
    <dgm:pt modelId="{17DF80C3-C669-4149-AF81-9DDC5294161B}" type="pres">
      <dgm:prSet presAssocID="{5C6B6D6E-A480-407F-87A8-46B9A692F4F8}" presName="parentText" presStyleLbl="node1" presStyleIdx="5" presStyleCnt="6">
        <dgm:presLayoutVars>
          <dgm:chMax val="0"/>
          <dgm:bulletEnabled val="1"/>
        </dgm:presLayoutVars>
      </dgm:prSet>
      <dgm:spPr/>
    </dgm:pt>
  </dgm:ptLst>
  <dgm:cxnLst>
    <dgm:cxn modelId="{5FBF421B-3A47-4BE1-9581-06640A57D91D}" type="presOf" srcId="{9EB83AD1-8794-41A4-B8FB-BAAD46487998}" destId="{87AC3F6E-DC3C-49E6-8147-82449C3B4DA9}" srcOrd="0" destOrd="0" presId="urn:microsoft.com/office/officeart/2005/8/layout/vList2"/>
    <dgm:cxn modelId="{93102A23-EABD-40C4-9509-22CCCD3CB00B}" srcId="{2201091A-6919-48BE-B2B2-CD38FF63A224}" destId="{5C6B6D6E-A480-407F-87A8-46B9A692F4F8}" srcOrd="5" destOrd="0" parTransId="{DA98C552-CA76-4F65-8960-2CC311561E4C}" sibTransId="{445760F1-A511-4DA9-938B-865A8A1AC07E}"/>
    <dgm:cxn modelId="{3DF3A424-450F-45F3-A440-8F559F8F2F2D}" type="presOf" srcId="{B712A3A3-2EF3-42AC-88EC-06DAFE579AF2}" destId="{126CCBC4-F97A-464F-955C-41F0387CA838}" srcOrd="0" destOrd="0" presId="urn:microsoft.com/office/officeart/2005/8/layout/vList2"/>
    <dgm:cxn modelId="{B9CF3C6E-41D3-4B85-83D6-3466BCBB9823}" type="presOf" srcId="{5C6B6D6E-A480-407F-87A8-46B9A692F4F8}" destId="{17DF80C3-C669-4149-AF81-9DDC5294161B}" srcOrd="0" destOrd="0" presId="urn:microsoft.com/office/officeart/2005/8/layout/vList2"/>
    <dgm:cxn modelId="{C0F37273-9440-4E29-A3A8-274FAE0D7944}" type="presOf" srcId="{2201091A-6919-48BE-B2B2-CD38FF63A224}" destId="{88C1FCDA-8C67-4B60-A1E3-8906BAC41A7D}" srcOrd="0" destOrd="0" presId="urn:microsoft.com/office/officeart/2005/8/layout/vList2"/>
    <dgm:cxn modelId="{6488DE53-FA0B-49B3-AB28-649A2CE3AE89}" srcId="{2201091A-6919-48BE-B2B2-CD38FF63A224}" destId="{9EB83AD1-8794-41A4-B8FB-BAAD46487998}" srcOrd="0" destOrd="0" parTransId="{5FE7BB9A-5FD6-43EF-8089-7AFF5E596740}" sibTransId="{4373169A-4FE9-489A-A35E-5B77535D0742}"/>
    <dgm:cxn modelId="{9B08FF57-949D-4BE5-91E6-1AF521C6CB52}" type="presOf" srcId="{1A2C3464-03CE-4C8F-B5B5-562DA40ECB2B}" destId="{31D3114F-97AF-4F13-B99C-A4AE6A9A61EF}" srcOrd="0" destOrd="0" presId="urn:microsoft.com/office/officeart/2005/8/layout/vList2"/>
    <dgm:cxn modelId="{E3F14694-BF5C-443D-B01C-4F379695D939}" srcId="{2201091A-6919-48BE-B2B2-CD38FF63A224}" destId="{1D275CA0-DA33-41B8-8BAC-E0D89A23F282}" srcOrd="2" destOrd="0" parTransId="{234710AE-FC20-4A03-A05B-23268394E2D9}" sibTransId="{E139252A-63C2-4A47-9226-B74DF8118A1E}"/>
    <dgm:cxn modelId="{B519DBA5-EAA5-4AE5-B82A-5BB76822ED57}" srcId="{2201091A-6919-48BE-B2B2-CD38FF63A224}" destId="{FD34F1CF-946D-4176-A73B-0651B2CB35E5}" srcOrd="3" destOrd="0" parTransId="{17AA758F-7BA3-4443-831C-E89486A050E5}" sibTransId="{F087C984-CD13-46B1-B759-ACCAF065E921}"/>
    <dgm:cxn modelId="{327890B2-52C9-4F9A-8199-8705D203974E}" type="presOf" srcId="{FD34F1CF-946D-4176-A73B-0651B2CB35E5}" destId="{314293A2-411A-48B5-BFEE-5C65419DC87B}" srcOrd="0" destOrd="0" presId="urn:microsoft.com/office/officeart/2005/8/layout/vList2"/>
    <dgm:cxn modelId="{4E981BC7-5F89-45AA-88B1-C09E66214E13}" type="presOf" srcId="{1D275CA0-DA33-41B8-8BAC-E0D89A23F282}" destId="{F452E6F5-9C3E-4CE0-8C03-970D5E787538}" srcOrd="0" destOrd="0" presId="urn:microsoft.com/office/officeart/2005/8/layout/vList2"/>
    <dgm:cxn modelId="{9B9D42F0-C427-447C-A8F2-96C0508E1C8D}" srcId="{2201091A-6919-48BE-B2B2-CD38FF63A224}" destId="{1A2C3464-03CE-4C8F-B5B5-562DA40ECB2B}" srcOrd="1" destOrd="0" parTransId="{E1B0E0D0-F05F-44EB-BA4B-4A16BE84E8EA}" sibTransId="{647FEE4D-5C64-4EEE-AC47-9238288ECB67}"/>
    <dgm:cxn modelId="{FFDE2DFB-9966-44A3-A910-C945AED63E29}" srcId="{2201091A-6919-48BE-B2B2-CD38FF63A224}" destId="{B712A3A3-2EF3-42AC-88EC-06DAFE579AF2}" srcOrd="4" destOrd="0" parTransId="{4A5AD61E-E5D8-44E2-85DE-2D32C17A5D13}" sibTransId="{CC5FFF0D-4089-416A-B4A9-5266C02B7CD9}"/>
    <dgm:cxn modelId="{971652DA-31A9-4F9A-8611-BE61DC402FB9}" type="presParOf" srcId="{88C1FCDA-8C67-4B60-A1E3-8906BAC41A7D}" destId="{87AC3F6E-DC3C-49E6-8147-82449C3B4DA9}" srcOrd="0" destOrd="0" presId="urn:microsoft.com/office/officeart/2005/8/layout/vList2"/>
    <dgm:cxn modelId="{CCF5526F-F127-4D37-870B-F3932DB55010}" type="presParOf" srcId="{88C1FCDA-8C67-4B60-A1E3-8906BAC41A7D}" destId="{58B97C53-2576-4374-B267-6B69D9CA43EF}" srcOrd="1" destOrd="0" presId="urn:microsoft.com/office/officeart/2005/8/layout/vList2"/>
    <dgm:cxn modelId="{803F03BB-0851-4574-8BD0-03FA140A771D}" type="presParOf" srcId="{88C1FCDA-8C67-4B60-A1E3-8906BAC41A7D}" destId="{31D3114F-97AF-4F13-B99C-A4AE6A9A61EF}" srcOrd="2" destOrd="0" presId="urn:microsoft.com/office/officeart/2005/8/layout/vList2"/>
    <dgm:cxn modelId="{5310DAFD-D68C-46F7-B46E-BA7C76ABA4B3}" type="presParOf" srcId="{88C1FCDA-8C67-4B60-A1E3-8906BAC41A7D}" destId="{2F196E03-1E99-4A61-BF9A-D0A6C8145A8B}" srcOrd="3" destOrd="0" presId="urn:microsoft.com/office/officeart/2005/8/layout/vList2"/>
    <dgm:cxn modelId="{3A467C50-A121-4E0C-9A4B-293CE34D603B}" type="presParOf" srcId="{88C1FCDA-8C67-4B60-A1E3-8906BAC41A7D}" destId="{F452E6F5-9C3E-4CE0-8C03-970D5E787538}" srcOrd="4" destOrd="0" presId="urn:microsoft.com/office/officeart/2005/8/layout/vList2"/>
    <dgm:cxn modelId="{4895C2F3-60B0-41B2-B043-E47604ADAAD5}" type="presParOf" srcId="{88C1FCDA-8C67-4B60-A1E3-8906BAC41A7D}" destId="{A590D000-3952-4CB0-98AD-5D28DC6C349B}" srcOrd="5" destOrd="0" presId="urn:microsoft.com/office/officeart/2005/8/layout/vList2"/>
    <dgm:cxn modelId="{7573003E-8A98-40B4-B80E-E22FA825DC55}" type="presParOf" srcId="{88C1FCDA-8C67-4B60-A1E3-8906BAC41A7D}" destId="{314293A2-411A-48B5-BFEE-5C65419DC87B}" srcOrd="6" destOrd="0" presId="urn:microsoft.com/office/officeart/2005/8/layout/vList2"/>
    <dgm:cxn modelId="{AF60FF65-F9A9-4C1D-89CE-6220CAB160D4}" type="presParOf" srcId="{88C1FCDA-8C67-4B60-A1E3-8906BAC41A7D}" destId="{65985EA0-0A83-4624-8A0E-3F64FE708A67}" srcOrd="7" destOrd="0" presId="urn:microsoft.com/office/officeart/2005/8/layout/vList2"/>
    <dgm:cxn modelId="{4FAF0CB8-0740-4F92-9781-E4ECD02A432F}" type="presParOf" srcId="{88C1FCDA-8C67-4B60-A1E3-8906BAC41A7D}" destId="{126CCBC4-F97A-464F-955C-41F0387CA838}" srcOrd="8" destOrd="0" presId="urn:microsoft.com/office/officeart/2005/8/layout/vList2"/>
    <dgm:cxn modelId="{8AAF8003-74BE-4CC8-9256-84FDD687715D}" type="presParOf" srcId="{88C1FCDA-8C67-4B60-A1E3-8906BAC41A7D}" destId="{090E6BDF-185E-483D-8DE4-EFDC9D650BC4}" srcOrd="9" destOrd="0" presId="urn:microsoft.com/office/officeart/2005/8/layout/vList2"/>
    <dgm:cxn modelId="{2211DDE4-12A9-4C4B-A025-A8DA12356270}" type="presParOf" srcId="{88C1FCDA-8C67-4B60-A1E3-8906BAC41A7D}" destId="{17DF80C3-C669-4149-AF81-9DDC5294161B}"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250C1A77-FC8D-4DDE-8DBE-3650535FF560}"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D9769EB9-E07D-447F-93C6-30C8022BEEBB}">
      <dgm:prSet/>
      <dgm:spPr/>
      <dgm:t>
        <a:bodyPr/>
        <a:lstStyle/>
        <a:p>
          <a:r>
            <a:rPr lang="en-GB" b="1" i="0"/>
            <a:t>Data Visualization:</a:t>
          </a:r>
          <a:r>
            <a:rPr lang="en-GB" b="0" i="0"/>
            <a:t> Start by plotting the time series data, which often consists of data points collected at different time intervals (e.g., daily, monthly, annually). This allows you to visualize the data's behaviour over time.</a:t>
          </a:r>
          <a:endParaRPr lang="en-US"/>
        </a:p>
      </dgm:t>
    </dgm:pt>
    <dgm:pt modelId="{B26E35EE-1D9E-46A2-8D8F-A6576D296334}" type="parTrans" cxnId="{BECD298A-4FCA-45AE-BB39-76E634AAAE67}">
      <dgm:prSet/>
      <dgm:spPr/>
      <dgm:t>
        <a:bodyPr/>
        <a:lstStyle/>
        <a:p>
          <a:endParaRPr lang="en-US"/>
        </a:p>
      </dgm:t>
    </dgm:pt>
    <dgm:pt modelId="{195A95BA-7AC0-4DB0-A068-340F78D917AE}" type="sibTrans" cxnId="{BECD298A-4FCA-45AE-BB39-76E634AAAE67}">
      <dgm:prSet/>
      <dgm:spPr/>
      <dgm:t>
        <a:bodyPr/>
        <a:lstStyle/>
        <a:p>
          <a:endParaRPr lang="en-US"/>
        </a:p>
      </dgm:t>
    </dgm:pt>
    <dgm:pt modelId="{0C85B462-D9B0-4B6F-A52D-28E0FB487D9B}">
      <dgm:prSet/>
      <dgm:spPr/>
      <dgm:t>
        <a:bodyPr/>
        <a:lstStyle/>
        <a:p>
          <a:r>
            <a:rPr lang="en-GB" b="1" i="0"/>
            <a:t>Smoothing Techniques:</a:t>
          </a:r>
          <a:r>
            <a:rPr lang="en-GB" b="0" i="0"/>
            <a:t> Apply smoothing techniques to remove short-term fluctuations and reveal the underlying trend. Common methods include moving averages and exponential smoothing.</a:t>
          </a:r>
          <a:endParaRPr lang="en-US"/>
        </a:p>
      </dgm:t>
    </dgm:pt>
    <dgm:pt modelId="{8D3D605C-A7E3-4F49-AFD5-B6C5B8B26F3E}" type="parTrans" cxnId="{B146C86D-7257-4F81-9EA7-2C60974159FB}">
      <dgm:prSet/>
      <dgm:spPr/>
      <dgm:t>
        <a:bodyPr/>
        <a:lstStyle/>
        <a:p>
          <a:endParaRPr lang="en-US"/>
        </a:p>
      </dgm:t>
    </dgm:pt>
    <dgm:pt modelId="{6CB95664-217E-42B2-B757-71C59828DCDE}" type="sibTrans" cxnId="{B146C86D-7257-4F81-9EA7-2C60974159FB}">
      <dgm:prSet/>
      <dgm:spPr/>
      <dgm:t>
        <a:bodyPr/>
        <a:lstStyle/>
        <a:p>
          <a:endParaRPr lang="en-US"/>
        </a:p>
      </dgm:t>
    </dgm:pt>
    <dgm:pt modelId="{17F185D3-35A3-45FD-93AF-BF406AA8A4A2}" type="pres">
      <dgm:prSet presAssocID="{250C1A77-FC8D-4DDE-8DBE-3650535FF560}" presName="linear" presStyleCnt="0">
        <dgm:presLayoutVars>
          <dgm:animLvl val="lvl"/>
          <dgm:resizeHandles val="exact"/>
        </dgm:presLayoutVars>
      </dgm:prSet>
      <dgm:spPr/>
    </dgm:pt>
    <dgm:pt modelId="{7B13521B-B5B4-4191-AF13-A2E4C2479157}" type="pres">
      <dgm:prSet presAssocID="{D9769EB9-E07D-447F-93C6-30C8022BEEBB}" presName="parentText" presStyleLbl="node1" presStyleIdx="0" presStyleCnt="2">
        <dgm:presLayoutVars>
          <dgm:chMax val="0"/>
          <dgm:bulletEnabled val="1"/>
        </dgm:presLayoutVars>
      </dgm:prSet>
      <dgm:spPr/>
    </dgm:pt>
    <dgm:pt modelId="{5895FB13-A821-4EBB-8606-EFFAE24307A8}" type="pres">
      <dgm:prSet presAssocID="{195A95BA-7AC0-4DB0-A068-340F78D917AE}" presName="spacer" presStyleCnt="0"/>
      <dgm:spPr/>
    </dgm:pt>
    <dgm:pt modelId="{B21C1C72-F06E-4294-B8A9-DDAD4B8CB382}" type="pres">
      <dgm:prSet presAssocID="{0C85B462-D9B0-4B6F-A52D-28E0FB487D9B}" presName="parentText" presStyleLbl="node1" presStyleIdx="1" presStyleCnt="2">
        <dgm:presLayoutVars>
          <dgm:chMax val="0"/>
          <dgm:bulletEnabled val="1"/>
        </dgm:presLayoutVars>
      </dgm:prSet>
      <dgm:spPr/>
    </dgm:pt>
  </dgm:ptLst>
  <dgm:cxnLst>
    <dgm:cxn modelId="{0DC5840A-D995-483C-99B9-7539B14B7C53}" type="presOf" srcId="{250C1A77-FC8D-4DDE-8DBE-3650535FF560}" destId="{17F185D3-35A3-45FD-93AF-BF406AA8A4A2}" srcOrd="0" destOrd="0" presId="urn:microsoft.com/office/officeart/2005/8/layout/vList2"/>
    <dgm:cxn modelId="{B146C86D-7257-4F81-9EA7-2C60974159FB}" srcId="{250C1A77-FC8D-4DDE-8DBE-3650535FF560}" destId="{0C85B462-D9B0-4B6F-A52D-28E0FB487D9B}" srcOrd="1" destOrd="0" parTransId="{8D3D605C-A7E3-4F49-AFD5-B6C5B8B26F3E}" sibTransId="{6CB95664-217E-42B2-B757-71C59828DCDE}"/>
    <dgm:cxn modelId="{F8FA6F57-8823-4B37-994A-A752942D36BD}" type="presOf" srcId="{D9769EB9-E07D-447F-93C6-30C8022BEEBB}" destId="{7B13521B-B5B4-4191-AF13-A2E4C2479157}" srcOrd="0" destOrd="0" presId="urn:microsoft.com/office/officeart/2005/8/layout/vList2"/>
    <dgm:cxn modelId="{BECD298A-4FCA-45AE-BB39-76E634AAAE67}" srcId="{250C1A77-FC8D-4DDE-8DBE-3650535FF560}" destId="{D9769EB9-E07D-447F-93C6-30C8022BEEBB}" srcOrd="0" destOrd="0" parTransId="{B26E35EE-1D9E-46A2-8D8F-A6576D296334}" sibTransId="{195A95BA-7AC0-4DB0-A068-340F78D917AE}"/>
    <dgm:cxn modelId="{DFB8C18E-F58C-4D7E-8F05-5C0DECC72B8C}" type="presOf" srcId="{0C85B462-D9B0-4B6F-A52D-28E0FB487D9B}" destId="{B21C1C72-F06E-4294-B8A9-DDAD4B8CB382}" srcOrd="0" destOrd="0" presId="urn:microsoft.com/office/officeart/2005/8/layout/vList2"/>
    <dgm:cxn modelId="{9E54690C-5CC7-4CA4-BCAA-AD062042A651}" type="presParOf" srcId="{17F185D3-35A3-45FD-93AF-BF406AA8A4A2}" destId="{7B13521B-B5B4-4191-AF13-A2E4C2479157}" srcOrd="0" destOrd="0" presId="urn:microsoft.com/office/officeart/2005/8/layout/vList2"/>
    <dgm:cxn modelId="{82309DF2-B0D9-41AD-B84F-B0C3F8A352AD}" type="presParOf" srcId="{17F185D3-35A3-45FD-93AF-BF406AA8A4A2}" destId="{5895FB13-A821-4EBB-8606-EFFAE24307A8}" srcOrd="1" destOrd="0" presId="urn:microsoft.com/office/officeart/2005/8/layout/vList2"/>
    <dgm:cxn modelId="{8B8E5213-9F09-412B-A9FF-0A97574E028A}" type="presParOf" srcId="{17F185D3-35A3-45FD-93AF-BF406AA8A4A2}" destId="{B21C1C72-F06E-4294-B8A9-DDAD4B8CB382}"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60AE9B64-D8A1-474B-AD3F-108F839DB62D}" type="doc">
      <dgm:prSet loTypeId="urn:microsoft.com/office/officeart/2016/7/layout/RepeatingBendingProcessNew" loCatId="process" qsTypeId="urn:microsoft.com/office/officeart/2005/8/quickstyle/simple1" qsCatId="simple" csTypeId="urn:microsoft.com/office/officeart/2005/8/colors/colorful2" csCatId="colorful" phldr="1"/>
      <dgm:spPr/>
      <dgm:t>
        <a:bodyPr/>
        <a:lstStyle/>
        <a:p>
          <a:endParaRPr lang="en-US"/>
        </a:p>
      </dgm:t>
    </dgm:pt>
    <dgm:pt modelId="{C6008166-6609-4327-834E-0AC2A6620810}">
      <dgm:prSet/>
      <dgm:spPr/>
      <dgm:t>
        <a:bodyPr/>
        <a:lstStyle/>
        <a:p>
          <a:pPr>
            <a:lnSpc>
              <a:spcPct val="100000"/>
            </a:lnSpc>
          </a:pPr>
          <a:r>
            <a:rPr lang="en-GB" b="1" i="0"/>
            <a:t>Statistical Analysis:</a:t>
          </a:r>
          <a:r>
            <a:rPr lang="en-GB" b="0" i="0"/>
            <a:t> Use statistical methods to quantify the trend. This might involve fitting linear or nonlinear regression models to the data to estimate the trend's slope or direction.</a:t>
          </a:r>
          <a:endParaRPr lang="en-US"/>
        </a:p>
      </dgm:t>
    </dgm:pt>
    <dgm:pt modelId="{92FB7BF9-BA03-4F3B-B251-EC7BE03CA4BB}" type="parTrans" cxnId="{15D8718C-3D51-4959-9965-E8AB2125BE29}">
      <dgm:prSet/>
      <dgm:spPr/>
      <dgm:t>
        <a:bodyPr/>
        <a:lstStyle/>
        <a:p>
          <a:endParaRPr lang="en-US"/>
        </a:p>
      </dgm:t>
    </dgm:pt>
    <dgm:pt modelId="{20267AA0-818B-475C-9787-20C9F51679FF}" type="sibTrans" cxnId="{15D8718C-3D51-4959-9965-E8AB2125BE29}">
      <dgm:prSet/>
      <dgm:spPr/>
      <dgm:t>
        <a:bodyPr/>
        <a:lstStyle/>
        <a:p>
          <a:endParaRPr lang="en-US"/>
        </a:p>
      </dgm:t>
    </dgm:pt>
    <dgm:pt modelId="{4B86F770-B279-442B-AFED-10925C6E83E5}">
      <dgm:prSet/>
      <dgm:spPr/>
      <dgm:t>
        <a:bodyPr/>
        <a:lstStyle/>
        <a:p>
          <a:pPr>
            <a:lnSpc>
              <a:spcPct val="100000"/>
            </a:lnSpc>
          </a:pPr>
          <a:r>
            <a:rPr lang="en-GB" b="1" i="0"/>
            <a:t>Interpretation:</a:t>
          </a:r>
          <a:r>
            <a:rPr lang="en-GB" b="0" i="0"/>
            <a:t> Interpret the results of trend analysis. Determine whether the data shows a significant and meaningful trend. If a trend is present, assess its implications and potential causes.</a:t>
          </a:r>
          <a:endParaRPr lang="en-US"/>
        </a:p>
      </dgm:t>
    </dgm:pt>
    <dgm:pt modelId="{3A232995-52E2-402C-96AD-AAC064D98DBD}" type="parTrans" cxnId="{DBDEC999-4D19-4128-96A6-520773B5D142}">
      <dgm:prSet/>
      <dgm:spPr/>
      <dgm:t>
        <a:bodyPr/>
        <a:lstStyle/>
        <a:p>
          <a:endParaRPr lang="en-US"/>
        </a:p>
      </dgm:t>
    </dgm:pt>
    <dgm:pt modelId="{1664AAB4-53E0-44A1-B4E9-F1374679D346}" type="sibTrans" cxnId="{DBDEC999-4D19-4128-96A6-520773B5D142}">
      <dgm:prSet/>
      <dgm:spPr/>
      <dgm:t>
        <a:bodyPr/>
        <a:lstStyle/>
        <a:p>
          <a:endParaRPr lang="en-US"/>
        </a:p>
      </dgm:t>
    </dgm:pt>
    <dgm:pt modelId="{898145B2-32ED-44D5-87D1-97E5B20EFDC1}" type="pres">
      <dgm:prSet presAssocID="{60AE9B64-D8A1-474B-AD3F-108F839DB62D}" presName="Name0" presStyleCnt="0">
        <dgm:presLayoutVars>
          <dgm:dir/>
          <dgm:resizeHandles val="exact"/>
        </dgm:presLayoutVars>
      </dgm:prSet>
      <dgm:spPr/>
    </dgm:pt>
    <dgm:pt modelId="{5AF8EBBF-4684-4425-84AB-E1D6FC23A797}" type="pres">
      <dgm:prSet presAssocID="{C6008166-6609-4327-834E-0AC2A6620810}" presName="node" presStyleLbl="node1" presStyleIdx="0" presStyleCnt="2">
        <dgm:presLayoutVars>
          <dgm:bulletEnabled val="1"/>
        </dgm:presLayoutVars>
      </dgm:prSet>
      <dgm:spPr/>
    </dgm:pt>
    <dgm:pt modelId="{20CA93F1-6B8E-4525-80B0-2D1C90CA8C3E}" type="pres">
      <dgm:prSet presAssocID="{20267AA0-818B-475C-9787-20C9F51679FF}" presName="sibTrans" presStyleLbl="sibTrans1D1" presStyleIdx="0" presStyleCnt="1"/>
      <dgm:spPr/>
    </dgm:pt>
    <dgm:pt modelId="{E7C78EE0-CB00-47E7-9D74-45259CDC0282}" type="pres">
      <dgm:prSet presAssocID="{20267AA0-818B-475C-9787-20C9F51679FF}" presName="connectorText" presStyleLbl="sibTrans1D1" presStyleIdx="0" presStyleCnt="1"/>
      <dgm:spPr/>
    </dgm:pt>
    <dgm:pt modelId="{9976D5B8-B3B3-47D2-89F8-D0C4D0063732}" type="pres">
      <dgm:prSet presAssocID="{4B86F770-B279-442B-AFED-10925C6E83E5}" presName="node" presStyleLbl="node1" presStyleIdx="1" presStyleCnt="2">
        <dgm:presLayoutVars>
          <dgm:bulletEnabled val="1"/>
        </dgm:presLayoutVars>
      </dgm:prSet>
      <dgm:spPr/>
    </dgm:pt>
  </dgm:ptLst>
  <dgm:cxnLst>
    <dgm:cxn modelId="{76484F0F-3048-4E60-9C26-A35846EBBBC4}" type="presOf" srcId="{60AE9B64-D8A1-474B-AD3F-108F839DB62D}" destId="{898145B2-32ED-44D5-87D1-97E5B20EFDC1}" srcOrd="0" destOrd="0" presId="urn:microsoft.com/office/officeart/2016/7/layout/RepeatingBendingProcessNew"/>
    <dgm:cxn modelId="{996BE85D-1336-4ABD-86C4-BC1A7FB7D10F}" type="presOf" srcId="{4B86F770-B279-442B-AFED-10925C6E83E5}" destId="{9976D5B8-B3B3-47D2-89F8-D0C4D0063732}" srcOrd="0" destOrd="0" presId="urn:microsoft.com/office/officeart/2016/7/layout/RepeatingBendingProcessNew"/>
    <dgm:cxn modelId="{2C6E6670-62D4-49BE-BB5A-FD23C6A8EEB3}" type="presOf" srcId="{C6008166-6609-4327-834E-0AC2A6620810}" destId="{5AF8EBBF-4684-4425-84AB-E1D6FC23A797}" srcOrd="0" destOrd="0" presId="urn:microsoft.com/office/officeart/2016/7/layout/RepeatingBendingProcessNew"/>
    <dgm:cxn modelId="{E8827E55-1E2C-4482-A00D-421B7C711330}" type="presOf" srcId="{20267AA0-818B-475C-9787-20C9F51679FF}" destId="{E7C78EE0-CB00-47E7-9D74-45259CDC0282}" srcOrd="1" destOrd="0" presId="urn:microsoft.com/office/officeart/2016/7/layout/RepeatingBendingProcessNew"/>
    <dgm:cxn modelId="{15D8718C-3D51-4959-9965-E8AB2125BE29}" srcId="{60AE9B64-D8A1-474B-AD3F-108F839DB62D}" destId="{C6008166-6609-4327-834E-0AC2A6620810}" srcOrd="0" destOrd="0" parTransId="{92FB7BF9-BA03-4F3B-B251-EC7BE03CA4BB}" sibTransId="{20267AA0-818B-475C-9787-20C9F51679FF}"/>
    <dgm:cxn modelId="{DBDEC999-4D19-4128-96A6-520773B5D142}" srcId="{60AE9B64-D8A1-474B-AD3F-108F839DB62D}" destId="{4B86F770-B279-442B-AFED-10925C6E83E5}" srcOrd="1" destOrd="0" parTransId="{3A232995-52E2-402C-96AD-AAC064D98DBD}" sibTransId="{1664AAB4-53E0-44A1-B4E9-F1374679D346}"/>
    <dgm:cxn modelId="{27C156C0-730D-4616-A590-7DDAE331A3FA}" type="presOf" srcId="{20267AA0-818B-475C-9787-20C9F51679FF}" destId="{20CA93F1-6B8E-4525-80B0-2D1C90CA8C3E}" srcOrd="0" destOrd="0" presId="urn:microsoft.com/office/officeart/2016/7/layout/RepeatingBendingProcessNew"/>
    <dgm:cxn modelId="{D5654F07-2123-4E2E-B9DD-3EB3A0491BE4}" type="presParOf" srcId="{898145B2-32ED-44D5-87D1-97E5B20EFDC1}" destId="{5AF8EBBF-4684-4425-84AB-E1D6FC23A797}" srcOrd="0" destOrd="0" presId="urn:microsoft.com/office/officeart/2016/7/layout/RepeatingBendingProcessNew"/>
    <dgm:cxn modelId="{226140CF-3C87-4557-9A8E-2942D4ADE578}" type="presParOf" srcId="{898145B2-32ED-44D5-87D1-97E5B20EFDC1}" destId="{20CA93F1-6B8E-4525-80B0-2D1C90CA8C3E}" srcOrd="1" destOrd="0" presId="urn:microsoft.com/office/officeart/2016/7/layout/RepeatingBendingProcessNew"/>
    <dgm:cxn modelId="{14191F03-B9E8-46FB-BA94-C1B9132A4B51}" type="presParOf" srcId="{20CA93F1-6B8E-4525-80B0-2D1C90CA8C3E}" destId="{E7C78EE0-CB00-47E7-9D74-45259CDC0282}" srcOrd="0" destOrd="0" presId="urn:microsoft.com/office/officeart/2016/7/layout/RepeatingBendingProcessNew"/>
    <dgm:cxn modelId="{ED532C2E-735D-4860-BAC8-EC4F5AF59110}" type="presParOf" srcId="{898145B2-32ED-44D5-87D1-97E5B20EFDC1}" destId="{9976D5B8-B3B3-47D2-89F8-D0C4D0063732}" srcOrd="2"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689FBC00-8200-4994-A35F-252792FD1A75}"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BF8317B9-0292-477E-B9BA-47D81EACF0B5}">
      <dgm:prSet/>
      <dgm:spPr/>
      <dgm:t>
        <a:bodyPr/>
        <a:lstStyle/>
        <a:p>
          <a:r>
            <a:rPr lang="en-GB" b="0" i="0"/>
            <a:t>Trend analysis has numerous applications across various domains. Some examples include: Financial Markets: Analysing stock prices, commodity prices, and economic indicators to identify long-term trends.</a:t>
          </a:r>
          <a:endParaRPr lang="en-US"/>
        </a:p>
      </dgm:t>
    </dgm:pt>
    <dgm:pt modelId="{9529BBDD-1F4F-4900-9D9A-9D7DC9101C0F}" type="parTrans" cxnId="{2EB30BCC-E907-48B1-BB05-0F9B34E9E658}">
      <dgm:prSet/>
      <dgm:spPr/>
      <dgm:t>
        <a:bodyPr/>
        <a:lstStyle/>
        <a:p>
          <a:endParaRPr lang="en-US"/>
        </a:p>
      </dgm:t>
    </dgm:pt>
    <dgm:pt modelId="{2024CBC6-3C3D-452C-821F-F5CC9A7E0111}" type="sibTrans" cxnId="{2EB30BCC-E907-48B1-BB05-0F9B34E9E658}">
      <dgm:prSet/>
      <dgm:spPr/>
      <dgm:t>
        <a:bodyPr/>
        <a:lstStyle/>
        <a:p>
          <a:endParaRPr lang="en-US"/>
        </a:p>
      </dgm:t>
    </dgm:pt>
    <dgm:pt modelId="{B57FB0A9-0597-4FB1-9A59-A7062D75856E}">
      <dgm:prSet/>
      <dgm:spPr/>
      <dgm:t>
        <a:bodyPr/>
        <a:lstStyle/>
        <a:p>
          <a:r>
            <a:rPr lang="en-GB" b="0" i="0"/>
            <a:t>Environmental Science: Examining climate data to understand temperature trends and climate change.</a:t>
          </a:r>
          <a:endParaRPr lang="en-US"/>
        </a:p>
      </dgm:t>
    </dgm:pt>
    <dgm:pt modelId="{68D6543A-E5A9-412E-AC53-83518D0D1536}" type="parTrans" cxnId="{C018E2CB-FF70-4169-874C-6CEFB804625A}">
      <dgm:prSet/>
      <dgm:spPr/>
      <dgm:t>
        <a:bodyPr/>
        <a:lstStyle/>
        <a:p>
          <a:endParaRPr lang="en-US"/>
        </a:p>
      </dgm:t>
    </dgm:pt>
    <dgm:pt modelId="{94EA9B61-1E0D-4755-A848-E4E45AADD05E}" type="sibTrans" cxnId="{C018E2CB-FF70-4169-874C-6CEFB804625A}">
      <dgm:prSet/>
      <dgm:spPr/>
      <dgm:t>
        <a:bodyPr/>
        <a:lstStyle/>
        <a:p>
          <a:endParaRPr lang="en-US"/>
        </a:p>
      </dgm:t>
    </dgm:pt>
    <dgm:pt modelId="{CC9546C6-C1E3-414C-9832-A4523C57BA43}">
      <dgm:prSet/>
      <dgm:spPr/>
      <dgm:t>
        <a:bodyPr/>
        <a:lstStyle/>
        <a:p>
          <a:r>
            <a:rPr lang="en-GB" b="0" i="0"/>
            <a:t>Business and Marketing: Evaluating sales data to uncover long-term growth or decline in product demand.</a:t>
          </a:r>
          <a:endParaRPr lang="en-US"/>
        </a:p>
      </dgm:t>
    </dgm:pt>
    <dgm:pt modelId="{4742269E-2295-4F11-8BDF-67DD48A96B08}" type="parTrans" cxnId="{990B24ED-95E0-4BA0-8651-7FD6DC4B53B2}">
      <dgm:prSet/>
      <dgm:spPr/>
      <dgm:t>
        <a:bodyPr/>
        <a:lstStyle/>
        <a:p>
          <a:endParaRPr lang="en-US"/>
        </a:p>
      </dgm:t>
    </dgm:pt>
    <dgm:pt modelId="{AA321AFE-C700-4C54-99CA-E5F109B570EA}" type="sibTrans" cxnId="{990B24ED-95E0-4BA0-8651-7FD6DC4B53B2}">
      <dgm:prSet/>
      <dgm:spPr/>
      <dgm:t>
        <a:bodyPr/>
        <a:lstStyle/>
        <a:p>
          <a:endParaRPr lang="en-US"/>
        </a:p>
      </dgm:t>
    </dgm:pt>
    <dgm:pt modelId="{5264E666-596E-4BA8-BD89-06D8B5B9C48B}">
      <dgm:prSet/>
      <dgm:spPr/>
      <dgm:t>
        <a:bodyPr/>
        <a:lstStyle/>
        <a:p>
          <a:r>
            <a:rPr lang="en-GB" b="0" i="0"/>
            <a:t>Demographics: Studying population data to observe trends in birth rates, aging populations, or migration patterns.</a:t>
          </a:r>
          <a:endParaRPr lang="en-US"/>
        </a:p>
      </dgm:t>
    </dgm:pt>
    <dgm:pt modelId="{6ADBC397-6DFF-48CC-8EE5-DA70FB72F9DF}" type="parTrans" cxnId="{9440E1F8-AE5D-4460-B7FC-E2C889931E1E}">
      <dgm:prSet/>
      <dgm:spPr/>
      <dgm:t>
        <a:bodyPr/>
        <a:lstStyle/>
        <a:p>
          <a:endParaRPr lang="en-US"/>
        </a:p>
      </dgm:t>
    </dgm:pt>
    <dgm:pt modelId="{AD3A69CF-FCA7-42A6-86A6-D48B32E1DA12}" type="sibTrans" cxnId="{9440E1F8-AE5D-4460-B7FC-E2C889931E1E}">
      <dgm:prSet/>
      <dgm:spPr/>
      <dgm:t>
        <a:bodyPr/>
        <a:lstStyle/>
        <a:p>
          <a:endParaRPr lang="en-US"/>
        </a:p>
      </dgm:t>
    </dgm:pt>
    <dgm:pt modelId="{327BFA7F-1927-487C-95DD-FB6F1B72629B}" type="pres">
      <dgm:prSet presAssocID="{689FBC00-8200-4994-A35F-252792FD1A75}" presName="linear" presStyleCnt="0">
        <dgm:presLayoutVars>
          <dgm:animLvl val="lvl"/>
          <dgm:resizeHandles val="exact"/>
        </dgm:presLayoutVars>
      </dgm:prSet>
      <dgm:spPr/>
    </dgm:pt>
    <dgm:pt modelId="{B0D80552-3516-401A-B53E-63B64CEE1DBC}" type="pres">
      <dgm:prSet presAssocID="{BF8317B9-0292-477E-B9BA-47D81EACF0B5}" presName="parentText" presStyleLbl="node1" presStyleIdx="0" presStyleCnt="4">
        <dgm:presLayoutVars>
          <dgm:chMax val="0"/>
          <dgm:bulletEnabled val="1"/>
        </dgm:presLayoutVars>
      </dgm:prSet>
      <dgm:spPr/>
    </dgm:pt>
    <dgm:pt modelId="{985B4C8C-8BBE-4A8A-8B37-ED85A68B4A34}" type="pres">
      <dgm:prSet presAssocID="{2024CBC6-3C3D-452C-821F-F5CC9A7E0111}" presName="spacer" presStyleCnt="0"/>
      <dgm:spPr/>
    </dgm:pt>
    <dgm:pt modelId="{8AA0334F-B0D7-4F5D-8CAF-BC0D2EE7ECE7}" type="pres">
      <dgm:prSet presAssocID="{B57FB0A9-0597-4FB1-9A59-A7062D75856E}" presName="parentText" presStyleLbl="node1" presStyleIdx="1" presStyleCnt="4">
        <dgm:presLayoutVars>
          <dgm:chMax val="0"/>
          <dgm:bulletEnabled val="1"/>
        </dgm:presLayoutVars>
      </dgm:prSet>
      <dgm:spPr/>
    </dgm:pt>
    <dgm:pt modelId="{8677951A-903C-43EA-9B13-F295A08E1F99}" type="pres">
      <dgm:prSet presAssocID="{94EA9B61-1E0D-4755-A848-E4E45AADD05E}" presName="spacer" presStyleCnt="0"/>
      <dgm:spPr/>
    </dgm:pt>
    <dgm:pt modelId="{49665A13-4106-464B-AB24-89963526DCCC}" type="pres">
      <dgm:prSet presAssocID="{CC9546C6-C1E3-414C-9832-A4523C57BA43}" presName="parentText" presStyleLbl="node1" presStyleIdx="2" presStyleCnt="4">
        <dgm:presLayoutVars>
          <dgm:chMax val="0"/>
          <dgm:bulletEnabled val="1"/>
        </dgm:presLayoutVars>
      </dgm:prSet>
      <dgm:spPr/>
    </dgm:pt>
    <dgm:pt modelId="{39DDEB75-22E5-4D12-9A26-1B7F94C7AC0E}" type="pres">
      <dgm:prSet presAssocID="{AA321AFE-C700-4C54-99CA-E5F109B570EA}" presName="spacer" presStyleCnt="0"/>
      <dgm:spPr/>
    </dgm:pt>
    <dgm:pt modelId="{48EF0C68-69CC-48A1-925C-728FAB0F6525}" type="pres">
      <dgm:prSet presAssocID="{5264E666-596E-4BA8-BD89-06D8B5B9C48B}" presName="parentText" presStyleLbl="node1" presStyleIdx="3" presStyleCnt="4">
        <dgm:presLayoutVars>
          <dgm:chMax val="0"/>
          <dgm:bulletEnabled val="1"/>
        </dgm:presLayoutVars>
      </dgm:prSet>
      <dgm:spPr/>
    </dgm:pt>
  </dgm:ptLst>
  <dgm:cxnLst>
    <dgm:cxn modelId="{8D26580F-EB5E-4155-90D7-4BC404CE3102}" type="presOf" srcId="{5264E666-596E-4BA8-BD89-06D8B5B9C48B}" destId="{48EF0C68-69CC-48A1-925C-728FAB0F6525}" srcOrd="0" destOrd="0" presId="urn:microsoft.com/office/officeart/2005/8/layout/vList2"/>
    <dgm:cxn modelId="{E9B1FA15-92DF-4941-A9B2-381488DBD962}" type="presOf" srcId="{689FBC00-8200-4994-A35F-252792FD1A75}" destId="{327BFA7F-1927-487C-95DD-FB6F1B72629B}" srcOrd="0" destOrd="0" presId="urn:microsoft.com/office/officeart/2005/8/layout/vList2"/>
    <dgm:cxn modelId="{447DAA9B-9190-4004-972D-148C36030376}" type="presOf" srcId="{B57FB0A9-0597-4FB1-9A59-A7062D75856E}" destId="{8AA0334F-B0D7-4F5D-8CAF-BC0D2EE7ECE7}" srcOrd="0" destOrd="0" presId="urn:microsoft.com/office/officeart/2005/8/layout/vList2"/>
    <dgm:cxn modelId="{A586FDB2-575B-439A-96E1-89E80A2700D4}" type="presOf" srcId="{CC9546C6-C1E3-414C-9832-A4523C57BA43}" destId="{49665A13-4106-464B-AB24-89963526DCCC}" srcOrd="0" destOrd="0" presId="urn:microsoft.com/office/officeart/2005/8/layout/vList2"/>
    <dgm:cxn modelId="{C018E2CB-FF70-4169-874C-6CEFB804625A}" srcId="{689FBC00-8200-4994-A35F-252792FD1A75}" destId="{B57FB0A9-0597-4FB1-9A59-A7062D75856E}" srcOrd="1" destOrd="0" parTransId="{68D6543A-E5A9-412E-AC53-83518D0D1536}" sibTransId="{94EA9B61-1E0D-4755-A848-E4E45AADD05E}"/>
    <dgm:cxn modelId="{2EB30BCC-E907-48B1-BB05-0F9B34E9E658}" srcId="{689FBC00-8200-4994-A35F-252792FD1A75}" destId="{BF8317B9-0292-477E-B9BA-47D81EACF0B5}" srcOrd="0" destOrd="0" parTransId="{9529BBDD-1F4F-4900-9D9A-9D7DC9101C0F}" sibTransId="{2024CBC6-3C3D-452C-821F-F5CC9A7E0111}"/>
    <dgm:cxn modelId="{990B24ED-95E0-4BA0-8651-7FD6DC4B53B2}" srcId="{689FBC00-8200-4994-A35F-252792FD1A75}" destId="{CC9546C6-C1E3-414C-9832-A4523C57BA43}" srcOrd="2" destOrd="0" parTransId="{4742269E-2295-4F11-8BDF-67DD48A96B08}" sibTransId="{AA321AFE-C700-4C54-99CA-E5F109B570EA}"/>
    <dgm:cxn modelId="{9722CEF2-7EA8-49DE-BA55-1B261BCA294F}" type="presOf" srcId="{BF8317B9-0292-477E-B9BA-47D81EACF0B5}" destId="{B0D80552-3516-401A-B53E-63B64CEE1DBC}" srcOrd="0" destOrd="0" presId="urn:microsoft.com/office/officeart/2005/8/layout/vList2"/>
    <dgm:cxn modelId="{9440E1F8-AE5D-4460-B7FC-E2C889931E1E}" srcId="{689FBC00-8200-4994-A35F-252792FD1A75}" destId="{5264E666-596E-4BA8-BD89-06D8B5B9C48B}" srcOrd="3" destOrd="0" parTransId="{6ADBC397-6DFF-48CC-8EE5-DA70FB72F9DF}" sibTransId="{AD3A69CF-FCA7-42A6-86A6-D48B32E1DA12}"/>
    <dgm:cxn modelId="{E9DB6E52-B247-4A81-8AF5-6E6A309DD8DF}" type="presParOf" srcId="{327BFA7F-1927-487C-95DD-FB6F1B72629B}" destId="{B0D80552-3516-401A-B53E-63B64CEE1DBC}" srcOrd="0" destOrd="0" presId="urn:microsoft.com/office/officeart/2005/8/layout/vList2"/>
    <dgm:cxn modelId="{F0BA63E5-22A1-44AD-BDDB-4E476F149087}" type="presParOf" srcId="{327BFA7F-1927-487C-95DD-FB6F1B72629B}" destId="{985B4C8C-8BBE-4A8A-8B37-ED85A68B4A34}" srcOrd="1" destOrd="0" presId="urn:microsoft.com/office/officeart/2005/8/layout/vList2"/>
    <dgm:cxn modelId="{813F436E-CBD4-48D8-B30A-CB2C08B28BA7}" type="presParOf" srcId="{327BFA7F-1927-487C-95DD-FB6F1B72629B}" destId="{8AA0334F-B0D7-4F5D-8CAF-BC0D2EE7ECE7}" srcOrd="2" destOrd="0" presId="urn:microsoft.com/office/officeart/2005/8/layout/vList2"/>
    <dgm:cxn modelId="{747C6570-B202-45D8-AFB9-E8053446CB33}" type="presParOf" srcId="{327BFA7F-1927-487C-95DD-FB6F1B72629B}" destId="{8677951A-903C-43EA-9B13-F295A08E1F99}" srcOrd="3" destOrd="0" presId="urn:microsoft.com/office/officeart/2005/8/layout/vList2"/>
    <dgm:cxn modelId="{553571DA-2C6F-45AD-914B-87875AC4F883}" type="presParOf" srcId="{327BFA7F-1927-487C-95DD-FB6F1B72629B}" destId="{49665A13-4106-464B-AB24-89963526DCCC}" srcOrd="4" destOrd="0" presId="urn:microsoft.com/office/officeart/2005/8/layout/vList2"/>
    <dgm:cxn modelId="{A2E33ADE-343C-4D88-B858-4866AFD883F9}" type="presParOf" srcId="{327BFA7F-1927-487C-95DD-FB6F1B72629B}" destId="{39DDEB75-22E5-4D12-9A26-1B7F94C7AC0E}" srcOrd="5" destOrd="0" presId="urn:microsoft.com/office/officeart/2005/8/layout/vList2"/>
    <dgm:cxn modelId="{A9730AD4-C5DC-4334-98C4-05FBA8529737}" type="presParOf" srcId="{327BFA7F-1927-487C-95DD-FB6F1B72629B}" destId="{48EF0C68-69CC-48A1-925C-728FAB0F6525}"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29A76DE3-DE13-46D9-945B-EA4EDF7A3AA1}"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AB4E6676-8E9D-4531-A347-90EEEE6EF3B4}">
      <dgm:prSet/>
      <dgm:spPr/>
      <dgm:t>
        <a:bodyPr/>
        <a:lstStyle/>
        <a:p>
          <a:r>
            <a:rPr lang="en-GB" b="0" i="0"/>
            <a:t>The objectives of understanding irregular components in time series data include:</a:t>
          </a:r>
          <a:endParaRPr lang="en-US"/>
        </a:p>
      </dgm:t>
    </dgm:pt>
    <dgm:pt modelId="{F95F4974-4E72-475A-B14D-5D1AA3E7515D}" type="parTrans" cxnId="{C14C0CC4-FC73-457E-974D-AC50EBB81622}">
      <dgm:prSet/>
      <dgm:spPr/>
      <dgm:t>
        <a:bodyPr/>
        <a:lstStyle/>
        <a:p>
          <a:endParaRPr lang="en-US"/>
        </a:p>
      </dgm:t>
    </dgm:pt>
    <dgm:pt modelId="{16DCF7D0-1A80-4B0A-BDF8-545E71913993}" type="sibTrans" cxnId="{C14C0CC4-FC73-457E-974D-AC50EBB81622}">
      <dgm:prSet/>
      <dgm:spPr/>
      <dgm:t>
        <a:bodyPr/>
        <a:lstStyle/>
        <a:p>
          <a:endParaRPr lang="en-US"/>
        </a:p>
      </dgm:t>
    </dgm:pt>
    <dgm:pt modelId="{647F0AC6-F0CA-47C3-B65C-7ABD7AEDDE73}">
      <dgm:prSet/>
      <dgm:spPr/>
      <dgm:t>
        <a:bodyPr/>
        <a:lstStyle/>
        <a:p>
          <a:r>
            <a:rPr lang="en-GB" b="0" i="0"/>
            <a:t>Identifying and quantifying the random variations that cannot be attributed to regular patterns.</a:t>
          </a:r>
          <a:endParaRPr lang="en-US"/>
        </a:p>
      </dgm:t>
    </dgm:pt>
    <dgm:pt modelId="{9AD05287-16B2-4961-9DB3-EA0704807011}" type="parTrans" cxnId="{1C9E4150-E917-47F1-9900-33201351F0B4}">
      <dgm:prSet/>
      <dgm:spPr/>
      <dgm:t>
        <a:bodyPr/>
        <a:lstStyle/>
        <a:p>
          <a:endParaRPr lang="en-US"/>
        </a:p>
      </dgm:t>
    </dgm:pt>
    <dgm:pt modelId="{641F6E7D-AA05-4C5B-B480-BE4787D98CEB}" type="sibTrans" cxnId="{1C9E4150-E917-47F1-9900-33201351F0B4}">
      <dgm:prSet/>
      <dgm:spPr/>
      <dgm:t>
        <a:bodyPr/>
        <a:lstStyle/>
        <a:p>
          <a:endParaRPr lang="en-US"/>
        </a:p>
      </dgm:t>
    </dgm:pt>
    <dgm:pt modelId="{D6BA3688-3F13-46D8-95ED-72F3E087A7AD}">
      <dgm:prSet/>
      <dgm:spPr/>
      <dgm:t>
        <a:bodyPr/>
        <a:lstStyle/>
        <a:p>
          <a:r>
            <a:rPr lang="en-GB" b="0" i="0"/>
            <a:t>Detecting outliers or extreme values that may indicate unusual events or measurement errors.</a:t>
          </a:r>
          <a:endParaRPr lang="en-US"/>
        </a:p>
      </dgm:t>
    </dgm:pt>
    <dgm:pt modelId="{F8CE7D6A-5C43-4021-9C37-B5745E128E6C}" type="parTrans" cxnId="{509E20AF-CBF5-4AC8-8670-5AABFD7C0367}">
      <dgm:prSet/>
      <dgm:spPr/>
      <dgm:t>
        <a:bodyPr/>
        <a:lstStyle/>
        <a:p>
          <a:endParaRPr lang="en-US"/>
        </a:p>
      </dgm:t>
    </dgm:pt>
    <dgm:pt modelId="{39845DA6-4711-464B-A3DC-CACE827E997A}" type="sibTrans" cxnId="{509E20AF-CBF5-4AC8-8670-5AABFD7C0367}">
      <dgm:prSet/>
      <dgm:spPr/>
      <dgm:t>
        <a:bodyPr/>
        <a:lstStyle/>
        <a:p>
          <a:endParaRPr lang="en-US"/>
        </a:p>
      </dgm:t>
    </dgm:pt>
    <dgm:pt modelId="{56FEBB6B-6F10-4041-B99F-6659A577F48B}">
      <dgm:prSet/>
      <dgm:spPr/>
      <dgm:t>
        <a:bodyPr/>
        <a:lstStyle/>
        <a:p>
          <a:r>
            <a:rPr lang="en-GB" b="0" i="0"/>
            <a:t>Assessing the overall stability and reliability of the time series data.</a:t>
          </a:r>
          <a:endParaRPr lang="en-US"/>
        </a:p>
      </dgm:t>
    </dgm:pt>
    <dgm:pt modelId="{A4212BA9-D813-4FCE-9300-BBE2D14B6E53}" type="parTrans" cxnId="{9A66DCF8-9A64-43F7-986C-AF9FB02BB785}">
      <dgm:prSet/>
      <dgm:spPr/>
      <dgm:t>
        <a:bodyPr/>
        <a:lstStyle/>
        <a:p>
          <a:endParaRPr lang="en-US"/>
        </a:p>
      </dgm:t>
    </dgm:pt>
    <dgm:pt modelId="{12FC42B3-97ED-4115-8722-7E95E8C15467}" type="sibTrans" cxnId="{9A66DCF8-9A64-43F7-986C-AF9FB02BB785}">
      <dgm:prSet/>
      <dgm:spPr/>
      <dgm:t>
        <a:bodyPr/>
        <a:lstStyle/>
        <a:p>
          <a:endParaRPr lang="en-US"/>
        </a:p>
      </dgm:t>
    </dgm:pt>
    <dgm:pt modelId="{A28C53AA-5C0A-4538-A6AB-2C0B0F7AC241}" type="pres">
      <dgm:prSet presAssocID="{29A76DE3-DE13-46D9-945B-EA4EDF7A3AA1}" presName="linear" presStyleCnt="0">
        <dgm:presLayoutVars>
          <dgm:animLvl val="lvl"/>
          <dgm:resizeHandles val="exact"/>
        </dgm:presLayoutVars>
      </dgm:prSet>
      <dgm:spPr/>
    </dgm:pt>
    <dgm:pt modelId="{8EB0F34A-47FF-4175-AF3D-018C29D5C502}" type="pres">
      <dgm:prSet presAssocID="{AB4E6676-8E9D-4531-A347-90EEEE6EF3B4}" presName="parentText" presStyleLbl="node1" presStyleIdx="0" presStyleCnt="4">
        <dgm:presLayoutVars>
          <dgm:chMax val="0"/>
          <dgm:bulletEnabled val="1"/>
        </dgm:presLayoutVars>
      </dgm:prSet>
      <dgm:spPr/>
    </dgm:pt>
    <dgm:pt modelId="{0B7A0898-B88D-40B8-80DB-38AA49C1C399}" type="pres">
      <dgm:prSet presAssocID="{16DCF7D0-1A80-4B0A-BDF8-545E71913993}" presName="spacer" presStyleCnt="0"/>
      <dgm:spPr/>
    </dgm:pt>
    <dgm:pt modelId="{F6D6C905-725F-4F89-A24C-F1BBA06A509D}" type="pres">
      <dgm:prSet presAssocID="{647F0AC6-F0CA-47C3-B65C-7ABD7AEDDE73}" presName="parentText" presStyleLbl="node1" presStyleIdx="1" presStyleCnt="4">
        <dgm:presLayoutVars>
          <dgm:chMax val="0"/>
          <dgm:bulletEnabled val="1"/>
        </dgm:presLayoutVars>
      </dgm:prSet>
      <dgm:spPr/>
    </dgm:pt>
    <dgm:pt modelId="{12B18A72-14FA-4096-B6BA-AB12FB1B027B}" type="pres">
      <dgm:prSet presAssocID="{641F6E7D-AA05-4C5B-B480-BE4787D98CEB}" presName="spacer" presStyleCnt="0"/>
      <dgm:spPr/>
    </dgm:pt>
    <dgm:pt modelId="{3CDA76FA-D43B-42B7-9DBA-7E14BE093C44}" type="pres">
      <dgm:prSet presAssocID="{D6BA3688-3F13-46D8-95ED-72F3E087A7AD}" presName="parentText" presStyleLbl="node1" presStyleIdx="2" presStyleCnt="4">
        <dgm:presLayoutVars>
          <dgm:chMax val="0"/>
          <dgm:bulletEnabled val="1"/>
        </dgm:presLayoutVars>
      </dgm:prSet>
      <dgm:spPr/>
    </dgm:pt>
    <dgm:pt modelId="{EB387B42-2C37-4C05-9C1B-AC9FDDEA7968}" type="pres">
      <dgm:prSet presAssocID="{39845DA6-4711-464B-A3DC-CACE827E997A}" presName="spacer" presStyleCnt="0"/>
      <dgm:spPr/>
    </dgm:pt>
    <dgm:pt modelId="{3FB992E2-9967-474E-B599-2B6CE963FB51}" type="pres">
      <dgm:prSet presAssocID="{56FEBB6B-6F10-4041-B99F-6659A577F48B}" presName="parentText" presStyleLbl="node1" presStyleIdx="3" presStyleCnt="4">
        <dgm:presLayoutVars>
          <dgm:chMax val="0"/>
          <dgm:bulletEnabled val="1"/>
        </dgm:presLayoutVars>
      </dgm:prSet>
      <dgm:spPr/>
    </dgm:pt>
  </dgm:ptLst>
  <dgm:cxnLst>
    <dgm:cxn modelId="{73CFA708-EACA-40B9-BCE6-09CF7087436C}" type="presOf" srcId="{56FEBB6B-6F10-4041-B99F-6659A577F48B}" destId="{3FB992E2-9967-474E-B599-2B6CE963FB51}" srcOrd="0" destOrd="0" presId="urn:microsoft.com/office/officeart/2005/8/layout/vList2"/>
    <dgm:cxn modelId="{1C9E4150-E917-47F1-9900-33201351F0B4}" srcId="{29A76DE3-DE13-46D9-945B-EA4EDF7A3AA1}" destId="{647F0AC6-F0CA-47C3-B65C-7ABD7AEDDE73}" srcOrd="1" destOrd="0" parTransId="{9AD05287-16B2-4961-9DB3-EA0704807011}" sibTransId="{641F6E7D-AA05-4C5B-B480-BE4787D98CEB}"/>
    <dgm:cxn modelId="{D83DF056-BAD6-4017-9291-90D01D16929D}" type="presOf" srcId="{29A76DE3-DE13-46D9-945B-EA4EDF7A3AA1}" destId="{A28C53AA-5C0A-4538-A6AB-2C0B0F7AC241}" srcOrd="0" destOrd="0" presId="urn:microsoft.com/office/officeart/2005/8/layout/vList2"/>
    <dgm:cxn modelId="{509E20AF-CBF5-4AC8-8670-5AABFD7C0367}" srcId="{29A76DE3-DE13-46D9-945B-EA4EDF7A3AA1}" destId="{D6BA3688-3F13-46D8-95ED-72F3E087A7AD}" srcOrd="2" destOrd="0" parTransId="{F8CE7D6A-5C43-4021-9C37-B5745E128E6C}" sibTransId="{39845DA6-4711-464B-A3DC-CACE827E997A}"/>
    <dgm:cxn modelId="{C14C0CC4-FC73-457E-974D-AC50EBB81622}" srcId="{29A76DE3-DE13-46D9-945B-EA4EDF7A3AA1}" destId="{AB4E6676-8E9D-4531-A347-90EEEE6EF3B4}" srcOrd="0" destOrd="0" parTransId="{F95F4974-4E72-475A-B14D-5D1AA3E7515D}" sibTransId="{16DCF7D0-1A80-4B0A-BDF8-545E71913993}"/>
    <dgm:cxn modelId="{DE8A2AC6-7A2C-4E11-8214-D2E7455C3E77}" type="presOf" srcId="{AB4E6676-8E9D-4531-A347-90EEEE6EF3B4}" destId="{8EB0F34A-47FF-4175-AF3D-018C29D5C502}" srcOrd="0" destOrd="0" presId="urn:microsoft.com/office/officeart/2005/8/layout/vList2"/>
    <dgm:cxn modelId="{0565C0D7-8D41-4C10-A304-2C09D462E17B}" type="presOf" srcId="{D6BA3688-3F13-46D8-95ED-72F3E087A7AD}" destId="{3CDA76FA-D43B-42B7-9DBA-7E14BE093C44}" srcOrd="0" destOrd="0" presId="urn:microsoft.com/office/officeart/2005/8/layout/vList2"/>
    <dgm:cxn modelId="{9A66DCF8-9A64-43F7-986C-AF9FB02BB785}" srcId="{29A76DE3-DE13-46D9-945B-EA4EDF7A3AA1}" destId="{56FEBB6B-6F10-4041-B99F-6659A577F48B}" srcOrd="3" destOrd="0" parTransId="{A4212BA9-D813-4FCE-9300-BBE2D14B6E53}" sibTransId="{12FC42B3-97ED-4115-8722-7E95E8C15467}"/>
    <dgm:cxn modelId="{81423EFC-3DE1-4B3C-BF9B-AE9E02F52250}" type="presOf" srcId="{647F0AC6-F0CA-47C3-B65C-7ABD7AEDDE73}" destId="{F6D6C905-725F-4F89-A24C-F1BBA06A509D}" srcOrd="0" destOrd="0" presId="urn:microsoft.com/office/officeart/2005/8/layout/vList2"/>
    <dgm:cxn modelId="{AF3CAABA-4DD2-48BA-9B6B-63C4C5B7D66F}" type="presParOf" srcId="{A28C53AA-5C0A-4538-A6AB-2C0B0F7AC241}" destId="{8EB0F34A-47FF-4175-AF3D-018C29D5C502}" srcOrd="0" destOrd="0" presId="urn:microsoft.com/office/officeart/2005/8/layout/vList2"/>
    <dgm:cxn modelId="{1AF28F99-029F-4B2C-9A46-0FACB7B94977}" type="presParOf" srcId="{A28C53AA-5C0A-4538-A6AB-2C0B0F7AC241}" destId="{0B7A0898-B88D-40B8-80DB-38AA49C1C399}" srcOrd="1" destOrd="0" presId="urn:microsoft.com/office/officeart/2005/8/layout/vList2"/>
    <dgm:cxn modelId="{7AB09663-280E-401F-8A43-AA2DBE8DC570}" type="presParOf" srcId="{A28C53AA-5C0A-4538-A6AB-2C0B0F7AC241}" destId="{F6D6C905-725F-4F89-A24C-F1BBA06A509D}" srcOrd="2" destOrd="0" presId="urn:microsoft.com/office/officeart/2005/8/layout/vList2"/>
    <dgm:cxn modelId="{30F4E457-A917-419A-B2BD-6ECE1C18FE89}" type="presParOf" srcId="{A28C53AA-5C0A-4538-A6AB-2C0B0F7AC241}" destId="{12B18A72-14FA-4096-B6BA-AB12FB1B027B}" srcOrd="3" destOrd="0" presId="urn:microsoft.com/office/officeart/2005/8/layout/vList2"/>
    <dgm:cxn modelId="{44FEA61C-E8B4-49F1-9172-9C9D6CA8D6D6}" type="presParOf" srcId="{A28C53AA-5C0A-4538-A6AB-2C0B0F7AC241}" destId="{3CDA76FA-D43B-42B7-9DBA-7E14BE093C44}" srcOrd="4" destOrd="0" presId="urn:microsoft.com/office/officeart/2005/8/layout/vList2"/>
    <dgm:cxn modelId="{2A09F175-F865-4A46-95E6-F9334A1BDF81}" type="presParOf" srcId="{A28C53AA-5C0A-4538-A6AB-2C0B0F7AC241}" destId="{EB387B42-2C37-4C05-9C1B-AC9FDDEA7968}" srcOrd="5" destOrd="0" presId="urn:microsoft.com/office/officeart/2005/8/layout/vList2"/>
    <dgm:cxn modelId="{2A0C2EDC-C51C-4CE6-A7E6-541BE1B92435}" type="presParOf" srcId="{A28C53AA-5C0A-4538-A6AB-2C0B0F7AC241}" destId="{3FB992E2-9967-474E-B599-2B6CE963FB51}"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89DC6329-6129-401A-8744-29A42219A71B}"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9C9B8C11-06A6-4807-AD2D-AD85A78D1CD7}">
      <dgm:prSet/>
      <dgm:spPr/>
      <dgm:t>
        <a:bodyPr/>
        <a:lstStyle/>
        <a:p>
          <a:r>
            <a:rPr lang="en-GB" b="1" i="0"/>
            <a:t>Residual Analysis:</a:t>
          </a:r>
          <a:r>
            <a:rPr lang="en-GB" b="0" i="0"/>
            <a:t> Residual analysis involves examining the difference between observed data points and the values predicted by a forecasting or modeling method. Irregular components are often manifested as the discrepancies between actual data and predicted values.</a:t>
          </a:r>
          <a:endParaRPr lang="en-US"/>
        </a:p>
      </dgm:t>
    </dgm:pt>
    <dgm:pt modelId="{03EC24D1-161D-4982-88B2-7BC9F03D89C4}" type="parTrans" cxnId="{F6BB84D1-D6FF-401D-8BC2-29429A4DDBB1}">
      <dgm:prSet/>
      <dgm:spPr/>
      <dgm:t>
        <a:bodyPr/>
        <a:lstStyle/>
        <a:p>
          <a:endParaRPr lang="en-US"/>
        </a:p>
      </dgm:t>
    </dgm:pt>
    <dgm:pt modelId="{5B3A499C-1AD7-46E1-BF47-D860AB3D1FFA}" type="sibTrans" cxnId="{F6BB84D1-D6FF-401D-8BC2-29429A4DDBB1}">
      <dgm:prSet/>
      <dgm:spPr/>
      <dgm:t>
        <a:bodyPr/>
        <a:lstStyle/>
        <a:p>
          <a:endParaRPr lang="en-US"/>
        </a:p>
      </dgm:t>
    </dgm:pt>
    <dgm:pt modelId="{E6E2843D-99B6-45AA-B5FF-66CED697E6E8}">
      <dgm:prSet/>
      <dgm:spPr/>
      <dgm:t>
        <a:bodyPr/>
        <a:lstStyle/>
        <a:p>
          <a:r>
            <a:rPr lang="en-GB" b="1" i="0"/>
            <a:t>Outlier Detection:</a:t>
          </a:r>
          <a:r>
            <a:rPr lang="en-GB" b="0" i="0"/>
            <a:t> Identify and investigate outliers or extreme values in the time series data. Outliers could indicate unusual events, errors, or special occurrences that contribute to irregular components.</a:t>
          </a:r>
          <a:endParaRPr lang="en-US"/>
        </a:p>
      </dgm:t>
    </dgm:pt>
    <dgm:pt modelId="{35E44192-A39E-4C07-89E3-7535A9ED404E}" type="parTrans" cxnId="{1D7585A8-1B59-490D-AA31-FAD81BBD7F61}">
      <dgm:prSet/>
      <dgm:spPr/>
      <dgm:t>
        <a:bodyPr/>
        <a:lstStyle/>
        <a:p>
          <a:endParaRPr lang="en-US"/>
        </a:p>
      </dgm:t>
    </dgm:pt>
    <dgm:pt modelId="{7F166BCC-A39A-400B-A833-253C1ADA2801}" type="sibTrans" cxnId="{1D7585A8-1B59-490D-AA31-FAD81BBD7F61}">
      <dgm:prSet/>
      <dgm:spPr/>
      <dgm:t>
        <a:bodyPr/>
        <a:lstStyle/>
        <a:p>
          <a:endParaRPr lang="en-US"/>
        </a:p>
      </dgm:t>
    </dgm:pt>
    <dgm:pt modelId="{F90EA591-F22B-41DE-99AA-8E92983E2546}" type="pres">
      <dgm:prSet presAssocID="{89DC6329-6129-401A-8744-29A42219A71B}" presName="linear" presStyleCnt="0">
        <dgm:presLayoutVars>
          <dgm:animLvl val="lvl"/>
          <dgm:resizeHandles val="exact"/>
        </dgm:presLayoutVars>
      </dgm:prSet>
      <dgm:spPr/>
    </dgm:pt>
    <dgm:pt modelId="{663B62E6-70BF-4631-AD60-622B3C1CD2F9}" type="pres">
      <dgm:prSet presAssocID="{9C9B8C11-06A6-4807-AD2D-AD85A78D1CD7}" presName="parentText" presStyleLbl="node1" presStyleIdx="0" presStyleCnt="2">
        <dgm:presLayoutVars>
          <dgm:chMax val="0"/>
          <dgm:bulletEnabled val="1"/>
        </dgm:presLayoutVars>
      </dgm:prSet>
      <dgm:spPr/>
    </dgm:pt>
    <dgm:pt modelId="{873994B6-7DA5-4BA4-AF4B-74187A7B8302}" type="pres">
      <dgm:prSet presAssocID="{5B3A499C-1AD7-46E1-BF47-D860AB3D1FFA}" presName="spacer" presStyleCnt="0"/>
      <dgm:spPr/>
    </dgm:pt>
    <dgm:pt modelId="{F446BABE-E1EC-40A6-A290-D1836194DBE2}" type="pres">
      <dgm:prSet presAssocID="{E6E2843D-99B6-45AA-B5FF-66CED697E6E8}" presName="parentText" presStyleLbl="node1" presStyleIdx="1" presStyleCnt="2">
        <dgm:presLayoutVars>
          <dgm:chMax val="0"/>
          <dgm:bulletEnabled val="1"/>
        </dgm:presLayoutVars>
      </dgm:prSet>
      <dgm:spPr/>
    </dgm:pt>
  </dgm:ptLst>
  <dgm:cxnLst>
    <dgm:cxn modelId="{74268458-476E-43BD-9C5A-FA67BE7A5801}" type="presOf" srcId="{89DC6329-6129-401A-8744-29A42219A71B}" destId="{F90EA591-F22B-41DE-99AA-8E92983E2546}" srcOrd="0" destOrd="0" presId="urn:microsoft.com/office/officeart/2005/8/layout/vList2"/>
    <dgm:cxn modelId="{95680899-3C1E-4124-8B67-C703F324B7C2}" type="presOf" srcId="{9C9B8C11-06A6-4807-AD2D-AD85A78D1CD7}" destId="{663B62E6-70BF-4631-AD60-622B3C1CD2F9}" srcOrd="0" destOrd="0" presId="urn:microsoft.com/office/officeart/2005/8/layout/vList2"/>
    <dgm:cxn modelId="{1D7585A8-1B59-490D-AA31-FAD81BBD7F61}" srcId="{89DC6329-6129-401A-8744-29A42219A71B}" destId="{E6E2843D-99B6-45AA-B5FF-66CED697E6E8}" srcOrd="1" destOrd="0" parTransId="{35E44192-A39E-4C07-89E3-7535A9ED404E}" sibTransId="{7F166BCC-A39A-400B-A833-253C1ADA2801}"/>
    <dgm:cxn modelId="{F6BB84D1-D6FF-401D-8BC2-29429A4DDBB1}" srcId="{89DC6329-6129-401A-8744-29A42219A71B}" destId="{9C9B8C11-06A6-4807-AD2D-AD85A78D1CD7}" srcOrd="0" destOrd="0" parTransId="{03EC24D1-161D-4982-88B2-7BC9F03D89C4}" sibTransId="{5B3A499C-1AD7-46E1-BF47-D860AB3D1FFA}"/>
    <dgm:cxn modelId="{3B7746EE-1B01-4B6F-A07D-A578DF6867F5}" type="presOf" srcId="{E6E2843D-99B6-45AA-B5FF-66CED697E6E8}" destId="{F446BABE-E1EC-40A6-A290-D1836194DBE2}" srcOrd="0" destOrd="0" presId="urn:microsoft.com/office/officeart/2005/8/layout/vList2"/>
    <dgm:cxn modelId="{64D3B171-F6BC-4BE2-8C18-613DE5E4EA0B}" type="presParOf" srcId="{F90EA591-F22B-41DE-99AA-8E92983E2546}" destId="{663B62E6-70BF-4631-AD60-622B3C1CD2F9}" srcOrd="0" destOrd="0" presId="urn:microsoft.com/office/officeart/2005/8/layout/vList2"/>
    <dgm:cxn modelId="{A005C4D9-4D5F-44FF-ADE5-16453DB04721}" type="presParOf" srcId="{F90EA591-F22B-41DE-99AA-8E92983E2546}" destId="{873994B6-7DA5-4BA4-AF4B-74187A7B8302}" srcOrd="1" destOrd="0" presId="urn:microsoft.com/office/officeart/2005/8/layout/vList2"/>
    <dgm:cxn modelId="{127DB1BB-8152-43DE-9061-1C0AE4C18E03}" type="presParOf" srcId="{F90EA591-F22B-41DE-99AA-8E92983E2546}" destId="{F446BABE-E1EC-40A6-A290-D1836194DBE2}"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045F0A74-955C-4B35-BB56-6838A50161E2}"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BA985967-3A6D-4527-9AED-2F2405E23AAA}">
      <dgm:prSet/>
      <dgm:spPr/>
      <dgm:t>
        <a:bodyPr/>
        <a:lstStyle/>
        <a:p>
          <a:r>
            <a:rPr lang="en-GB" b="1" i="0"/>
            <a:t>Statistical Techniques:</a:t>
          </a:r>
          <a:r>
            <a:rPr lang="en-GB" b="0" i="0"/>
            <a:t> Apply statistical techniques and methods to analyze the nature of random fluctuations. This may involve measures of randomness, autocorrelation analysis, or time series decomposition to isolate the irregular component.</a:t>
          </a:r>
          <a:endParaRPr lang="en-US"/>
        </a:p>
      </dgm:t>
    </dgm:pt>
    <dgm:pt modelId="{C78280D2-E2D2-48FD-948C-1F262DADCBC4}" type="parTrans" cxnId="{68893035-CCCF-4528-9F52-AFDA3327146B}">
      <dgm:prSet/>
      <dgm:spPr/>
      <dgm:t>
        <a:bodyPr/>
        <a:lstStyle/>
        <a:p>
          <a:endParaRPr lang="en-US"/>
        </a:p>
      </dgm:t>
    </dgm:pt>
    <dgm:pt modelId="{2F68A852-5A9E-4E73-A8BE-067929C0F4EC}" type="sibTrans" cxnId="{68893035-CCCF-4528-9F52-AFDA3327146B}">
      <dgm:prSet/>
      <dgm:spPr/>
      <dgm:t>
        <a:bodyPr/>
        <a:lstStyle/>
        <a:p>
          <a:endParaRPr lang="en-US"/>
        </a:p>
      </dgm:t>
    </dgm:pt>
    <dgm:pt modelId="{05D7DBDA-3C0C-4F19-927C-22C033EB3CED}">
      <dgm:prSet/>
      <dgm:spPr/>
      <dgm:t>
        <a:bodyPr/>
        <a:lstStyle/>
        <a:p>
          <a:r>
            <a:rPr lang="en-GB" b="1" i="0"/>
            <a:t>Filtering and Smoothing:</a:t>
          </a:r>
          <a:r>
            <a:rPr lang="en-GB" b="0" i="0"/>
            <a:t> Use filtering or smoothing techniques to reduce the impact of irregularities when necessary. Techniques like moving averages or exponential smoothing can help reveal underlying trends by suppressing the effects of random fluctuations.</a:t>
          </a:r>
          <a:endParaRPr lang="en-US"/>
        </a:p>
      </dgm:t>
    </dgm:pt>
    <dgm:pt modelId="{2ADC64F7-E2D7-4742-A90B-358BDB030600}" type="parTrans" cxnId="{8CDBF727-BE07-4CDC-B346-D002AF6A30A8}">
      <dgm:prSet/>
      <dgm:spPr/>
      <dgm:t>
        <a:bodyPr/>
        <a:lstStyle/>
        <a:p>
          <a:endParaRPr lang="en-US"/>
        </a:p>
      </dgm:t>
    </dgm:pt>
    <dgm:pt modelId="{41D3CE22-7311-4AE4-98DC-50ED14548503}" type="sibTrans" cxnId="{8CDBF727-BE07-4CDC-B346-D002AF6A30A8}">
      <dgm:prSet/>
      <dgm:spPr/>
      <dgm:t>
        <a:bodyPr/>
        <a:lstStyle/>
        <a:p>
          <a:endParaRPr lang="en-US"/>
        </a:p>
      </dgm:t>
    </dgm:pt>
    <dgm:pt modelId="{4B2A3598-8754-4126-94C3-B00200BD6E3F}" type="pres">
      <dgm:prSet presAssocID="{045F0A74-955C-4B35-BB56-6838A50161E2}" presName="linear" presStyleCnt="0">
        <dgm:presLayoutVars>
          <dgm:animLvl val="lvl"/>
          <dgm:resizeHandles val="exact"/>
        </dgm:presLayoutVars>
      </dgm:prSet>
      <dgm:spPr/>
    </dgm:pt>
    <dgm:pt modelId="{919CC237-5F69-444D-80BD-4F3E9B550439}" type="pres">
      <dgm:prSet presAssocID="{BA985967-3A6D-4527-9AED-2F2405E23AAA}" presName="parentText" presStyleLbl="node1" presStyleIdx="0" presStyleCnt="2">
        <dgm:presLayoutVars>
          <dgm:chMax val="0"/>
          <dgm:bulletEnabled val="1"/>
        </dgm:presLayoutVars>
      </dgm:prSet>
      <dgm:spPr/>
    </dgm:pt>
    <dgm:pt modelId="{2786DC2C-3A5D-4ABA-A096-0A738C30080A}" type="pres">
      <dgm:prSet presAssocID="{2F68A852-5A9E-4E73-A8BE-067929C0F4EC}" presName="spacer" presStyleCnt="0"/>
      <dgm:spPr/>
    </dgm:pt>
    <dgm:pt modelId="{737EF427-3092-4BD2-9521-D7E3FEACD65A}" type="pres">
      <dgm:prSet presAssocID="{05D7DBDA-3C0C-4F19-927C-22C033EB3CED}" presName="parentText" presStyleLbl="node1" presStyleIdx="1" presStyleCnt="2">
        <dgm:presLayoutVars>
          <dgm:chMax val="0"/>
          <dgm:bulletEnabled val="1"/>
        </dgm:presLayoutVars>
      </dgm:prSet>
      <dgm:spPr/>
    </dgm:pt>
  </dgm:ptLst>
  <dgm:cxnLst>
    <dgm:cxn modelId="{BEBC881F-32EE-4977-9526-62A1E814009D}" type="presOf" srcId="{05D7DBDA-3C0C-4F19-927C-22C033EB3CED}" destId="{737EF427-3092-4BD2-9521-D7E3FEACD65A}" srcOrd="0" destOrd="0" presId="urn:microsoft.com/office/officeart/2005/8/layout/vList2"/>
    <dgm:cxn modelId="{8CDBF727-BE07-4CDC-B346-D002AF6A30A8}" srcId="{045F0A74-955C-4B35-BB56-6838A50161E2}" destId="{05D7DBDA-3C0C-4F19-927C-22C033EB3CED}" srcOrd="1" destOrd="0" parTransId="{2ADC64F7-E2D7-4742-A90B-358BDB030600}" sibTransId="{41D3CE22-7311-4AE4-98DC-50ED14548503}"/>
    <dgm:cxn modelId="{68893035-CCCF-4528-9F52-AFDA3327146B}" srcId="{045F0A74-955C-4B35-BB56-6838A50161E2}" destId="{BA985967-3A6D-4527-9AED-2F2405E23AAA}" srcOrd="0" destOrd="0" parTransId="{C78280D2-E2D2-48FD-948C-1F262DADCBC4}" sibTransId="{2F68A852-5A9E-4E73-A8BE-067929C0F4EC}"/>
    <dgm:cxn modelId="{829F89C6-034C-4744-89B8-FCCF41D8A749}" type="presOf" srcId="{045F0A74-955C-4B35-BB56-6838A50161E2}" destId="{4B2A3598-8754-4126-94C3-B00200BD6E3F}" srcOrd="0" destOrd="0" presId="urn:microsoft.com/office/officeart/2005/8/layout/vList2"/>
    <dgm:cxn modelId="{D6E9C8D4-3125-4B58-AB8C-67BFBED5F37A}" type="presOf" srcId="{BA985967-3A6D-4527-9AED-2F2405E23AAA}" destId="{919CC237-5F69-444D-80BD-4F3E9B550439}" srcOrd="0" destOrd="0" presId="urn:microsoft.com/office/officeart/2005/8/layout/vList2"/>
    <dgm:cxn modelId="{FD764C6A-E6BF-4744-A5C1-E3570A2B5165}" type="presParOf" srcId="{4B2A3598-8754-4126-94C3-B00200BD6E3F}" destId="{919CC237-5F69-444D-80BD-4F3E9B550439}" srcOrd="0" destOrd="0" presId="urn:microsoft.com/office/officeart/2005/8/layout/vList2"/>
    <dgm:cxn modelId="{EE757F6F-0B60-4DD3-A878-4E306721DA1E}" type="presParOf" srcId="{4B2A3598-8754-4126-94C3-B00200BD6E3F}" destId="{2786DC2C-3A5D-4ABA-A096-0A738C30080A}" srcOrd="1" destOrd="0" presId="urn:microsoft.com/office/officeart/2005/8/layout/vList2"/>
    <dgm:cxn modelId="{73919F0E-97C1-47E6-9037-F8891A6C9023}" type="presParOf" srcId="{4B2A3598-8754-4126-94C3-B00200BD6E3F}" destId="{737EF427-3092-4BD2-9521-D7E3FEACD65A}"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01CEA8B8-D7E4-4282-A1AB-AC4004E7BB94}"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90B89E55-0449-4611-9FC8-45B879DEF379}">
      <dgm:prSet/>
      <dgm:spPr/>
      <dgm:t>
        <a:bodyPr/>
        <a:lstStyle/>
        <a:p>
          <a:r>
            <a:rPr lang="en-GB" b="0" i="0"/>
            <a:t>Understanding irregular components is crucial in various fields and applications, including:Financial Analysis: Identifying sudden, unexplained changes in stock prices or financial indicators.</a:t>
          </a:r>
          <a:endParaRPr lang="en-US"/>
        </a:p>
      </dgm:t>
    </dgm:pt>
    <dgm:pt modelId="{DAAD2C87-2BA2-4F16-AD5F-110F036DBFE4}" type="parTrans" cxnId="{98062DF1-4960-40B7-883D-0128EC1798DE}">
      <dgm:prSet/>
      <dgm:spPr/>
      <dgm:t>
        <a:bodyPr/>
        <a:lstStyle/>
        <a:p>
          <a:endParaRPr lang="en-US"/>
        </a:p>
      </dgm:t>
    </dgm:pt>
    <dgm:pt modelId="{BE076F82-99B2-47F0-9D61-C75729CB2D64}" type="sibTrans" cxnId="{98062DF1-4960-40B7-883D-0128EC1798DE}">
      <dgm:prSet/>
      <dgm:spPr/>
      <dgm:t>
        <a:bodyPr/>
        <a:lstStyle/>
        <a:p>
          <a:endParaRPr lang="en-US"/>
        </a:p>
      </dgm:t>
    </dgm:pt>
    <dgm:pt modelId="{B90A7E13-7844-4428-9EE7-D914A4068D32}">
      <dgm:prSet/>
      <dgm:spPr/>
      <dgm:t>
        <a:bodyPr/>
        <a:lstStyle/>
        <a:p>
          <a:r>
            <a:rPr lang="en-GB" b="0" i="0"/>
            <a:t>Quality Control: Detecting anomalies or defects in manufacturing processes.</a:t>
          </a:r>
          <a:endParaRPr lang="en-US"/>
        </a:p>
      </dgm:t>
    </dgm:pt>
    <dgm:pt modelId="{E775F405-3822-4BFF-99E1-0C36D602AA42}" type="parTrans" cxnId="{E18F26C3-8666-4EFF-B8B5-29EAEA55FDC4}">
      <dgm:prSet/>
      <dgm:spPr/>
      <dgm:t>
        <a:bodyPr/>
        <a:lstStyle/>
        <a:p>
          <a:endParaRPr lang="en-US"/>
        </a:p>
      </dgm:t>
    </dgm:pt>
    <dgm:pt modelId="{B7DBFE39-3F50-4DD6-AFB9-6011AF3E42E0}" type="sibTrans" cxnId="{E18F26C3-8666-4EFF-B8B5-29EAEA55FDC4}">
      <dgm:prSet/>
      <dgm:spPr/>
      <dgm:t>
        <a:bodyPr/>
        <a:lstStyle/>
        <a:p>
          <a:endParaRPr lang="en-US"/>
        </a:p>
      </dgm:t>
    </dgm:pt>
    <dgm:pt modelId="{DD7CC36B-EB1C-4FB3-B311-0271D2A56419}">
      <dgm:prSet/>
      <dgm:spPr/>
      <dgm:t>
        <a:bodyPr/>
        <a:lstStyle/>
        <a:p>
          <a:r>
            <a:rPr lang="en-GB" b="0" i="0"/>
            <a:t>Environmental Monitoring: Recognizing unanticipated variations in pollution levels or climate data.</a:t>
          </a:r>
          <a:endParaRPr lang="en-US"/>
        </a:p>
      </dgm:t>
    </dgm:pt>
    <dgm:pt modelId="{95426165-CD70-401A-9E31-FDF4C2F69A67}" type="parTrans" cxnId="{EDFE8520-E3E2-4B7E-A23A-9E7E20A5C9C1}">
      <dgm:prSet/>
      <dgm:spPr/>
      <dgm:t>
        <a:bodyPr/>
        <a:lstStyle/>
        <a:p>
          <a:endParaRPr lang="en-US"/>
        </a:p>
      </dgm:t>
    </dgm:pt>
    <dgm:pt modelId="{4B1F1E4B-412B-4638-99EB-052DE1B8BB17}" type="sibTrans" cxnId="{EDFE8520-E3E2-4B7E-A23A-9E7E20A5C9C1}">
      <dgm:prSet/>
      <dgm:spPr/>
      <dgm:t>
        <a:bodyPr/>
        <a:lstStyle/>
        <a:p>
          <a:endParaRPr lang="en-US"/>
        </a:p>
      </dgm:t>
    </dgm:pt>
    <dgm:pt modelId="{4A385F9C-714E-4C8A-8725-45E9E2442545}">
      <dgm:prSet/>
      <dgm:spPr/>
      <dgm:t>
        <a:bodyPr/>
        <a:lstStyle/>
        <a:p>
          <a:r>
            <a:rPr lang="en-GB" b="0" i="0"/>
            <a:t>Anomaly Detection: Detecting unusual activities or security breaches in cybersecurity applications.</a:t>
          </a:r>
          <a:endParaRPr lang="en-US"/>
        </a:p>
      </dgm:t>
    </dgm:pt>
    <dgm:pt modelId="{CDABE98D-CA81-411F-911F-BDA9ECF88380}" type="parTrans" cxnId="{4EB15B9F-1B17-45E6-B5D2-3D0FDB38A1C1}">
      <dgm:prSet/>
      <dgm:spPr/>
      <dgm:t>
        <a:bodyPr/>
        <a:lstStyle/>
        <a:p>
          <a:endParaRPr lang="en-US"/>
        </a:p>
      </dgm:t>
    </dgm:pt>
    <dgm:pt modelId="{FD4CD6DC-E06D-4008-A812-D3016A0C8E97}" type="sibTrans" cxnId="{4EB15B9F-1B17-45E6-B5D2-3D0FDB38A1C1}">
      <dgm:prSet/>
      <dgm:spPr/>
      <dgm:t>
        <a:bodyPr/>
        <a:lstStyle/>
        <a:p>
          <a:endParaRPr lang="en-US"/>
        </a:p>
      </dgm:t>
    </dgm:pt>
    <dgm:pt modelId="{8F38AEF9-E123-4C4D-B598-CAF64031EA44}" type="pres">
      <dgm:prSet presAssocID="{01CEA8B8-D7E4-4282-A1AB-AC4004E7BB94}" presName="linear" presStyleCnt="0">
        <dgm:presLayoutVars>
          <dgm:animLvl val="lvl"/>
          <dgm:resizeHandles val="exact"/>
        </dgm:presLayoutVars>
      </dgm:prSet>
      <dgm:spPr/>
    </dgm:pt>
    <dgm:pt modelId="{2024AA72-044D-4938-AA99-990CAE65A9C9}" type="pres">
      <dgm:prSet presAssocID="{90B89E55-0449-4611-9FC8-45B879DEF379}" presName="parentText" presStyleLbl="node1" presStyleIdx="0" presStyleCnt="4">
        <dgm:presLayoutVars>
          <dgm:chMax val="0"/>
          <dgm:bulletEnabled val="1"/>
        </dgm:presLayoutVars>
      </dgm:prSet>
      <dgm:spPr/>
    </dgm:pt>
    <dgm:pt modelId="{651EDE56-F771-47FC-9E38-0A0709954F56}" type="pres">
      <dgm:prSet presAssocID="{BE076F82-99B2-47F0-9D61-C75729CB2D64}" presName="spacer" presStyleCnt="0"/>
      <dgm:spPr/>
    </dgm:pt>
    <dgm:pt modelId="{6ABAFF57-1F8D-4070-8C3D-D3B8F228EBC7}" type="pres">
      <dgm:prSet presAssocID="{B90A7E13-7844-4428-9EE7-D914A4068D32}" presName="parentText" presStyleLbl="node1" presStyleIdx="1" presStyleCnt="4">
        <dgm:presLayoutVars>
          <dgm:chMax val="0"/>
          <dgm:bulletEnabled val="1"/>
        </dgm:presLayoutVars>
      </dgm:prSet>
      <dgm:spPr/>
    </dgm:pt>
    <dgm:pt modelId="{43C2B73B-E5D1-40D2-B129-26AC5FFAC6DB}" type="pres">
      <dgm:prSet presAssocID="{B7DBFE39-3F50-4DD6-AFB9-6011AF3E42E0}" presName="spacer" presStyleCnt="0"/>
      <dgm:spPr/>
    </dgm:pt>
    <dgm:pt modelId="{55A92561-E045-42FE-A9D6-DF24353E51BA}" type="pres">
      <dgm:prSet presAssocID="{DD7CC36B-EB1C-4FB3-B311-0271D2A56419}" presName="parentText" presStyleLbl="node1" presStyleIdx="2" presStyleCnt="4">
        <dgm:presLayoutVars>
          <dgm:chMax val="0"/>
          <dgm:bulletEnabled val="1"/>
        </dgm:presLayoutVars>
      </dgm:prSet>
      <dgm:spPr/>
    </dgm:pt>
    <dgm:pt modelId="{4752C160-D025-4FD3-B2BC-A56CC1460EB9}" type="pres">
      <dgm:prSet presAssocID="{4B1F1E4B-412B-4638-99EB-052DE1B8BB17}" presName="spacer" presStyleCnt="0"/>
      <dgm:spPr/>
    </dgm:pt>
    <dgm:pt modelId="{1E340201-2253-41A4-B6F4-042B7A049255}" type="pres">
      <dgm:prSet presAssocID="{4A385F9C-714E-4C8A-8725-45E9E2442545}" presName="parentText" presStyleLbl="node1" presStyleIdx="3" presStyleCnt="4">
        <dgm:presLayoutVars>
          <dgm:chMax val="0"/>
          <dgm:bulletEnabled val="1"/>
        </dgm:presLayoutVars>
      </dgm:prSet>
      <dgm:spPr/>
    </dgm:pt>
  </dgm:ptLst>
  <dgm:cxnLst>
    <dgm:cxn modelId="{E71EF001-672E-4B41-9AF6-88555AC10F31}" type="presOf" srcId="{DD7CC36B-EB1C-4FB3-B311-0271D2A56419}" destId="{55A92561-E045-42FE-A9D6-DF24353E51BA}" srcOrd="0" destOrd="0" presId="urn:microsoft.com/office/officeart/2005/8/layout/vList2"/>
    <dgm:cxn modelId="{AA43371B-5AC6-40D0-B822-1D6563BE0928}" type="presOf" srcId="{4A385F9C-714E-4C8A-8725-45E9E2442545}" destId="{1E340201-2253-41A4-B6F4-042B7A049255}" srcOrd="0" destOrd="0" presId="urn:microsoft.com/office/officeart/2005/8/layout/vList2"/>
    <dgm:cxn modelId="{EDFE8520-E3E2-4B7E-A23A-9E7E20A5C9C1}" srcId="{01CEA8B8-D7E4-4282-A1AB-AC4004E7BB94}" destId="{DD7CC36B-EB1C-4FB3-B311-0271D2A56419}" srcOrd="2" destOrd="0" parTransId="{95426165-CD70-401A-9E31-FDF4C2F69A67}" sibTransId="{4B1F1E4B-412B-4638-99EB-052DE1B8BB17}"/>
    <dgm:cxn modelId="{4324D26F-2361-4C0E-A552-DE1107C8EFFE}" type="presOf" srcId="{B90A7E13-7844-4428-9EE7-D914A4068D32}" destId="{6ABAFF57-1F8D-4070-8C3D-D3B8F228EBC7}" srcOrd="0" destOrd="0" presId="urn:microsoft.com/office/officeart/2005/8/layout/vList2"/>
    <dgm:cxn modelId="{C122018C-1C34-426C-AA0B-5E809D43CA53}" type="presOf" srcId="{90B89E55-0449-4611-9FC8-45B879DEF379}" destId="{2024AA72-044D-4938-AA99-990CAE65A9C9}" srcOrd="0" destOrd="0" presId="urn:microsoft.com/office/officeart/2005/8/layout/vList2"/>
    <dgm:cxn modelId="{4EB15B9F-1B17-45E6-B5D2-3D0FDB38A1C1}" srcId="{01CEA8B8-D7E4-4282-A1AB-AC4004E7BB94}" destId="{4A385F9C-714E-4C8A-8725-45E9E2442545}" srcOrd="3" destOrd="0" parTransId="{CDABE98D-CA81-411F-911F-BDA9ECF88380}" sibTransId="{FD4CD6DC-E06D-4008-A812-D3016A0C8E97}"/>
    <dgm:cxn modelId="{6E8CF1C0-0E83-424A-B0A7-045E9A9A40FB}" type="presOf" srcId="{01CEA8B8-D7E4-4282-A1AB-AC4004E7BB94}" destId="{8F38AEF9-E123-4C4D-B598-CAF64031EA44}" srcOrd="0" destOrd="0" presId="urn:microsoft.com/office/officeart/2005/8/layout/vList2"/>
    <dgm:cxn modelId="{E18F26C3-8666-4EFF-B8B5-29EAEA55FDC4}" srcId="{01CEA8B8-D7E4-4282-A1AB-AC4004E7BB94}" destId="{B90A7E13-7844-4428-9EE7-D914A4068D32}" srcOrd="1" destOrd="0" parTransId="{E775F405-3822-4BFF-99E1-0C36D602AA42}" sibTransId="{B7DBFE39-3F50-4DD6-AFB9-6011AF3E42E0}"/>
    <dgm:cxn modelId="{98062DF1-4960-40B7-883D-0128EC1798DE}" srcId="{01CEA8B8-D7E4-4282-A1AB-AC4004E7BB94}" destId="{90B89E55-0449-4611-9FC8-45B879DEF379}" srcOrd="0" destOrd="0" parTransId="{DAAD2C87-2BA2-4F16-AD5F-110F036DBFE4}" sibTransId="{BE076F82-99B2-47F0-9D61-C75729CB2D64}"/>
    <dgm:cxn modelId="{6397E624-90E2-4BAD-B91D-09CCB0C5B329}" type="presParOf" srcId="{8F38AEF9-E123-4C4D-B598-CAF64031EA44}" destId="{2024AA72-044D-4938-AA99-990CAE65A9C9}" srcOrd="0" destOrd="0" presId="urn:microsoft.com/office/officeart/2005/8/layout/vList2"/>
    <dgm:cxn modelId="{B3EB3CC0-D557-4C28-9B5E-ADABBE55987D}" type="presParOf" srcId="{8F38AEF9-E123-4C4D-B598-CAF64031EA44}" destId="{651EDE56-F771-47FC-9E38-0A0709954F56}" srcOrd="1" destOrd="0" presId="urn:microsoft.com/office/officeart/2005/8/layout/vList2"/>
    <dgm:cxn modelId="{822D76EB-9943-442D-8F04-07C1E6C95723}" type="presParOf" srcId="{8F38AEF9-E123-4C4D-B598-CAF64031EA44}" destId="{6ABAFF57-1F8D-4070-8C3D-D3B8F228EBC7}" srcOrd="2" destOrd="0" presId="urn:microsoft.com/office/officeart/2005/8/layout/vList2"/>
    <dgm:cxn modelId="{D9BD8ADF-3394-488F-98B7-01BDD3B21130}" type="presParOf" srcId="{8F38AEF9-E123-4C4D-B598-CAF64031EA44}" destId="{43C2B73B-E5D1-40D2-B129-26AC5FFAC6DB}" srcOrd="3" destOrd="0" presId="urn:microsoft.com/office/officeart/2005/8/layout/vList2"/>
    <dgm:cxn modelId="{45379F99-B755-4A5D-A57E-42868C2803FF}" type="presParOf" srcId="{8F38AEF9-E123-4C4D-B598-CAF64031EA44}" destId="{55A92561-E045-42FE-A9D6-DF24353E51BA}" srcOrd="4" destOrd="0" presId="urn:microsoft.com/office/officeart/2005/8/layout/vList2"/>
    <dgm:cxn modelId="{D0A167F2-77E0-4299-9736-80850976A7D5}" type="presParOf" srcId="{8F38AEF9-E123-4C4D-B598-CAF64031EA44}" destId="{4752C160-D025-4FD3-B2BC-A56CC1460EB9}" srcOrd="5" destOrd="0" presId="urn:microsoft.com/office/officeart/2005/8/layout/vList2"/>
    <dgm:cxn modelId="{FF3B6953-322E-4169-B348-A4F13FD3ACEA}" type="presParOf" srcId="{8F38AEF9-E123-4C4D-B598-CAF64031EA44}" destId="{1E340201-2253-41A4-B6F4-042B7A049255}"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6ED12449-3D3D-45F2-A30F-790ABB7179C4}"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9D1ABBBA-E60F-43EC-A5B9-1CBF4CAD0D66}">
      <dgm:prSet/>
      <dgm:spPr/>
      <dgm:t>
        <a:bodyPr/>
        <a:lstStyle/>
        <a:p>
          <a:r>
            <a:rPr lang="en-GB" b="1" i="0"/>
            <a:t>Characteristics of Cyclical Patterns:</a:t>
          </a:r>
          <a:endParaRPr lang="en-US"/>
        </a:p>
      </dgm:t>
    </dgm:pt>
    <dgm:pt modelId="{D715D04C-CD5D-4AEF-A5C2-BF86025BC063}" type="parTrans" cxnId="{B6EF56E7-0C31-47A6-A724-00ED84CC15C8}">
      <dgm:prSet/>
      <dgm:spPr/>
      <dgm:t>
        <a:bodyPr/>
        <a:lstStyle/>
        <a:p>
          <a:endParaRPr lang="en-US"/>
        </a:p>
      </dgm:t>
    </dgm:pt>
    <dgm:pt modelId="{78417268-9BBB-4067-9E46-4424CA5F2D92}" type="sibTrans" cxnId="{B6EF56E7-0C31-47A6-A724-00ED84CC15C8}">
      <dgm:prSet/>
      <dgm:spPr/>
      <dgm:t>
        <a:bodyPr/>
        <a:lstStyle/>
        <a:p>
          <a:endParaRPr lang="en-US"/>
        </a:p>
      </dgm:t>
    </dgm:pt>
    <dgm:pt modelId="{6075E6B6-8F12-4B1D-B4AB-05568A4D509D}">
      <dgm:prSet/>
      <dgm:spPr/>
      <dgm:t>
        <a:bodyPr/>
        <a:lstStyle/>
        <a:p>
          <a:r>
            <a:rPr lang="en-GB" b="0" i="0"/>
            <a:t>Cyclical patterns exhibit the following characteristics:</a:t>
          </a:r>
          <a:endParaRPr lang="en-US"/>
        </a:p>
      </dgm:t>
    </dgm:pt>
    <dgm:pt modelId="{922A4279-82AD-4C35-8641-906988599B6A}" type="parTrans" cxnId="{308710F7-473C-486B-B7D3-929A5CCE786A}">
      <dgm:prSet/>
      <dgm:spPr/>
      <dgm:t>
        <a:bodyPr/>
        <a:lstStyle/>
        <a:p>
          <a:endParaRPr lang="en-US"/>
        </a:p>
      </dgm:t>
    </dgm:pt>
    <dgm:pt modelId="{01AD040A-C1E8-45F0-9BED-9EC9EBF9C2B2}" type="sibTrans" cxnId="{308710F7-473C-486B-B7D3-929A5CCE786A}">
      <dgm:prSet/>
      <dgm:spPr/>
      <dgm:t>
        <a:bodyPr/>
        <a:lstStyle/>
        <a:p>
          <a:endParaRPr lang="en-US"/>
        </a:p>
      </dgm:t>
    </dgm:pt>
    <dgm:pt modelId="{42B8A566-33A4-429B-B3B0-560C95F4FB70}">
      <dgm:prSet/>
      <dgm:spPr/>
      <dgm:t>
        <a:bodyPr/>
        <a:lstStyle/>
        <a:p>
          <a:r>
            <a:rPr lang="en-GB" b="0" i="0"/>
            <a:t>Longer Durations: These patterns last for multiple years or quarters and do not follow a fixed, known period.</a:t>
          </a:r>
          <a:endParaRPr lang="en-US"/>
        </a:p>
      </dgm:t>
    </dgm:pt>
    <dgm:pt modelId="{B0740917-A41F-496F-B507-9593D9444FF9}" type="parTrans" cxnId="{5D5108BE-4CFE-4EE1-B3E9-F7179548ED68}">
      <dgm:prSet/>
      <dgm:spPr/>
      <dgm:t>
        <a:bodyPr/>
        <a:lstStyle/>
        <a:p>
          <a:endParaRPr lang="en-US"/>
        </a:p>
      </dgm:t>
    </dgm:pt>
    <dgm:pt modelId="{F5E95EAA-4009-4C60-87C1-F0F8E6132167}" type="sibTrans" cxnId="{5D5108BE-4CFE-4EE1-B3E9-F7179548ED68}">
      <dgm:prSet/>
      <dgm:spPr/>
      <dgm:t>
        <a:bodyPr/>
        <a:lstStyle/>
        <a:p>
          <a:endParaRPr lang="en-US"/>
        </a:p>
      </dgm:t>
    </dgm:pt>
    <dgm:pt modelId="{CB623F80-7299-4F92-8488-70E1A2AB3F7C}">
      <dgm:prSet/>
      <dgm:spPr/>
      <dgm:t>
        <a:bodyPr/>
        <a:lstStyle/>
        <a:p>
          <a:r>
            <a:rPr lang="en-GB" b="0" i="0"/>
            <a:t>Non-Seasonal: Cyclical fluctuations are not tied to specific time intervals like seasons.</a:t>
          </a:r>
          <a:endParaRPr lang="en-US"/>
        </a:p>
      </dgm:t>
    </dgm:pt>
    <dgm:pt modelId="{11A1F18D-E82A-452A-B241-54D679632788}" type="parTrans" cxnId="{3DED5A0B-6BAD-4C81-A536-42AE0B5EBB21}">
      <dgm:prSet/>
      <dgm:spPr/>
      <dgm:t>
        <a:bodyPr/>
        <a:lstStyle/>
        <a:p>
          <a:endParaRPr lang="en-US"/>
        </a:p>
      </dgm:t>
    </dgm:pt>
    <dgm:pt modelId="{D2A409F8-6786-459E-8586-BFCE25748A98}" type="sibTrans" cxnId="{3DED5A0B-6BAD-4C81-A536-42AE0B5EBB21}">
      <dgm:prSet/>
      <dgm:spPr/>
      <dgm:t>
        <a:bodyPr/>
        <a:lstStyle/>
        <a:p>
          <a:endParaRPr lang="en-US"/>
        </a:p>
      </dgm:t>
    </dgm:pt>
    <dgm:pt modelId="{5738F937-C4A3-4FFE-B115-1CA6F9D9F471}">
      <dgm:prSet/>
      <dgm:spPr/>
      <dgm:t>
        <a:bodyPr/>
        <a:lstStyle/>
        <a:p>
          <a:r>
            <a:rPr lang="en-GB" b="0" i="0"/>
            <a:t>Less Regularity: Unlike seasonal patterns, cyclical patterns lack the predictability of fixed periods.</a:t>
          </a:r>
          <a:endParaRPr lang="en-US"/>
        </a:p>
      </dgm:t>
    </dgm:pt>
    <dgm:pt modelId="{F5D09F2B-23CD-41C0-A506-90883DC65D75}" type="parTrans" cxnId="{8E6DF61A-284E-4AE0-BE56-F2DAE00F21BF}">
      <dgm:prSet/>
      <dgm:spPr/>
      <dgm:t>
        <a:bodyPr/>
        <a:lstStyle/>
        <a:p>
          <a:endParaRPr lang="en-US"/>
        </a:p>
      </dgm:t>
    </dgm:pt>
    <dgm:pt modelId="{937756AA-43C8-4C00-AE56-EBDEB0ED170A}" type="sibTrans" cxnId="{8E6DF61A-284E-4AE0-BE56-F2DAE00F21BF}">
      <dgm:prSet/>
      <dgm:spPr/>
      <dgm:t>
        <a:bodyPr/>
        <a:lstStyle/>
        <a:p>
          <a:endParaRPr lang="en-US"/>
        </a:p>
      </dgm:t>
    </dgm:pt>
    <dgm:pt modelId="{D432E0AA-0614-4EE6-AA1E-74189DB44917}">
      <dgm:prSet/>
      <dgm:spPr/>
      <dgm:t>
        <a:bodyPr/>
        <a:lstStyle/>
        <a:p>
          <a:r>
            <a:rPr lang="en-GB" b="0" i="0" dirty="0"/>
            <a:t>Linked to Economic or Business Cycles: Many cyclical patterns are associated with economic and business cycles, such as the boom and bust cycles in financial markets.</a:t>
          </a:r>
          <a:endParaRPr lang="en-US" dirty="0"/>
        </a:p>
      </dgm:t>
    </dgm:pt>
    <dgm:pt modelId="{2E8BCCC6-FB2B-4104-8DBD-E6EBE5D49A93}" type="parTrans" cxnId="{61961909-B8D4-43E5-967E-3458750D33F0}">
      <dgm:prSet/>
      <dgm:spPr/>
      <dgm:t>
        <a:bodyPr/>
        <a:lstStyle/>
        <a:p>
          <a:endParaRPr lang="en-US"/>
        </a:p>
      </dgm:t>
    </dgm:pt>
    <dgm:pt modelId="{DEA7A1E4-2A0D-4754-8E84-798908114A48}" type="sibTrans" cxnId="{61961909-B8D4-43E5-967E-3458750D33F0}">
      <dgm:prSet/>
      <dgm:spPr/>
      <dgm:t>
        <a:bodyPr/>
        <a:lstStyle/>
        <a:p>
          <a:endParaRPr lang="en-US"/>
        </a:p>
      </dgm:t>
    </dgm:pt>
    <dgm:pt modelId="{ACFEBF33-FC5C-4848-B0D1-5593AFCA8862}" type="pres">
      <dgm:prSet presAssocID="{6ED12449-3D3D-45F2-A30F-790ABB7179C4}" presName="linear" presStyleCnt="0">
        <dgm:presLayoutVars>
          <dgm:animLvl val="lvl"/>
          <dgm:resizeHandles val="exact"/>
        </dgm:presLayoutVars>
      </dgm:prSet>
      <dgm:spPr/>
    </dgm:pt>
    <dgm:pt modelId="{893227ED-99CC-461E-AA07-BBF20FBD95B8}" type="pres">
      <dgm:prSet presAssocID="{9D1ABBBA-E60F-43EC-A5B9-1CBF4CAD0D66}" presName="parentText" presStyleLbl="node1" presStyleIdx="0" presStyleCnt="2">
        <dgm:presLayoutVars>
          <dgm:chMax val="0"/>
          <dgm:bulletEnabled val="1"/>
        </dgm:presLayoutVars>
      </dgm:prSet>
      <dgm:spPr/>
    </dgm:pt>
    <dgm:pt modelId="{4F4E0739-DF58-491C-A8F3-8F47B09A0EFA}" type="pres">
      <dgm:prSet presAssocID="{78417268-9BBB-4067-9E46-4424CA5F2D92}" presName="spacer" presStyleCnt="0"/>
      <dgm:spPr/>
    </dgm:pt>
    <dgm:pt modelId="{2F05DC4E-3E66-4FC8-811E-032B2D10D854}" type="pres">
      <dgm:prSet presAssocID="{6075E6B6-8F12-4B1D-B4AB-05568A4D509D}" presName="parentText" presStyleLbl="node1" presStyleIdx="1" presStyleCnt="2">
        <dgm:presLayoutVars>
          <dgm:chMax val="0"/>
          <dgm:bulletEnabled val="1"/>
        </dgm:presLayoutVars>
      </dgm:prSet>
      <dgm:spPr/>
    </dgm:pt>
    <dgm:pt modelId="{D84899F3-2CA1-4A9E-8626-7DBC9DD083CA}" type="pres">
      <dgm:prSet presAssocID="{6075E6B6-8F12-4B1D-B4AB-05568A4D509D}" presName="childText" presStyleLbl="revTx" presStyleIdx="0" presStyleCnt="1">
        <dgm:presLayoutVars>
          <dgm:bulletEnabled val="1"/>
        </dgm:presLayoutVars>
      </dgm:prSet>
      <dgm:spPr/>
    </dgm:pt>
  </dgm:ptLst>
  <dgm:cxnLst>
    <dgm:cxn modelId="{61961909-B8D4-43E5-967E-3458750D33F0}" srcId="{6075E6B6-8F12-4B1D-B4AB-05568A4D509D}" destId="{D432E0AA-0614-4EE6-AA1E-74189DB44917}" srcOrd="3" destOrd="0" parTransId="{2E8BCCC6-FB2B-4104-8DBD-E6EBE5D49A93}" sibTransId="{DEA7A1E4-2A0D-4754-8E84-798908114A48}"/>
    <dgm:cxn modelId="{3DED5A0B-6BAD-4C81-A536-42AE0B5EBB21}" srcId="{6075E6B6-8F12-4B1D-B4AB-05568A4D509D}" destId="{CB623F80-7299-4F92-8488-70E1A2AB3F7C}" srcOrd="1" destOrd="0" parTransId="{11A1F18D-E82A-452A-B241-54D679632788}" sibTransId="{D2A409F8-6786-459E-8586-BFCE25748A98}"/>
    <dgm:cxn modelId="{8E6DF61A-284E-4AE0-BE56-F2DAE00F21BF}" srcId="{6075E6B6-8F12-4B1D-B4AB-05568A4D509D}" destId="{5738F937-C4A3-4FFE-B115-1CA6F9D9F471}" srcOrd="2" destOrd="0" parTransId="{F5D09F2B-23CD-41C0-A506-90883DC65D75}" sibTransId="{937756AA-43C8-4C00-AE56-EBDEB0ED170A}"/>
    <dgm:cxn modelId="{94AE8A1E-A017-4B8E-82AF-42AC8C518301}" type="presOf" srcId="{6ED12449-3D3D-45F2-A30F-790ABB7179C4}" destId="{ACFEBF33-FC5C-4848-B0D1-5593AFCA8862}" srcOrd="0" destOrd="0" presId="urn:microsoft.com/office/officeart/2005/8/layout/vList2"/>
    <dgm:cxn modelId="{0C7FCC2E-8CCC-4B90-880A-C3B768F74235}" type="presOf" srcId="{5738F937-C4A3-4FFE-B115-1CA6F9D9F471}" destId="{D84899F3-2CA1-4A9E-8626-7DBC9DD083CA}" srcOrd="0" destOrd="2" presId="urn:microsoft.com/office/officeart/2005/8/layout/vList2"/>
    <dgm:cxn modelId="{F090B236-CEE6-4DFA-8A10-3229D16647F8}" type="presOf" srcId="{D432E0AA-0614-4EE6-AA1E-74189DB44917}" destId="{D84899F3-2CA1-4A9E-8626-7DBC9DD083CA}" srcOrd="0" destOrd="3" presId="urn:microsoft.com/office/officeart/2005/8/layout/vList2"/>
    <dgm:cxn modelId="{6546495B-29B7-4F1E-9652-42B2A40375FF}" type="presOf" srcId="{6075E6B6-8F12-4B1D-B4AB-05568A4D509D}" destId="{2F05DC4E-3E66-4FC8-811E-032B2D10D854}" srcOrd="0" destOrd="0" presId="urn:microsoft.com/office/officeart/2005/8/layout/vList2"/>
    <dgm:cxn modelId="{B6EB8263-D4EA-4E6F-BD3F-DF3F5F144067}" type="presOf" srcId="{42B8A566-33A4-429B-B3B0-560C95F4FB70}" destId="{D84899F3-2CA1-4A9E-8626-7DBC9DD083CA}" srcOrd="0" destOrd="0" presId="urn:microsoft.com/office/officeart/2005/8/layout/vList2"/>
    <dgm:cxn modelId="{33C8ED74-9D0A-4CDF-8CE2-B7BC51F5EC16}" type="presOf" srcId="{CB623F80-7299-4F92-8488-70E1A2AB3F7C}" destId="{D84899F3-2CA1-4A9E-8626-7DBC9DD083CA}" srcOrd="0" destOrd="1" presId="urn:microsoft.com/office/officeart/2005/8/layout/vList2"/>
    <dgm:cxn modelId="{5D5108BE-4CFE-4EE1-B3E9-F7179548ED68}" srcId="{6075E6B6-8F12-4B1D-B4AB-05568A4D509D}" destId="{42B8A566-33A4-429B-B3B0-560C95F4FB70}" srcOrd="0" destOrd="0" parTransId="{B0740917-A41F-496F-B507-9593D9444FF9}" sibTransId="{F5E95EAA-4009-4C60-87C1-F0F8E6132167}"/>
    <dgm:cxn modelId="{B6EF56E7-0C31-47A6-A724-00ED84CC15C8}" srcId="{6ED12449-3D3D-45F2-A30F-790ABB7179C4}" destId="{9D1ABBBA-E60F-43EC-A5B9-1CBF4CAD0D66}" srcOrd="0" destOrd="0" parTransId="{D715D04C-CD5D-4AEF-A5C2-BF86025BC063}" sibTransId="{78417268-9BBB-4067-9E46-4424CA5F2D92}"/>
    <dgm:cxn modelId="{CB81F1F2-9512-479C-A474-72F48BACD31E}" type="presOf" srcId="{9D1ABBBA-E60F-43EC-A5B9-1CBF4CAD0D66}" destId="{893227ED-99CC-461E-AA07-BBF20FBD95B8}" srcOrd="0" destOrd="0" presId="urn:microsoft.com/office/officeart/2005/8/layout/vList2"/>
    <dgm:cxn modelId="{308710F7-473C-486B-B7D3-929A5CCE786A}" srcId="{6ED12449-3D3D-45F2-A30F-790ABB7179C4}" destId="{6075E6B6-8F12-4B1D-B4AB-05568A4D509D}" srcOrd="1" destOrd="0" parTransId="{922A4279-82AD-4C35-8641-906988599B6A}" sibTransId="{01AD040A-C1E8-45F0-9BED-9EC9EBF9C2B2}"/>
    <dgm:cxn modelId="{B12B9C87-6B4A-42CE-B1D8-7224A265F861}" type="presParOf" srcId="{ACFEBF33-FC5C-4848-B0D1-5593AFCA8862}" destId="{893227ED-99CC-461E-AA07-BBF20FBD95B8}" srcOrd="0" destOrd="0" presId="urn:microsoft.com/office/officeart/2005/8/layout/vList2"/>
    <dgm:cxn modelId="{26BADC3E-70CC-4139-BC64-5C49BBA19BCD}" type="presParOf" srcId="{ACFEBF33-FC5C-4848-B0D1-5593AFCA8862}" destId="{4F4E0739-DF58-491C-A8F3-8F47B09A0EFA}" srcOrd="1" destOrd="0" presId="urn:microsoft.com/office/officeart/2005/8/layout/vList2"/>
    <dgm:cxn modelId="{5B8A4389-B274-4E85-A010-42960A0D2DF3}" type="presParOf" srcId="{ACFEBF33-FC5C-4848-B0D1-5593AFCA8862}" destId="{2F05DC4E-3E66-4FC8-811E-032B2D10D854}" srcOrd="2" destOrd="0" presId="urn:microsoft.com/office/officeart/2005/8/layout/vList2"/>
    <dgm:cxn modelId="{4F2679A6-C8B9-463D-BA88-1B8E3F499B4E}" type="presParOf" srcId="{ACFEBF33-FC5C-4848-B0D1-5593AFCA8862}" destId="{D84899F3-2CA1-4A9E-8626-7DBC9DD083CA}"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F6A290D9-EDA8-46B9-8C49-405946ABDB3A}"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F0A419F7-1500-47DE-8209-13D10056285F}">
      <dgm:prSet/>
      <dgm:spPr/>
      <dgm:t>
        <a:bodyPr/>
        <a:lstStyle/>
        <a:p>
          <a:r>
            <a:rPr lang="en-GB" b="0" i="0"/>
            <a:t>Cyclical patterns exhibit the following characteristics:Longer Durations: These patterns last for multiple years or quarters and do not follow a fixed, known period.</a:t>
          </a:r>
          <a:endParaRPr lang="en-US"/>
        </a:p>
      </dgm:t>
    </dgm:pt>
    <dgm:pt modelId="{505A5755-CF87-4E18-9589-B58D038590F2}" type="parTrans" cxnId="{437D831F-E311-4A9B-A566-D418E0845EA6}">
      <dgm:prSet/>
      <dgm:spPr/>
      <dgm:t>
        <a:bodyPr/>
        <a:lstStyle/>
        <a:p>
          <a:endParaRPr lang="en-US"/>
        </a:p>
      </dgm:t>
    </dgm:pt>
    <dgm:pt modelId="{A2462054-9D22-49F4-BDC0-A857E364DFFF}" type="sibTrans" cxnId="{437D831F-E311-4A9B-A566-D418E0845EA6}">
      <dgm:prSet/>
      <dgm:spPr/>
      <dgm:t>
        <a:bodyPr/>
        <a:lstStyle/>
        <a:p>
          <a:endParaRPr lang="en-US"/>
        </a:p>
      </dgm:t>
    </dgm:pt>
    <dgm:pt modelId="{9BAB9615-B45E-4E30-B866-5DABEF153C31}">
      <dgm:prSet/>
      <dgm:spPr/>
      <dgm:t>
        <a:bodyPr/>
        <a:lstStyle/>
        <a:p>
          <a:r>
            <a:rPr lang="en-GB" b="0" i="0"/>
            <a:t>Non-Seasonal: Cyclical fluctuations are not tied to specific time intervals like seasons.</a:t>
          </a:r>
          <a:endParaRPr lang="en-US"/>
        </a:p>
      </dgm:t>
    </dgm:pt>
    <dgm:pt modelId="{ABC24B62-B806-4324-99B0-7C4FE6F205A3}" type="parTrans" cxnId="{EEDAA1E6-F80E-460D-9338-BDA78213EC0B}">
      <dgm:prSet/>
      <dgm:spPr/>
      <dgm:t>
        <a:bodyPr/>
        <a:lstStyle/>
        <a:p>
          <a:endParaRPr lang="en-US"/>
        </a:p>
      </dgm:t>
    </dgm:pt>
    <dgm:pt modelId="{43F7CDBD-D530-4C0B-B6E5-9A5FF87ADC40}" type="sibTrans" cxnId="{EEDAA1E6-F80E-460D-9338-BDA78213EC0B}">
      <dgm:prSet/>
      <dgm:spPr/>
      <dgm:t>
        <a:bodyPr/>
        <a:lstStyle/>
        <a:p>
          <a:endParaRPr lang="en-US"/>
        </a:p>
      </dgm:t>
    </dgm:pt>
    <dgm:pt modelId="{85BFEBDF-2ABB-44F4-A39E-49E511120E36}">
      <dgm:prSet/>
      <dgm:spPr/>
      <dgm:t>
        <a:bodyPr/>
        <a:lstStyle/>
        <a:p>
          <a:r>
            <a:rPr lang="en-GB" b="0" i="0"/>
            <a:t>Less Regularity: Unlike seasonal patterns, cyclical patterns lack the predictability of fixed periods.</a:t>
          </a:r>
          <a:endParaRPr lang="en-US"/>
        </a:p>
      </dgm:t>
    </dgm:pt>
    <dgm:pt modelId="{43F823E0-9B05-4463-BF69-468175061D8B}" type="parTrans" cxnId="{E2E1C139-80E8-4BFC-B1DF-3AF3965AA8CF}">
      <dgm:prSet/>
      <dgm:spPr/>
      <dgm:t>
        <a:bodyPr/>
        <a:lstStyle/>
        <a:p>
          <a:endParaRPr lang="en-US"/>
        </a:p>
      </dgm:t>
    </dgm:pt>
    <dgm:pt modelId="{DAC7D1E9-B055-4CF3-94AA-FA184E95908F}" type="sibTrans" cxnId="{E2E1C139-80E8-4BFC-B1DF-3AF3965AA8CF}">
      <dgm:prSet/>
      <dgm:spPr/>
      <dgm:t>
        <a:bodyPr/>
        <a:lstStyle/>
        <a:p>
          <a:endParaRPr lang="en-US"/>
        </a:p>
      </dgm:t>
    </dgm:pt>
    <dgm:pt modelId="{32CF6637-9AB5-4DEB-A07C-CCD313217083}">
      <dgm:prSet/>
      <dgm:spPr/>
      <dgm:t>
        <a:bodyPr/>
        <a:lstStyle/>
        <a:p>
          <a:r>
            <a:rPr lang="en-GB" b="0" i="0"/>
            <a:t>Linked to Economic or Business Cycles: Many cyclical patterns are associated with economic and business cycles, such as the boom and bust cycles in financial markets.</a:t>
          </a:r>
          <a:endParaRPr lang="en-US"/>
        </a:p>
      </dgm:t>
    </dgm:pt>
    <dgm:pt modelId="{D7FD65B7-08FA-42E2-B773-42A1D90898C8}" type="parTrans" cxnId="{2349AF7E-B227-4018-9ECD-DAF801E05C49}">
      <dgm:prSet/>
      <dgm:spPr/>
      <dgm:t>
        <a:bodyPr/>
        <a:lstStyle/>
        <a:p>
          <a:endParaRPr lang="en-US"/>
        </a:p>
      </dgm:t>
    </dgm:pt>
    <dgm:pt modelId="{7CFF7E13-6E95-4B3C-B0AF-7551AD39D343}" type="sibTrans" cxnId="{2349AF7E-B227-4018-9ECD-DAF801E05C49}">
      <dgm:prSet/>
      <dgm:spPr/>
      <dgm:t>
        <a:bodyPr/>
        <a:lstStyle/>
        <a:p>
          <a:endParaRPr lang="en-US"/>
        </a:p>
      </dgm:t>
    </dgm:pt>
    <dgm:pt modelId="{8F93335F-2B1B-4D81-947E-AAEE7B4ED173}" type="pres">
      <dgm:prSet presAssocID="{F6A290D9-EDA8-46B9-8C49-405946ABDB3A}" presName="linear" presStyleCnt="0">
        <dgm:presLayoutVars>
          <dgm:animLvl val="lvl"/>
          <dgm:resizeHandles val="exact"/>
        </dgm:presLayoutVars>
      </dgm:prSet>
      <dgm:spPr/>
    </dgm:pt>
    <dgm:pt modelId="{0D58CBB5-66CC-4247-83FF-E9862131028D}" type="pres">
      <dgm:prSet presAssocID="{F0A419F7-1500-47DE-8209-13D10056285F}" presName="parentText" presStyleLbl="node1" presStyleIdx="0" presStyleCnt="4">
        <dgm:presLayoutVars>
          <dgm:chMax val="0"/>
          <dgm:bulletEnabled val="1"/>
        </dgm:presLayoutVars>
      </dgm:prSet>
      <dgm:spPr/>
    </dgm:pt>
    <dgm:pt modelId="{A9A52E75-ACC7-4555-9A46-289A08C44707}" type="pres">
      <dgm:prSet presAssocID="{A2462054-9D22-49F4-BDC0-A857E364DFFF}" presName="spacer" presStyleCnt="0"/>
      <dgm:spPr/>
    </dgm:pt>
    <dgm:pt modelId="{227899A6-A217-424A-B57D-469C18492E5F}" type="pres">
      <dgm:prSet presAssocID="{9BAB9615-B45E-4E30-B866-5DABEF153C31}" presName="parentText" presStyleLbl="node1" presStyleIdx="1" presStyleCnt="4">
        <dgm:presLayoutVars>
          <dgm:chMax val="0"/>
          <dgm:bulletEnabled val="1"/>
        </dgm:presLayoutVars>
      </dgm:prSet>
      <dgm:spPr/>
    </dgm:pt>
    <dgm:pt modelId="{379708B3-9E84-48FE-9D2E-81DAEC6198BF}" type="pres">
      <dgm:prSet presAssocID="{43F7CDBD-D530-4C0B-B6E5-9A5FF87ADC40}" presName="spacer" presStyleCnt="0"/>
      <dgm:spPr/>
    </dgm:pt>
    <dgm:pt modelId="{5EA86BDC-CCED-44C1-B0B8-09F15FAAD953}" type="pres">
      <dgm:prSet presAssocID="{85BFEBDF-2ABB-44F4-A39E-49E511120E36}" presName="parentText" presStyleLbl="node1" presStyleIdx="2" presStyleCnt="4">
        <dgm:presLayoutVars>
          <dgm:chMax val="0"/>
          <dgm:bulletEnabled val="1"/>
        </dgm:presLayoutVars>
      </dgm:prSet>
      <dgm:spPr/>
    </dgm:pt>
    <dgm:pt modelId="{DC44527D-8574-42A4-BCE0-BCD255D34877}" type="pres">
      <dgm:prSet presAssocID="{DAC7D1E9-B055-4CF3-94AA-FA184E95908F}" presName="spacer" presStyleCnt="0"/>
      <dgm:spPr/>
    </dgm:pt>
    <dgm:pt modelId="{D1F18F68-91A4-4C38-BD00-40E54E62734C}" type="pres">
      <dgm:prSet presAssocID="{32CF6637-9AB5-4DEB-A07C-CCD313217083}" presName="parentText" presStyleLbl="node1" presStyleIdx="3" presStyleCnt="4">
        <dgm:presLayoutVars>
          <dgm:chMax val="0"/>
          <dgm:bulletEnabled val="1"/>
        </dgm:presLayoutVars>
      </dgm:prSet>
      <dgm:spPr/>
    </dgm:pt>
  </dgm:ptLst>
  <dgm:cxnLst>
    <dgm:cxn modelId="{C0207E1D-333B-4355-A1EE-4FF9C341D778}" type="presOf" srcId="{F0A419F7-1500-47DE-8209-13D10056285F}" destId="{0D58CBB5-66CC-4247-83FF-E9862131028D}" srcOrd="0" destOrd="0" presId="urn:microsoft.com/office/officeart/2005/8/layout/vList2"/>
    <dgm:cxn modelId="{437D831F-E311-4A9B-A566-D418E0845EA6}" srcId="{F6A290D9-EDA8-46B9-8C49-405946ABDB3A}" destId="{F0A419F7-1500-47DE-8209-13D10056285F}" srcOrd="0" destOrd="0" parTransId="{505A5755-CF87-4E18-9589-B58D038590F2}" sibTransId="{A2462054-9D22-49F4-BDC0-A857E364DFFF}"/>
    <dgm:cxn modelId="{E2E1C139-80E8-4BFC-B1DF-3AF3965AA8CF}" srcId="{F6A290D9-EDA8-46B9-8C49-405946ABDB3A}" destId="{85BFEBDF-2ABB-44F4-A39E-49E511120E36}" srcOrd="2" destOrd="0" parTransId="{43F823E0-9B05-4463-BF69-468175061D8B}" sibTransId="{DAC7D1E9-B055-4CF3-94AA-FA184E95908F}"/>
    <dgm:cxn modelId="{61D9B23D-7559-41CC-BF24-90B43F626883}" type="presOf" srcId="{F6A290D9-EDA8-46B9-8C49-405946ABDB3A}" destId="{8F93335F-2B1B-4D81-947E-AAEE7B4ED173}" srcOrd="0" destOrd="0" presId="urn:microsoft.com/office/officeart/2005/8/layout/vList2"/>
    <dgm:cxn modelId="{2349AF7E-B227-4018-9ECD-DAF801E05C49}" srcId="{F6A290D9-EDA8-46B9-8C49-405946ABDB3A}" destId="{32CF6637-9AB5-4DEB-A07C-CCD313217083}" srcOrd="3" destOrd="0" parTransId="{D7FD65B7-08FA-42E2-B773-42A1D90898C8}" sibTransId="{7CFF7E13-6E95-4B3C-B0AF-7551AD39D343}"/>
    <dgm:cxn modelId="{070D25BB-6C6A-4900-B9FB-992498630A51}" type="presOf" srcId="{9BAB9615-B45E-4E30-B866-5DABEF153C31}" destId="{227899A6-A217-424A-B57D-469C18492E5F}" srcOrd="0" destOrd="0" presId="urn:microsoft.com/office/officeart/2005/8/layout/vList2"/>
    <dgm:cxn modelId="{CF5E70BE-4326-4A28-AA32-9BB3E4B683B8}" type="presOf" srcId="{85BFEBDF-2ABB-44F4-A39E-49E511120E36}" destId="{5EA86BDC-CCED-44C1-B0B8-09F15FAAD953}" srcOrd="0" destOrd="0" presId="urn:microsoft.com/office/officeart/2005/8/layout/vList2"/>
    <dgm:cxn modelId="{EEDAA1E6-F80E-460D-9338-BDA78213EC0B}" srcId="{F6A290D9-EDA8-46B9-8C49-405946ABDB3A}" destId="{9BAB9615-B45E-4E30-B866-5DABEF153C31}" srcOrd="1" destOrd="0" parTransId="{ABC24B62-B806-4324-99B0-7C4FE6F205A3}" sibTransId="{43F7CDBD-D530-4C0B-B6E5-9A5FF87ADC40}"/>
    <dgm:cxn modelId="{7B2BB6EC-DAB0-4E3F-AFB4-32CF35A49CD0}" type="presOf" srcId="{32CF6637-9AB5-4DEB-A07C-CCD313217083}" destId="{D1F18F68-91A4-4C38-BD00-40E54E62734C}" srcOrd="0" destOrd="0" presId="urn:microsoft.com/office/officeart/2005/8/layout/vList2"/>
    <dgm:cxn modelId="{61E251D0-E4F4-42E3-B7F6-DFBFBA592CF6}" type="presParOf" srcId="{8F93335F-2B1B-4D81-947E-AAEE7B4ED173}" destId="{0D58CBB5-66CC-4247-83FF-E9862131028D}" srcOrd="0" destOrd="0" presId="urn:microsoft.com/office/officeart/2005/8/layout/vList2"/>
    <dgm:cxn modelId="{82ACA6E2-7FF9-4DF7-8C76-713EBFDE825F}" type="presParOf" srcId="{8F93335F-2B1B-4D81-947E-AAEE7B4ED173}" destId="{A9A52E75-ACC7-4555-9A46-289A08C44707}" srcOrd="1" destOrd="0" presId="urn:microsoft.com/office/officeart/2005/8/layout/vList2"/>
    <dgm:cxn modelId="{376E3CEB-1DAF-405C-8CB7-465D452E5D85}" type="presParOf" srcId="{8F93335F-2B1B-4D81-947E-AAEE7B4ED173}" destId="{227899A6-A217-424A-B57D-469C18492E5F}" srcOrd="2" destOrd="0" presId="urn:microsoft.com/office/officeart/2005/8/layout/vList2"/>
    <dgm:cxn modelId="{02EC19D7-341D-49C6-9CDD-22434E35861E}" type="presParOf" srcId="{8F93335F-2B1B-4D81-947E-AAEE7B4ED173}" destId="{379708B3-9E84-48FE-9D2E-81DAEC6198BF}" srcOrd="3" destOrd="0" presId="urn:microsoft.com/office/officeart/2005/8/layout/vList2"/>
    <dgm:cxn modelId="{C4A62A01-33AE-47AB-A0E0-87A7C95B511B}" type="presParOf" srcId="{8F93335F-2B1B-4D81-947E-AAEE7B4ED173}" destId="{5EA86BDC-CCED-44C1-B0B8-09F15FAAD953}" srcOrd="4" destOrd="0" presId="urn:microsoft.com/office/officeart/2005/8/layout/vList2"/>
    <dgm:cxn modelId="{B3F23F7A-5C43-4D03-B19D-8D1E36009980}" type="presParOf" srcId="{8F93335F-2B1B-4D81-947E-AAEE7B4ED173}" destId="{DC44527D-8574-42A4-BCE0-BCD255D34877}" srcOrd="5" destOrd="0" presId="urn:microsoft.com/office/officeart/2005/8/layout/vList2"/>
    <dgm:cxn modelId="{AA17E655-EFC0-44D1-80A9-36E1A3488581}" type="presParOf" srcId="{8F93335F-2B1B-4D81-947E-AAEE7B4ED173}" destId="{D1F18F68-91A4-4C38-BD00-40E54E62734C}"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5925E4C9-E7C4-4AD6-9BBD-D67A6E7EDD2A}" type="doc">
      <dgm:prSet loTypeId="urn:microsoft.com/office/officeart/2008/layout/LinedList" loCatId="list" qsTypeId="urn:microsoft.com/office/officeart/2005/8/quickstyle/simple1" qsCatId="simple" csTypeId="urn:microsoft.com/office/officeart/2005/8/colors/accent0_3" csCatId="mainScheme"/>
      <dgm:spPr/>
      <dgm:t>
        <a:bodyPr/>
        <a:lstStyle/>
        <a:p>
          <a:endParaRPr lang="en-US"/>
        </a:p>
      </dgm:t>
    </dgm:pt>
    <dgm:pt modelId="{F5269963-0BC7-4D4A-8A32-652C53FD44BE}">
      <dgm:prSet/>
      <dgm:spPr/>
      <dgm:t>
        <a:bodyPr/>
        <a:lstStyle/>
        <a:p>
          <a:r>
            <a:rPr lang="en-GB" b="0" i="0"/>
            <a:t>The objectives of analysing cyclical patterns in time series data include:</a:t>
          </a:r>
          <a:endParaRPr lang="en-US"/>
        </a:p>
      </dgm:t>
    </dgm:pt>
    <dgm:pt modelId="{C3B7D7A5-D2D3-4009-9A23-CCC00FEE2B32}" type="parTrans" cxnId="{738A7B69-88A4-49AA-A75D-745DCC983723}">
      <dgm:prSet/>
      <dgm:spPr/>
      <dgm:t>
        <a:bodyPr/>
        <a:lstStyle/>
        <a:p>
          <a:endParaRPr lang="en-US"/>
        </a:p>
      </dgm:t>
    </dgm:pt>
    <dgm:pt modelId="{3A618C13-202F-4F26-B4C6-5A399F18B5FE}" type="sibTrans" cxnId="{738A7B69-88A4-49AA-A75D-745DCC983723}">
      <dgm:prSet/>
      <dgm:spPr/>
      <dgm:t>
        <a:bodyPr/>
        <a:lstStyle/>
        <a:p>
          <a:endParaRPr lang="en-US"/>
        </a:p>
      </dgm:t>
    </dgm:pt>
    <dgm:pt modelId="{85516A51-F626-46E8-98DC-095566543378}">
      <dgm:prSet/>
      <dgm:spPr/>
      <dgm:t>
        <a:bodyPr/>
        <a:lstStyle/>
        <a:p>
          <a:r>
            <a:rPr lang="en-GB" b="0" i="0"/>
            <a:t>Identifying and quantifying the longer-term, non-seasonal trends that affect the data.</a:t>
          </a:r>
          <a:endParaRPr lang="en-US"/>
        </a:p>
      </dgm:t>
    </dgm:pt>
    <dgm:pt modelId="{FFBE5E9B-79E1-437B-8CC7-7EFC8BC1FA2A}" type="parTrans" cxnId="{E37D0346-D97A-4DB2-AC3C-FB92E87D9B58}">
      <dgm:prSet/>
      <dgm:spPr/>
      <dgm:t>
        <a:bodyPr/>
        <a:lstStyle/>
        <a:p>
          <a:endParaRPr lang="en-US"/>
        </a:p>
      </dgm:t>
    </dgm:pt>
    <dgm:pt modelId="{56A7CC18-2518-4963-8B0A-2789391EC332}" type="sibTrans" cxnId="{E37D0346-D97A-4DB2-AC3C-FB92E87D9B58}">
      <dgm:prSet/>
      <dgm:spPr/>
      <dgm:t>
        <a:bodyPr/>
        <a:lstStyle/>
        <a:p>
          <a:endParaRPr lang="en-US"/>
        </a:p>
      </dgm:t>
    </dgm:pt>
    <dgm:pt modelId="{D6898C0E-CC89-4E81-A22C-DC1FAA55EF18}">
      <dgm:prSet/>
      <dgm:spPr/>
      <dgm:t>
        <a:bodyPr/>
        <a:lstStyle/>
        <a:p>
          <a:r>
            <a:rPr lang="en-GB" b="0" i="0"/>
            <a:t>Understanding the influence of economic or business cycles on the data.</a:t>
          </a:r>
          <a:endParaRPr lang="en-US"/>
        </a:p>
      </dgm:t>
    </dgm:pt>
    <dgm:pt modelId="{1E0AA28A-B4EB-4BAF-9F43-9A5F44A4237F}" type="parTrans" cxnId="{263B3D8B-AE31-43BD-8D08-A48ECC5DA037}">
      <dgm:prSet/>
      <dgm:spPr/>
      <dgm:t>
        <a:bodyPr/>
        <a:lstStyle/>
        <a:p>
          <a:endParaRPr lang="en-US"/>
        </a:p>
      </dgm:t>
    </dgm:pt>
    <dgm:pt modelId="{22C0F0E7-34D1-402A-A13C-EF1EB477C8E2}" type="sibTrans" cxnId="{263B3D8B-AE31-43BD-8D08-A48ECC5DA037}">
      <dgm:prSet/>
      <dgm:spPr/>
      <dgm:t>
        <a:bodyPr/>
        <a:lstStyle/>
        <a:p>
          <a:endParaRPr lang="en-US"/>
        </a:p>
      </dgm:t>
    </dgm:pt>
    <dgm:pt modelId="{FC64EDEA-A79F-4057-91D2-2F44D574A7F8}">
      <dgm:prSet/>
      <dgm:spPr/>
      <dgm:t>
        <a:bodyPr/>
        <a:lstStyle/>
        <a:p>
          <a:r>
            <a:rPr lang="en-GB" b="0" i="0"/>
            <a:t>Making forecasts or predictions that account for cyclical fluctuations to improve accuracy.</a:t>
          </a:r>
          <a:endParaRPr lang="en-US"/>
        </a:p>
      </dgm:t>
    </dgm:pt>
    <dgm:pt modelId="{1D34D64F-7563-4A51-AD26-F06A2EA630B3}" type="parTrans" cxnId="{85B13DB2-7F4F-4D6F-A163-2A95F5780BB1}">
      <dgm:prSet/>
      <dgm:spPr/>
      <dgm:t>
        <a:bodyPr/>
        <a:lstStyle/>
        <a:p>
          <a:endParaRPr lang="en-US"/>
        </a:p>
      </dgm:t>
    </dgm:pt>
    <dgm:pt modelId="{FEBE6898-4D86-46DB-ADD1-74DCF8A7BF44}" type="sibTrans" cxnId="{85B13DB2-7F4F-4D6F-A163-2A95F5780BB1}">
      <dgm:prSet/>
      <dgm:spPr/>
      <dgm:t>
        <a:bodyPr/>
        <a:lstStyle/>
        <a:p>
          <a:endParaRPr lang="en-US"/>
        </a:p>
      </dgm:t>
    </dgm:pt>
    <dgm:pt modelId="{757FCB15-923B-494A-98E0-410F961A678A}" type="pres">
      <dgm:prSet presAssocID="{5925E4C9-E7C4-4AD6-9BBD-D67A6E7EDD2A}" presName="vert0" presStyleCnt="0">
        <dgm:presLayoutVars>
          <dgm:dir/>
          <dgm:animOne val="branch"/>
          <dgm:animLvl val="lvl"/>
        </dgm:presLayoutVars>
      </dgm:prSet>
      <dgm:spPr/>
    </dgm:pt>
    <dgm:pt modelId="{4696BA19-BCA9-4DA2-9501-B4FDB239CEA6}" type="pres">
      <dgm:prSet presAssocID="{F5269963-0BC7-4D4A-8A32-652C53FD44BE}" presName="thickLine" presStyleLbl="alignNode1" presStyleIdx="0" presStyleCnt="4"/>
      <dgm:spPr/>
    </dgm:pt>
    <dgm:pt modelId="{F7F22FFF-7B99-4467-A9C7-583A178A9615}" type="pres">
      <dgm:prSet presAssocID="{F5269963-0BC7-4D4A-8A32-652C53FD44BE}" presName="horz1" presStyleCnt="0"/>
      <dgm:spPr/>
    </dgm:pt>
    <dgm:pt modelId="{19233848-5617-4119-96A4-B6E322B54F09}" type="pres">
      <dgm:prSet presAssocID="{F5269963-0BC7-4D4A-8A32-652C53FD44BE}" presName="tx1" presStyleLbl="revTx" presStyleIdx="0" presStyleCnt="4"/>
      <dgm:spPr/>
    </dgm:pt>
    <dgm:pt modelId="{16FF7BF4-B507-4BF6-854D-DFD78C464A2F}" type="pres">
      <dgm:prSet presAssocID="{F5269963-0BC7-4D4A-8A32-652C53FD44BE}" presName="vert1" presStyleCnt="0"/>
      <dgm:spPr/>
    </dgm:pt>
    <dgm:pt modelId="{4A151CCE-6DA2-489F-8C06-DCF15C3ACE01}" type="pres">
      <dgm:prSet presAssocID="{85516A51-F626-46E8-98DC-095566543378}" presName="thickLine" presStyleLbl="alignNode1" presStyleIdx="1" presStyleCnt="4"/>
      <dgm:spPr/>
    </dgm:pt>
    <dgm:pt modelId="{B030B8DF-C513-4A4B-AD6A-24DEB8F04776}" type="pres">
      <dgm:prSet presAssocID="{85516A51-F626-46E8-98DC-095566543378}" presName="horz1" presStyleCnt="0"/>
      <dgm:spPr/>
    </dgm:pt>
    <dgm:pt modelId="{411033E6-3DCA-4492-9A57-65E88F5B651E}" type="pres">
      <dgm:prSet presAssocID="{85516A51-F626-46E8-98DC-095566543378}" presName="tx1" presStyleLbl="revTx" presStyleIdx="1" presStyleCnt="4"/>
      <dgm:spPr/>
    </dgm:pt>
    <dgm:pt modelId="{D8E1771B-B819-4BEF-980B-32E7F02993A2}" type="pres">
      <dgm:prSet presAssocID="{85516A51-F626-46E8-98DC-095566543378}" presName="vert1" presStyleCnt="0"/>
      <dgm:spPr/>
    </dgm:pt>
    <dgm:pt modelId="{416C9822-DCBE-4DF9-B69F-637A15B006C7}" type="pres">
      <dgm:prSet presAssocID="{D6898C0E-CC89-4E81-A22C-DC1FAA55EF18}" presName="thickLine" presStyleLbl="alignNode1" presStyleIdx="2" presStyleCnt="4"/>
      <dgm:spPr/>
    </dgm:pt>
    <dgm:pt modelId="{F3EDF01D-538F-4ED4-8BEC-299BCA30629A}" type="pres">
      <dgm:prSet presAssocID="{D6898C0E-CC89-4E81-A22C-DC1FAA55EF18}" presName="horz1" presStyleCnt="0"/>
      <dgm:spPr/>
    </dgm:pt>
    <dgm:pt modelId="{532B1F53-A67A-43F6-A293-63A8A1DA2E80}" type="pres">
      <dgm:prSet presAssocID="{D6898C0E-CC89-4E81-A22C-DC1FAA55EF18}" presName="tx1" presStyleLbl="revTx" presStyleIdx="2" presStyleCnt="4"/>
      <dgm:spPr/>
    </dgm:pt>
    <dgm:pt modelId="{68D6769E-AE90-434F-9822-512729814E04}" type="pres">
      <dgm:prSet presAssocID="{D6898C0E-CC89-4E81-A22C-DC1FAA55EF18}" presName="vert1" presStyleCnt="0"/>
      <dgm:spPr/>
    </dgm:pt>
    <dgm:pt modelId="{AFBC26A4-2BCA-4C58-9097-2F52F960C46F}" type="pres">
      <dgm:prSet presAssocID="{FC64EDEA-A79F-4057-91D2-2F44D574A7F8}" presName="thickLine" presStyleLbl="alignNode1" presStyleIdx="3" presStyleCnt="4"/>
      <dgm:spPr/>
    </dgm:pt>
    <dgm:pt modelId="{AB439B95-E8FC-4195-8EA4-3D4F6B661D69}" type="pres">
      <dgm:prSet presAssocID="{FC64EDEA-A79F-4057-91D2-2F44D574A7F8}" presName="horz1" presStyleCnt="0"/>
      <dgm:spPr/>
    </dgm:pt>
    <dgm:pt modelId="{76962F40-703E-4274-B697-FCD2B4A4EFE2}" type="pres">
      <dgm:prSet presAssocID="{FC64EDEA-A79F-4057-91D2-2F44D574A7F8}" presName="tx1" presStyleLbl="revTx" presStyleIdx="3" presStyleCnt="4"/>
      <dgm:spPr/>
    </dgm:pt>
    <dgm:pt modelId="{EAAD5BA5-6DB0-410C-B22E-31600F909FDE}" type="pres">
      <dgm:prSet presAssocID="{FC64EDEA-A79F-4057-91D2-2F44D574A7F8}" presName="vert1" presStyleCnt="0"/>
      <dgm:spPr/>
    </dgm:pt>
  </dgm:ptLst>
  <dgm:cxnLst>
    <dgm:cxn modelId="{E37D0346-D97A-4DB2-AC3C-FB92E87D9B58}" srcId="{5925E4C9-E7C4-4AD6-9BBD-D67A6E7EDD2A}" destId="{85516A51-F626-46E8-98DC-095566543378}" srcOrd="1" destOrd="0" parTransId="{FFBE5E9B-79E1-437B-8CC7-7EFC8BC1FA2A}" sibTransId="{56A7CC18-2518-4963-8B0A-2789391EC332}"/>
    <dgm:cxn modelId="{738A7B69-88A4-49AA-A75D-745DCC983723}" srcId="{5925E4C9-E7C4-4AD6-9BBD-D67A6E7EDD2A}" destId="{F5269963-0BC7-4D4A-8A32-652C53FD44BE}" srcOrd="0" destOrd="0" parTransId="{C3B7D7A5-D2D3-4009-9A23-CCC00FEE2B32}" sibTransId="{3A618C13-202F-4F26-B4C6-5A399F18B5FE}"/>
    <dgm:cxn modelId="{263B3D8B-AE31-43BD-8D08-A48ECC5DA037}" srcId="{5925E4C9-E7C4-4AD6-9BBD-D67A6E7EDD2A}" destId="{D6898C0E-CC89-4E81-A22C-DC1FAA55EF18}" srcOrd="2" destOrd="0" parTransId="{1E0AA28A-B4EB-4BAF-9F43-9A5F44A4237F}" sibTransId="{22C0F0E7-34D1-402A-A13C-EF1EB477C8E2}"/>
    <dgm:cxn modelId="{0E060B96-2203-465A-BB64-1C0C3FF48611}" type="presOf" srcId="{D6898C0E-CC89-4E81-A22C-DC1FAA55EF18}" destId="{532B1F53-A67A-43F6-A293-63A8A1DA2E80}" srcOrd="0" destOrd="0" presId="urn:microsoft.com/office/officeart/2008/layout/LinedList"/>
    <dgm:cxn modelId="{059165AE-D316-4814-BBA0-5CB7CE166585}" type="presOf" srcId="{85516A51-F626-46E8-98DC-095566543378}" destId="{411033E6-3DCA-4492-9A57-65E88F5B651E}" srcOrd="0" destOrd="0" presId="urn:microsoft.com/office/officeart/2008/layout/LinedList"/>
    <dgm:cxn modelId="{85B13DB2-7F4F-4D6F-A163-2A95F5780BB1}" srcId="{5925E4C9-E7C4-4AD6-9BBD-D67A6E7EDD2A}" destId="{FC64EDEA-A79F-4057-91D2-2F44D574A7F8}" srcOrd="3" destOrd="0" parTransId="{1D34D64F-7563-4A51-AD26-F06A2EA630B3}" sibTransId="{FEBE6898-4D86-46DB-ADD1-74DCF8A7BF44}"/>
    <dgm:cxn modelId="{B8EBB3BB-E085-40B4-974E-C09AD7F538BC}" type="presOf" srcId="{FC64EDEA-A79F-4057-91D2-2F44D574A7F8}" destId="{76962F40-703E-4274-B697-FCD2B4A4EFE2}" srcOrd="0" destOrd="0" presId="urn:microsoft.com/office/officeart/2008/layout/LinedList"/>
    <dgm:cxn modelId="{FC0E18D4-2D28-45EA-9D71-DE230BAD832E}" type="presOf" srcId="{F5269963-0BC7-4D4A-8A32-652C53FD44BE}" destId="{19233848-5617-4119-96A4-B6E322B54F09}" srcOrd="0" destOrd="0" presId="urn:microsoft.com/office/officeart/2008/layout/LinedList"/>
    <dgm:cxn modelId="{144B56ED-E834-460C-9F68-814719ECEB6E}" type="presOf" srcId="{5925E4C9-E7C4-4AD6-9BBD-D67A6E7EDD2A}" destId="{757FCB15-923B-494A-98E0-410F961A678A}" srcOrd="0" destOrd="0" presId="urn:microsoft.com/office/officeart/2008/layout/LinedList"/>
    <dgm:cxn modelId="{8CC7D23D-FACC-4899-9CC4-DD2722FF7E63}" type="presParOf" srcId="{757FCB15-923B-494A-98E0-410F961A678A}" destId="{4696BA19-BCA9-4DA2-9501-B4FDB239CEA6}" srcOrd="0" destOrd="0" presId="urn:microsoft.com/office/officeart/2008/layout/LinedList"/>
    <dgm:cxn modelId="{B5B881CC-2D56-4A4E-96A8-8A3A2A62A97F}" type="presParOf" srcId="{757FCB15-923B-494A-98E0-410F961A678A}" destId="{F7F22FFF-7B99-4467-A9C7-583A178A9615}" srcOrd="1" destOrd="0" presId="urn:microsoft.com/office/officeart/2008/layout/LinedList"/>
    <dgm:cxn modelId="{7B8245E8-35CD-4BA5-BFD3-764EAFC58C83}" type="presParOf" srcId="{F7F22FFF-7B99-4467-A9C7-583A178A9615}" destId="{19233848-5617-4119-96A4-B6E322B54F09}" srcOrd="0" destOrd="0" presId="urn:microsoft.com/office/officeart/2008/layout/LinedList"/>
    <dgm:cxn modelId="{02D06680-3E0A-4F59-A8E6-3CC9BBCD61B9}" type="presParOf" srcId="{F7F22FFF-7B99-4467-A9C7-583A178A9615}" destId="{16FF7BF4-B507-4BF6-854D-DFD78C464A2F}" srcOrd="1" destOrd="0" presId="urn:microsoft.com/office/officeart/2008/layout/LinedList"/>
    <dgm:cxn modelId="{23B54A05-86B1-4708-9423-C2769223602F}" type="presParOf" srcId="{757FCB15-923B-494A-98E0-410F961A678A}" destId="{4A151CCE-6DA2-489F-8C06-DCF15C3ACE01}" srcOrd="2" destOrd="0" presId="urn:microsoft.com/office/officeart/2008/layout/LinedList"/>
    <dgm:cxn modelId="{B3343986-D226-4AD2-ABAB-945F9D3E0120}" type="presParOf" srcId="{757FCB15-923B-494A-98E0-410F961A678A}" destId="{B030B8DF-C513-4A4B-AD6A-24DEB8F04776}" srcOrd="3" destOrd="0" presId="urn:microsoft.com/office/officeart/2008/layout/LinedList"/>
    <dgm:cxn modelId="{DB7E7E21-CF06-4E1D-ADE5-E424ADE01DFF}" type="presParOf" srcId="{B030B8DF-C513-4A4B-AD6A-24DEB8F04776}" destId="{411033E6-3DCA-4492-9A57-65E88F5B651E}" srcOrd="0" destOrd="0" presId="urn:microsoft.com/office/officeart/2008/layout/LinedList"/>
    <dgm:cxn modelId="{19CC3AEB-119F-42C7-A29D-DB4B10136610}" type="presParOf" srcId="{B030B8DF-C513-4A4B-AD6A-24DEB8F04776}" destId="{D8E1771B-B819-4BEF-980B-32E7F02993A2}" srcOrd="1" destOrd="0" presId="urn:microsoft.com/office/officeart/2008/layout/LinedList"/>
    <dgm:cxn modelId="{06094709-5DB2-4D28-BDAA-73E56612E09D}" type="presParOf" srcId="{757FCB15-923B-494A-98E0-410F961A678A}" destId="{416C9822-DCBE-4DF9-B69F-637A15B006C7}" srcOrd="4" destOrd="0" presId="urn:microsoft.com/office/officeart/2008/layout/LinedList"/>
    <dgm:cxn modelId="{CBD58BC9-8878-48C1-A164-1D62D55E73B5}" type="presParOf" srcId="{757FCB15-923B-494A-98E0-410F961A678A}" destId="{F3EDF01D-538F-4ED4-8BEC-299BCA30629A}" srcOrd="5" destOrd="0" presId="urn:microsoft.com/office/officeart/2008/layout/LinedList"/>
    <dgm:cxn modelId="{935C8867-A438-4499-8DA0-73ED71A9DECA}" type="presParOf" srcId="{F3EDF01D-538F-4ED4-8BEC-299BCA30629A}" destId="{532B1F53-A67A-43F6-A293-63A8A1DA2E80}" srcOrd="0" destOrd="0" presId="urn:microsoft.com/office/officeart/2008/layout/LinedList"/>
    <dgm:cxn modelId="{0D4B7B4B-20A6-40CD-97A6-534BB251BBE6}" type="presParOf" srcId="{F3EDF01D-538F-4ED4-8BEC-299BCA30629A}" destId="{68D6769E-AE90-434F-9822-512729814E04}" srcOrd="1" destOrd="0" presId="urn:microsoft.com/office/officeart/2008/layout/LinedList"/>
    <dgm:cxn modelId="{07EFFFD0-39CB-4A20-8414-3E2766C412A8}" type="presParOf" srcId="{757FCB15-923B-494A-98E0-410F961A678A}" destId="{AFBC26A4-2BCA-4C58-9097-2F52F960C46F}" srcOrd="6" destOrd="0" presId="urn:microsoft.com/office/officeart/2008/layout/LinedList"/>
    <dgm:cxn modelId="{39D4C588-39D2-4F99-8E7D-0A2D2A842F83}" type="presParOf" srcId="{757FCB15-923B-494A-98E0-410F961A678A}" destId="{AB439B95-E8FC-4195-8EA4-3D4F6B661D69}" srcOrd="7" destOrd="0" presId="urn:microsoft.com/office/officeart/2008/layout/LinedList"/>
    <dgm:cxn modelId="{035BAC04-7FDC-4B0A-BE86-3C8D58EBFFCA}" type="presParOf" srcId="{AB439B95-E8FC-4195-8EA4-3D4F6B661D69}" destId="{76962F40-703E-4274-B697-FCD2B4A4EFE2}" srcOrd="0" destOrd="0" presId="urn:microsoft.com/office/officeart/2008/layout/LinedList"/>
    <dgm:cxn modelId="{7558FD91-F47B-44D9-A091-DC2AA8707A51}" type="presParOf" srcId="{AB439B95-E8FC-4195-8EA4-3D4F6B661D69}" destId="{EAAD5BA5-6DB0-410C-B22E-31600F909FDE}"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53EE7052-0E0F-43CD-90DC-8981974C9312}"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F774391E-182F-412D-BF77-7039303B25DD}">
      <dgm:prSet/>
      <dgm:spPr/>
      <dgm:t>
        <a:bodyPr/>
        <a:lstStyle/>
        <a:p>
          <a:r>
            <a:rPr lang="en-GB" b="1" i="0"/>
            <a:t>3. Cyclical Component:</a:t>
          </a:r>
          <a:r>
            <a:rPr lang="en-GB" b="0" i="0"/>
            <a:t> The cyclical component represents longer-term fluctuations that do not have a fixed periodicity like seasonal patterns. It captures economic or business cycles and can span several years. These fluctuations are generally associated with broader trends in the economy. An example is the real estate market cycle, which can last for several years and does not follow an annual or quarterly pattern.</a:t>
          </a:r>
          <a:endParaRPr lang="en-US"/>
        </a:p>
      </dgm:t>
    </dgm:pt>
    <dgm:pt modelId="{BFAFCEB6-D929-4C33-A79F-815B389B3EB2}" type="parTrans" cxnId="{6972E168-BF52-4D3B-B40D-AD312CE4E6EC}">
      <dgm:prSet/>
      <dgm:spPr/>
      <dgm:t>
        <a:bodyPr/>
        <a:lstStyle/>
        <a:p>
          <a:endParaRPr lang="en-US"/>
        </a:p>
      </dgm:t>
    </dgm:pt>
    <dgm:pt modelId="{202D2662-0996-46F8-8D37-5F786AE5EBA8}" type="sibTrans" cxnId="{6972E168-BF52-4D3B-B40D-AD312CE4E6EC}">
      <dgm:prSet/>
      <dgm:spPr/>
      <dgm:t>
        <a:bodyPr/>
        <a:lstStyle/>
        <a:p>
          <a:endParaRPr lang="en-US"/>
        </a:p>
      </dgm:t>
    </dgm:pt>
    <dgm:pt modelId="{6CDA456A-BDE2-454C-972E-3337CEA96027}">
      <dgm:prSet/>
      <dgm:spPr/>
      <dgm:t>
        <a:bodyPr/>
        <a:lstStyle/>
        <a:p>
          <a:r>
            <a:rPr lang="en-GB"/>
            <a:t>4.</a:t>
          </a:r>
          <a:r>
            <a:rPr lang="en-GB" b="1" i="0"/>
            <a:t>Irregular Component (Residual):</a:t>
          </a:r>
          <a:r>
            <a:rPr lang="en-GB" b="0" i="0"/>
            <a:t> The irregular component, often referred to as the residual component, accounts for random and unpredictable variations in the time series data. It includes measurement errors, unexpected events, or other short-term fluctuations that do not fit the trend, seasonal, or cyclical patterns.</a:t>
          </a:r>
          <a:endParaRPr lang="en-US"/>
        </a:p>
      </dgm:t>
    </dgm:pt>
    <dgm:pt modelId="{A429B039-7102-4529-889B-68D729FC79DE}" type="parTrans" cxnId="{E784614B-1ED9-4CF8-9E79-AD58C95929E2}">
      <dgm:prSet/>
      <dgm:spPr/>
      <dgm:t>
        <a:bodyPr/>
        <a:lstStyle/>
        <a:p>
          <a:endParaRPr lang="en-US"/>
        </a:p>
      </dgm:t>
    </dgm:pt>
    <dgm:pt modelId="{53717B94-C722-4AC6-BEC9-1CD374CCE18B}" type="sibTrans" cxnId="{E784614B-1ED9-4CF8-9E79-AD58C95929E2}">
      <dgm:prSet/>
      <dgm:spPr/>
      <dgm:t>
        <a:bodyPr/>
        <a:lstStyle/>
        <a:p>
          <a:endParaRPr lang="en-US"/>
        </a:p>
      </dgm:t>
    </dgm:pt>
    <dgm:pt modelId="{ABC17451-FDD0-40F3-9D97-BF842E4C12DB}" type="pres">
      <dgm:prSet presAssocID="{53EE7052-0E0F-43CD-90DC-8981974C9312}" presName="linear" presStyleCnt="0">
        <dgm:presLayoutVars>
          <dgm:animLvl val="lvl"/>
          <dgm:resizeHandles val="exact"/>
        </dgm:presLayoutVars>
      </dgm:prSet>
      <dgm:spPr/>
    </dgm:pt>
    <dgm:pt modelId="{7146C676-0F60-409D-A465-74286455450C}" type="pres">
      <dgm:prSet presAssocID="{F774391E-182F-412D-BF77-7039303B25DD}" presName="parentText" presStyleLbl="node1" presStyleIdx="0" presStyleCnt="2">
        <dgm:presLayoutVars>
          <dgm:chMax val="0"/>
          <dgm:bulletEnabled val="1"/>
        </dgm:presLayoutVars>
      </dgm:prSet>
      <dgm:spPr/>
    </dgm:pt>
    <dgm:pt modelId="{C38928A0-C1BB-47AD-BB60-964372A244DF}" type="pres">
      <dgm:prSet presAssocID="{202D2662-0996-46F8-8D37-5F786AE5EBA8}" presName="spacer" presStyleCnt="0"/>
      <dgm:spPr/>
    </dgm:pt>
    <dgm:pt modelId="{8DB65E66-7318-4AFD-9BBB-0B5F9BBC1C29}" type="pres">
      <dgm:prSet presAssocID="{6CDA456A-BDE2-454C-972E-3337CEA96027}" presName="parentText" presStyleLbl="node1" presStyleIdx="1" presStyleCnt="2">
        <dgm:presLayoutVars>
          <dgm:chMax val="0"/>
          <dgm:bulletEnabled val="1"/>
        </dgm:presLayoutVars>
      </dgm:prSet>
      <dgm:spPr/>
    </dgm:pt>
  </dgm:ptLst>
  <dgm:cxnLst>
    <dgm:cxn modelId="{0A0EB246-3A59-4CDE-9ACB-8FBA9D348BF8}" type="presOf" srcId="{53EE7052-0E0F-43CD-90DC-8981974C9312}" destId="{ABC17451-FDD0-40F3-9D97-BF842E4C12DB}" srcOrd="0" destOrd="0" presId="urn:microsoft.com/office/officeart/2005/8/layout/vList2"/>
    <dgm:cxn modelId="{6972E168-BF52-4D3B-B40D-AD312CE4E6EC}" srcId="{53EE7052-0E0F-43CD-90DC-8981974C9312}" destId="{F774391E-182F-412D-BF77-7039303B25DD}" srcOrd="0" destOrd="0" parTransId="{BFAFCEB6-D929-4C33-A79F-815B389B3EB2}" sibTransId="{202D2662-0996-46F8-8D37-5F786AE5EBA8}"/>
    <dgm:cxn modelId="{E784614B-1ED9-4CF8-9E79-AD58C95929E2}" srcId="{53EE7052-0E0F-43CD-90DC-8981974C9312}" destId="{6CDA456A-BDE2-454C-972E-3337CEA96027}" srcOrd="1" destOrd="0" parTransId="{A429B039-7102-4529-889B-68D729FC79DE}" sibTransId="{53717B94-C722-4AC6-BEC9-1CD374CCE18B}"/>
    <dgm:cxn modelId="{5783BBC7-2EEF-4362-977D-D87C7CFCC022}" type="presOf" srcId="{6CDA456A-BDE2-454C-972E-3337CEA96027}" destId="{8DB65E66-7318-4AFD-9BBB-0B5F9BBC1C29}" srcOrd="0" destOrd="0" presId="urn:microsoft.com/office/officeart/2005/8/layout/vList2"/>
    <dgm:cxn modelId="{67EB64F5-2E6E-4A5E-80F9-1005FFEDB774}" type="presOf" srcId="{F774391E-182F-412D-BF77-7039303B25DD}" destId="{7146C676-0F60-409D-A465-74286455450C}" srcOrd="0" destOrd="0" presId="urn:microsoft.com/office/officeart/2005/8/layout/vList2"/>
    <dgm:cxn modelId="{8D84ADB3-A229-4366-87D4-52AF5978EBE0}" type="presParOf" srcId="{ABC17451-FDD0-40F3-9D97-BF842E4C12DB}" destId="{7146C676-0F60-409D-A465-74286455450C}" srcOrd="0" destOrd="0" presId="urn:microsoft.com/office/officeart/2005/8/layout/vList2"/>
    <dgm:cxn modelId="{8CD1AE11-A21F-45D9-9FB1-B5CF1C190D76}" type="presParOf" srcId="{ABC17451-FDD0-40F3-9D97-BF842E4C12DB}" destId="{C38928A0-C1BB-47AD-BB60-964372A244DF}" srcOrd="1" destOrd="0" presId="urn:microsoft.com/office/officeart/2005/8/layout/vList2"/>
    <dgm:cxn modelId="{A3677030-2346-4407-97C7-9BA582D2152F}" type="presParOf" srcId="{ABC17451-FDD0-40F3-9D97-BF842E4C12DB}" destId="{8DB65E66-7318-4AFD-9BBB-0B5F9BBC1C29}"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910C2A98-75E9-405A-BF95-2C3520043A4B}"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9D5CAC53-5912-4AA7-8BA4-BBC91ED86D7D}">
      <dgm:prSet/>
      <dgm:spPr/>
      <dgm:t>
        <a:bodyPr/>
        <a:lstStyle/>
        <a:p>
          <a:r>
            <a:rPr lang="en-GB" b="0" i="0"/>
            <a:t>Decomposing a time series helps in understanding the underlying structure of the data, making it easier to model and analyze.</a:t>
          </a:r>
          <a:endParaRPr lang="en-US"/>
        </a:p>
      </dgm:t>
    </dgm:pt>
    <dgm:pt modelId="{BDDCF579-7D85-4B28-9333-0C4600C2CE19}" type="parTrans" cxnId="{D19E4B5B-FA0C-492F-8090-0A80030D7FDE}">
      <dgm:prSet/>
      <dgm:spPr/>
      <dgm:t>
        <a:bodyPr/>
        <a:lstStyle/>
        <a:p>
          <a:endParaRPr lang="en-US"/>
        </a:p>
      </dgm:t>
    </dgm:pt>
    <dgm:pt modelId="{6E19E809-42E1-4F49-A674-F29586B544A9}" type="sibTrans" cxnId="{D19E4B5B-FA0C-492F-8090-0A80030D7FDE}">
      <dgm:prSet/>
      <dgm:spPr/>
      <dgm:t>
        <a:bodyPr/>
        <a:lstStyle/>
        <a:p>
          <a:endParaRPr lang="en-US"/>
        </a:p>
      </dgm:t>
    </dgm:pt>
    <dgm:pt modelId="{F2763380-5610-419C-877B-035991ABA247}">
      <dgm:prSet/>
      <dgm:spPr/>
      <dgm:t>
        <a:bodyPr/>
        <a:lstStyle/>
        <a:p>
          <a:r>
            <a:rPr lang="en-GB" b="0" i="0"/>
            <a:t>Separating the different components allows for more accurate forecasting, as models can be developed independently for each component.</a:t>
          </a:r>
          <a:endParaRPr lang="en-US"/>
        </a:p>
      </dgm:t>
    </dgm:pt>
    <dgm:pt modelId="{6385A14A-8132-4644-B2AD-4F8622D77937}" type="parTrans" cxnId="{28700E72-8CD8-49C0-B1D5-BF960719E97D}">
      <dgm:prSet/>
      <dgm:spPr/>
      <dgm:t>
        <a:bodyPr/>
        <a:lstStyle/>
        <a:p>
          <a:endParaRPr lang="en-US"/>
        </a:p>
      </dgm:t>
    </dgm:pt>
    <dgm:pt modelId="{2CEC591C-633F-49FA-AF24-32D271E0FEE7}" type="sibTrans" cxnId="{28700E72-8CD8-49C0-B1D5-BF960719E97D}">
      <dgm:prSet/>
      <dgm:spPr/>
      <dgm:t>
        <a:bodyPr/>
        <a:lstStyle/>
        <a:p>
          <a:endParaRPr lang="en-US"/>
        </a:p>
      </dgm:t>
    </dgm:pt>
    <dgm:pt modelId="{4B3391E5-B4ED-4342-A3E6-C082967FC8B4}">
      <dgm:prSet/>
      <dgm:spPr/>
      <dgm:t>
        <a:bodyPr/>
        <a:lstStyle/>
        <a:p>
          <a:r>
            <a:rPr lang="en-GB" b="0" i="0"/>
            <a:t>It provides insights into the factors that influence the data, such as the impact of economic cycles or seasonal trends.</a:t>
          </a:r>
          <a:endParaRPr lang="en-US"/>
        </a:p>
      </dgm:t>
    </dgm:pt>
    <dgm:pt modelId="{43E33C9C-73D9-44C4-9683-2366B437622B}" type="parTrans" cxnId="{722CD8AA-A6F0-4D24-A814-CE05F4FCB99D}">
      <dgm:prSet/>
      <dgm:spPr/>
      <dgm:t>
        <a:bodyPr/>
        <a:lstStyle/>
        <a:p>
          <a:endParaRPr lang="en-US"/>
        </a:p>
      </dgm:t>
    </dgm:pt>
    <dgm:pt modelId="{2D984022-EB65-45CF-B722-2651CC787847}" type="sibTrans" cxnId="{722CD8AA-A6F0-4D24-A814-CE05F4FCB99D}">
      <dgm:prSet/>
      <dgm:spPr/>
      <dgm:t>
        <a:bodyPr/>
        <a:lstStyle/>
        <a:p>
          <a:endParaRPr lang="en-US"/>
        </a:p>
      </dgm:t>
    </dgm:pt>
    <dgm:pt modelId="{95998BFC-62A9-4EA5-B45C-D84D22AE5342}">
      <dgm:prSet/>
      <dgm:spPr/>
      <dgm:t>
        <a:bodyPr/>
        <a:lstStyle/>
        <a:p>
          <a:r>
            <a:rPr lang="en-GB" b="0" i="0"/>
            <a:t>Time series decomposition helps in identifying outliers and unusual events that are part of the irregular component.</a:t>
          </a:r>
          <a:endParaRPr lang="en-US"/>
        </a:p>
      </dgm:t>
    </dgm:pt>
    <dgm:pt modelId="{C808BE3E-CBB3-419D-835B-CEE3185CE6E4}" type="parTrans" cxnId="{58126AC8-7989-4789-A78A-5CABD3CC0A35}">
      <dgm:prSet/>
      <dgm:spPr/>
      <dgm:t>
        <a:bodyPr/>
        <a:lstStyle/>
        <a:p>
          <a:endParaRPr lang="en-US"/>
        </a:p>
      </dgm:t>
    </dgm:pt>
    <dgm:pt modelId="{D5D4B556-02C7-41AA-9410-5F1E5E5171AD}" type="sibTrans" cxnId="{58126AC8-7989-4789-A78A-5CABD3CC0A35}">
      <dgm:prSet/>
      <dgm:spPr/>
      <dgm:t>
        <a:bodyPr/>
        <a:lstStyle/>
        <a:p>
          <a:endParaRPr lang="en-US"/>
        </a:p>
      </dgm:t>
    </dgm:pt>
    <dgm:pt modelId="{37811B8A-96E0-489B-95AE-17CB97BCD16D}" type="pres">
      <dgm:prSet presAssocID="{910C2A98-75E9-405A-BF95-2C3520043A4B}" presName="linear" presStyleCnt="0">
        <dgm:presLayoutVars>
          <dgm:animLvl val="lvl"/>
          <dgm:resizeHandles val="exact"/>
        </dgm:presLayoutVars>
      </dgm:prSet>
      <dgm:spPr/>
    </dgm:pt>
    <dgm:pt modelId="{C1EE57FF-A668-4B49-9AEA-2958312EFF5E}" type="pres">
      <dgm:prSet presAssocID="{9D5CAC53-5912-4AA7-8BA4-BBC91ED86D7D}" presName="parentText" presStyleLbl="node1" presStyleIdx="0" presStyleCnt="4">
        <dgm:presLayoutVars>
          <dgm:chMax val="0"/>
          <dgm:bulletEnabled val="1"/>
        </dgm:presLayoutVars>
      </dgm:prSet>
      <dgm:spPr/>
    </dgm:pt>
    <dgm:pt modelId="{1AEDFC78-8D45-48BA-BEF7-72FE74362D94}" type="pres">
      <dgm:prSet presAssocID="{6E19E809-42E1-4F49-A674-F29586B544A9}" presName="spacer" presStyleCnt="0"/>
      <dgm:spPr/>
    </dgm:pt>
    <dgm:pt modelId="{4F7DE530-02DC-4B50-8C4F-0BBD2FADDCC6}" type="pres">
      <dgm:prSet presAssocID="{F2763380-5610-419C-877B-035991ABA247}" presName="parentText" presStyleLbl="node1" presStyleIdx="1" presStyleCnt="4">
        <dgm:presLayoutVars>
          <dgm:chMax val="0"/>
          <dgm:bulletEnabled val="1"/>
        </dgm:presLayoutVars>
      </dgm:prSet>
      <dgm:spPr/>
    </dgm:pt>
    <dgm:pt modelId="{93BF5FEB-B1C9-4467-9910-1F92CE08D730}" type="pres">
      <dgm:prSet presAssocID="{2CEC591C-633F-49FA-AF24-32D271E0FEE7}" presName="spacer" presStyleCnt="0"/>
      <dgm:spPr/>
    </dgm:pt>
    <dgm:pt modelId="{EF096092-41BC-428F-A9A3-E50C6E752DC8}" type="pres">
      <dgm:prSet presAssocID="{4B3391E5-B4ED-4342-A3E6-C082967FC8B4}" presName="parentText" presStyleLbl="node1" presStyleIdx="2" presStyleCnt="4">
        <dgm:presLayoutVars>
          <dgm:chMax val="0"/>
          <dgm:bulletEnabled val="1"/>
        </dgm:presLayoutVars>
      </dgm:prSet>
      <dgm:spPr/>
    </dgm:pt>
    <dgm:pt modelId="{8B9DF2E0-5A0A-45DC-8177-C2E15FF49DB6}" type="pres">
      <dgm:prSet presAssocID="{2D984022-EB65-45CF-B722-2651CC787847}" presName="spacer" presStyleCnt="0"/>
      <dgm:spPr/>
    </dgm:pt>
    <dgm:pt modelId="{44E1EC1C-D90E-4B79-A144-58239050F297}" type="pres">
      <dgm:prSet presAssocID="{95998BFC-62A9-4EA5-B45C-D84D22AE5342}" presName="parentText" presStyleLbl="node1" presStyleIdx="3" presStyleCnt="4">
        <dgm:presLayoutVars>
          <dgm:chMax val="0"/>
          <dgm:bulletEnabled val="1"/>
        </dgm:presLayoutVars>
      </dgm:prSet>
      <dgm:spPr/>
    </dgm:pt>
  </dgm:ptLst>
  <dgm:cxnLst>
    <dgm:cxn modelId="{A96B261F-8175-4248-89F9-3DAD54C0C213}" type="presOf" srcId="{4B3391E5-B4ED-4342-A3E6-C082967FC8B4}" destId="{EF096092-41BC-428F-A9A3-E50C6E752DC8}" srcOrd="0" destOrd="0" presId="urn:microsoft.com/office/officeart/2005/8/layout/vList2"/>
    <dgm:cxn modelId="{D19E4B5B-FA0C-492F-8090-0A80030D7FDE}" srcId="{910C2A98-75E9-405A-BF95-2C3520043A4B}" destId="{9D5CAC53-5912-4AA7-8BA4-BBC91ED86D7D}" srcOrd="0" destOrd="0" parTransId="{BDDCF579-7D85-4B28-9333-0C4600C2CE19}" sibTransId="{6E19E809-42E1-4F49-A674-F29586B544A9}"/>
    <dgm:cxn modelId="{53EE2B63-1D99-419D-890E-46B83C1321F7}" type="presOf" srcId="{910C2A98-75E9-405A-BF95-2C3520043A4B}" destId="{37811B8A-96E0-489B-95AE-17CB97BCD16D}" srcOrd="0" destOrd="0" presId="urn:microsoft.com/office/officeart/2005/8/layout/vList2"/>
    <dgm:cxn modelId="{28700E72-8CD8-49C0-B1D5-BF960719E97D}" srcId="{910C2A98-75E9-405A-BF95-2C3520043A4B}" destId="{F2763380-5610-419C-877B-035991ABA247}" srcOrd="1" destOrd="0" parTransId="{6385A14A-8132-4644-B2AD-4F8622D77937}" sibTransId="{2CEC591C-633F-49FA-AF24-32D271E0FEE7}"/>
    <dgm:cxn modelId="{14B90878-BCE9-4D44-B08C-3035959E8529}" type="presOf" srcId="{9D5CAC53-5912-4AA7-8BA4-BBC91ED86D7D}" destId="{C1EE57FF-A668-4B49-9AEA-2958312EFF5E}" srcOrd="0" destOrd="0" presId="urn:microsoft.com/office/officeart/2005/8/layout/vList2"/>
    <dgm:cxn modelId="{29BDDEA9-9C7A-4A96-B989-883FEB1CD7EA}" type="presOf" srcId="{F2763380-5610-419C-877B-035991ABA247}" destId="{4F7DE530-02DC-4B50-8C4F-0BBD2FADDCC6}" srcOrd="0" destOrd="0" presId="urn:microsoft.com/office/officeart/2005/8/layout/vList2"/>
    <dgm:cxn modelId="{722CD8AA-A6F0-4D24-A814-CE05F4FCB99D}" srcId="{910C2A98-75E9-405A-BF95-2C3520043A4B}" destId="{4B3391E5-B4ED-4342-A3E6-C082967FC8B4}" srcOrd="2" destOrd="0" parTransId="{43E33C9C-73D9-44C4-9683-2366B437622B}" sibTransId="{2D984022-EB65-45CF-B722-2651CC787847}"/>
    <dgm:cxn modelId="{58126AC8-7989-4789-A78A-5CABD3CC0A35}" srcId="{910C2A98-75E9-405A-BF95-2C3520043A4B}" destId="{95998BFC-62A9-4EA5-B45C-D84D22AE5342}" srcOrd="3" destOrd="0" parTransId="{C808BE3E-CBB3-419D-835B-CEE3185CE6E4}" sibTransId="{D5D4B556-02C7-41AA-9410-5F1E5E5171AD}"/>
    <dgm:cxn modelId="{E85623E3-DB67-4091-B081-D0EC7668A27E}" type="presOf" srcId="{95998BFC-62A9-4EA5-B45C-D84D22AE5342}" destId="{44E1EC1C-D90E-4B79-A144-58239050F297}" srcOrd="0" destOrd="0" presId="urn:microsoft.com/office/officeart/2005/8/layout/vList2"/>
    <dgm:cxn modelId="{54638ED2-525F-4F68-90DE-1B9C6B7EA346}" type="presParOf" srcId="{37811B8A-96E0-489B-95AE-17CB97BCD16D}" destId="{C1EE57FF-A668-4B49-9AEA-2958312EFF5E}" srcOrd="0" destOrd="0" presId="urn:microsoft.com/office/officeart/2005/8/layout/vList2"/>
    <dgm:cxn modelId="{96EBF390-9076-47AB-86F7-2FEE4C51829B}" type="presParOf" srcId="{37811B8A-96E0-489B-95AE-17CB97BCD16D}" destId="{1AEDFC78-8D45-48BA-BEF7-72FE74362D94}" srcOrd="1" destOrd="0" presId="urn:microsoft.com/office/officeart/2005/8/layout/vList2"/>
    <dgm:cxn modelId="{0AA61766-B5C1-4D58-B702-FD32578D8854}" type="presParOf" srcId="{37811B8A-96E0-489B-95AE-17CB97BCD16D}" destId="{4F7DE530-02DC-4B50-8C4F-0BBD2FADDCC6}" srcOrd="2" destOrd="0" presId="urn:microsoft.com/office/officeart/2005/8/layout/vList2"/>
    <dgm:cxn modelId="{4F3B45BC-ED39-4245-BA94-28D248C620C9}" type="presParOf" srcId="{37811B8A-96E0-489B-95AE-17CB97BCD16D}" destId="{93BF5FEB-B1C9-4467-9910-1F92CE08D730}" srcOrd="3" destOrd="0" presId="urn:microsoft.com/office/officeart/2005/8/layout/vList2"/>
    <dgm:cxn modelId="{0FC6D0DB-3130-4C5A-9C58-3334E5F5D026}" type="presParOf" srcId="{37811B8A-96E0-489B-95AE-17CB97BCD16D}" destId="{EF096092-41BC-428F-A9A3-E50C6E752DC8}" srcOrd="4" destOrd="0" presId="urn:microsoft.com/office/officeart/2005/8/layout/vList2"/>
    <dgm:cxn modelId="{3D634C14-C7E0-4FB3-9A76-0C15B1F1CD0A}" type="presParOf" srcId="{37811B8A-96E0-489B-95AE-17CB97BCD16D}" destId="{8B9DF2E0-5A0A-45DC-8177-C2E15FF49DB6}" srcOrd="5" destOrd="0" presId="urn:microsoft.com/office/officeart/2005/8/layout/vList2"/>
    <dgm:cxn modelId="{34C05B70-FA9E-4539-8F4C-C6167C8EEC87}" type="presParOf" srcId="{37811B8A-96E0-489B-95AE-17CB97BCD16D}" destId="{44E1EC1C-D90E-4B79-A144-58239050F297}"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9F486C0F-0E8C-4D69-9083-50EF903BCE4A}"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3735E020-B805-4D25-9040-0E512A6567B4}">
      <dgm:prSet/>
      <dgm:spPr/>
      <dgm:t>
        <a:bodyPr/>
        <a:lstStyle/>
        <a:p>
          <a:r>
            <a:rPr lang="en-GB" b="1" i="0"/>
            <a:t>Additive Decomposition:</a:t>
          </a:r>
          <a:r>
            <a:rPr lang="en-GB" b="0" i="0"/>
            <a:t> In an additive decomposition, the time series is considered as the sum of its components, i.e., Trend + Seasonal + Cyclical + Irregular. This method is suitable when the magnitude of the seasonal and cyclical components does not change with time.</a:t>
          </a:r>
          <a:endParaRPr lang="en-US"/>
        </a:p>
      </dgm:t>
    </dgm:pt>
    <dgm:pt modelId="{09547A43-BD95-4DE5-A42C-7F52F940D974}" type="parTrans" cxnId="{A0B73042-604E-44AE-89A3-F6FE812C11E7}">
      <dgm:prSet/>
      <dgm:spPr/>
      <dgm:t>
        <a:bodyPr/>
        <a:lstStyle/>
        <a:p>
          <a:endParaRPr lang="en-US"/>
        </a:p>
      </dgm:t>
    </dgm:pt>
    <dgm:pt modelId="{46E11E71-F31F-471A-850C-6CCB6CCD6AF0}" type="sibTrans" cxnId="{A0B73042-604E-44AE-89A3-F6FE812C11E7}">
      <dgm:prSet/>
      <dgm:spPr/>
      <dgm:t>
        <a:bodyPr/>
        <a:lstStyle/>
        <a:p>
          <a:endParaRPr lang="en-US"/>
        </a:p>
      </dgm:t>
    </dgm:pt>
    <dgm:pt modelId="{FF76C985-4BA3-42B2-90E8-52021DC8DF9C}">
      <dgm:prSet/>
      <dgm:spPr/>
      <dgm:t>
        <a:bodyPr/>
        <a:lstStyle/>
        <a:p>
          <a:r>
            <a:rPr lang="en-GB" b="1" i="0"/>
            <a:t>Multiplicative Decomposition:</a:t>
          </a:r>
          <a:r>
            <a:rPr lang="en-GB" b="0" i="0"/>
            <a:t> In a multiplicative decomposition, the time series is considered as the product of its components, i.e., Trend x Seasonal x Cyclical x Irregular. This method is more appropriate when the magnitude of the seasonal and cyclical components varies with time.</a:t>
          </a:r>
          <a:endParaRPr lang="en-US"/>
        </a:p>
      </dgm:t>
    </dgm:pt>
    <dgm:pt modelId="{24C50F70-16BD-4410-B027-D854402BFD67}" type="parTrans" cxnId="{9EDB63B3-81CB-4278-A736-8A9C0F231323}">
      <dgm:prSet/>
      <dgm:spPr/>
      <dgm:t>
        <a:bodyPr/>
        <a:lstStyle/>
        <a:p>
          <a:endParaRPr lang="en-US"/>
        </a:p>
      </dgm:t>
    </dgm:pt>
    <dgm:pt modelId="{3BB2A011-8CF5-45D3-AF90-25345D3FA589}" type="sibTrans" cxnId="{9EDB63B3-81CB-4278-A736-8A9C0F231323}">
      <dgm:prSet/>
      <dgm:spPr/>
      <dgm:t>
        <a:bodyPr/>
        <a:lstStyle/>
        <a:p>
          <a:endParaRPr lang="en-US"/>
        </a:p>
      </dgm:t>
    </dgm:pt>
    <dgm:pt modelId="{4751A221-A78E-40CA-9027-0BE24DA371BA}" type="pres">
      <dgm:prSet presAssocID="{9F486C0F-0E8C-4D69-9083-50EF903BCE4A}" presName="linear" presStyleCnt="0">
        <dgm:presLayoutVars>
          <dgm:animLvl val="lvl"/>
          <dgm:resizeHandles val="exact"/>
        </dgm:presLayoutVars>
      </dgm:prSet>
      <dgm:spPr/>
    </dgm:pt>
    <dgm:pt modelId="{9A17D95D-E6DD-4117-B703-EABA07B2FC14}" type="pres">
      <dgm:prSet presAssocID="{3735E020-B805-4D25-9040-0E512A6567B4}" presName="parentText" presStyleLbl="node1" presStyleIdx="0" presStyleCnt="2">
        <dgm:presLayoutVars>
          <dgm:chMax val="0"/>
          <dgm:bulletEnabled val="1"/>
        </dgm:presLayoutVars>
      </dgm:prSet>
      <dgm:spPr/>
    </dgm:pt>
    <dgm:pt modelId="{48229652-D748-4F6D-AC96-F135B793E19A}" type="pres">
      <dgm:prSet presAssocID="{46E11E71-F31F-471A-850C-6CCB6CCD6AF0}" presName="spacer" presStyleCnt="0"/>
      <dgm:spPr/>
    </dgm:pt>
    <dgm:pt modelId="{F4ECF779-9D86-45FA-9925-6F1FBA580F55}" type="pres">
      <dgm:prSet presAssocID="{FF76C985-4BA3-42B2-90E8-52021DC8DF9C}" presName="parentText" presStyleLbl="node1" presStyleIdx="1" presStyleCnt="2">
        <dgm:presLayoutVars>
          <dgm:chMax val="0"/>
          <dgm:bulletEnabled val="1"/>
        </dgm:presLayoutVars>
      </dgm:prSet>
      <dgm:spPr/>
    </dgm:pt>
  </dgm:ptLst>
  <dgm:cxnLst>
    <dgm:cxn modelId="{AC259509-DE6B-411D-93AB-A219F84DDE96}" type="presOf" srcId="{3735E020-B805-4D25-9040-0E512A6567B4}" destId="{9A17D95D-E6DD-4117-B703-EABA07B2FC14}" srcOrd="0" destOrd="0" presId="urn:microsoft.com/office/officeart/2005/8/layout/vList2"/>
    <dgm:cxn modelId="{A0B73042-604E-44AE-89A3-F6FE812C11E7}" srcId="{9F486C0F-0E8C-4D69-9083-50EF903BCE4A}" destId="{3735E020-B805-4D25-9040-0E512A6567B4}" srcOrd="0" destOrd="0" parTransId="{09547A43-BD95-4DE5-A42C-7F52F940D974}" sibTransId="{46E11E71-F31F-471A-850C-6CCB6CCD6AF0}"/>
    <dgm:cxn modelId="{4F565343-CDF6-4400-86C5-797CF4783D97}" type="presOf" srcId="{FF76C985-4BA3-42B2-90E8-52021DC8DF9C}" destId="{F4ECF779-9D86-45FA-9925-6F1FBA580F55}" srcOrd="0" destOrd="0" presId="urn:microsoft.com/office/officeart/2005/8/layout/vList2"/>
    <dgm:cxn modelId="{9EDB63B3-81CB-4278-A736-8A9C0F231323}" srcId="{9F486C0F-0E8C-4D69-9083-50EF903BCE4A}" destId="{FF76C985-4BA3-42B2-90E8-52021DC8DF9C}" srcOrd="1" destOrd="0" parTransId="{24C50F70-16BD-4410-B027-D854402BFD67}" sibTransId="{3BB2A011-8CF5-45D3-AF90-25345D3FA589}"/>
    <dgm:cxn modelId="{C9A392BF-41FC-4697-8CDD-76788ABCEFED}" type="presOf" srcId="{9F486C0F-0E8C-4D69-9083-50EF903BCE4A}" destId="{4751A221-A78E-40CA-9027-0BE24DA371BA}" srcOrd="0" destOrd="0" presId="urn:microsoft.com/office/officeart/2005/8/layout/vList2"/>
    <dgm:cxn modelId="{7CD9C019-0991-4DDB-AE4A-4EC474DA1C46}" type="presParOf" srcId="{4751A221-A78E-40CA-9027-0BE24DA371BA}" destId="{9A17D95D-E6DD-4117-B703-EABA07B2FC14}" srcOrd="0" destOrd="0" presId="urn:microsoft.com/office/officeart/2005/8/layout/vList2"/>
    <dgm:cxn modelId="{3DC4E3CB-CFC3-473A-885F-C4C8AA52C032}" type="presParOf" srcId="{4751A221-A78E-40CA-9027-0BE24DA371BA}" destId="{48229652-D748-4F6D-AC96-F135B793E19A}" srcOrd="1" destOrd="0" presId="urn:microsoft.com/office/officeart/2005/8/layout/vList2"/>
    <dgm:cxn modelId="{8A2ECE73-DA6A-4550-935E-D6E972C120A9}" type="presParOf" srcId="{4751A221-A78E-40CA-9027-0BE24DA371BA}" destId="{F4ECF779-9D86-45FA-9925-6F1FBA580F55}"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E067E46F-2352-4AD3-BE7F-94AC0872FA63}"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C4B91AA3-5B23-4939-A091-F652A86AF1D0}">
      <dgm:prSet/>
      <dgm:spPr/>
      <dgm:t>
        <a:bodyPr/>
        <a:lstStyle/>
        <a:p>
          <a:r>
            <a:rPr lang="en-GB" b="0" i="0"/>
            <a:t>Collect the time series data.</a:t>
          </a:r>
          <a:endParaRPr lang="en-US"/>
        </a:p>
      </dgm:t>
    </dgm:pt>
    <dgm:pt modelId="{30EF8A0E-D615-4391-A24A-EA4AC4EC9ECF}" type="parTrans" cxnId="{970FE88B-46DD-441E-A50D-8CA950FDAB18}">
      <dgm:prSet/>
      <dgm:spPr/>
      <dgm:t>
        <a:bodyPr/>
        <a:lstStyle/>
        <a:p>
          <a:endParaRPr lang="en-US"/>
        </a:p>
      </dgm:t>
    </dgm:pt>
    <dgm:pt modelId="{6B4B3D3D-0ED1-4D90-9CA7-8B95EC6DB9E2}" type="sibTrans" cxnId="{970FE88B-46DD-441E-A50D-8CA950FDAB18}">
      <dgm:prSet/>
      <dgm:spPr/>
      <dgm:t>
        <a:bodyPr/>
        <a:lstStyle/>
        <a:p>
          <a:endParaRPr lang="en-US"/>
        </a:p>
      </dgm:t>
    </dgm:pt>
    <dgm:pt modelId="{FDBBACAC-826B-4E28-98B1-FFB836807E43}">
      <dgm:prSet/>
      <dgm:spPr/>
      <dgm:t>
        <a:bodyPr/>
        <a:lstStyle/>
        <a:p>
          <a:r>
            <a:rPr lang="en-GB" b="0" i="0"/>
            <a:t>Choose between additive and multiplicative decomposition based on the characteristics of the data.</a:t>
          </a:r>
          <a:endParaRPr lang="en-US"/>
        </a:p>
      </dgm:t>
    </dgm:pt>
    <dgm:pt modelId="{CFC503E7-6A43-467C-B997-D93E84DCC4E7}" type="parTrans" cxnId="{BF41104C-1CB2-4933-9041-0F4B760F98A7}">
      <dgm:prSet/>
      <dgm:spPr/>
      <dgm:t>
        <a:bodyPr/>
        <a:lstStyle/>
        <a:p>
          <a:endParaRPr lang="en-US"/>
        </a:p>
      </dgm:t>
    </dgm:pt>
    <dgm:pt modelId="{742598AD-81F3-4032-9EAE-930357BA49CB}" type="sibTrans" cxnId="{BF41104C-1CB2-4933-9041-0F4B760F98A7}">
      <dgm:prSet/>
      <dgm:spPr/>
      <dgm:t>
        <a:bodyPr/>
        <a:lstStyle/>
        <a:p>
          <a:endParaRPr lang="en-US"/>
        </a:p>
      </dgm:t>
    </dgm:pt>
    <dgm:pt modelId="{19A4127F-DD67-42DE-A4D0-60A3E59D4017}">
      <dgm:prSet/>
      <dgm:spPr/>
      <dgm:t>
        <a:bodyPr/>
        <a:lstStyle/>
        <a:p>
          <a:r>
            <a:rPr lang="en-GB" b="0" i="0"/>
            <a:t>Decompose the time series using appropriate methods or software tools.</a:t>
          </a:r>
          <a:endParaRPr lang="en-US"/>
        </a:p>
      </dgm:t>
    </dgm:pt>
    <dgm:pt modelId="{0EAF2E31-CADB-4F7A-BB45-B948225A3D4E}" type="parTrans" cxnId="{1099744E-C7C3-4B00-B73E-0E984F7539D2}">
      <dgm:prSet/>
      <dgm:spPr/>
      <dgm:t>
        <a:bodyPr/>
        <a:lstStyle/>
        <a:p>
          <a:endParaRPr lang="en-US"/>
        </a:p>
      </dgm:t>
    </dgm:pt>
    <dgm:pt modelId="{5CB92E23-BDD5-4988-AB1C-98E4D0F81353}" type="sibTrans" cxnId="{1099744E-C7C3-4B00-B73E-0E984F7539D2}">
      <dgm:prSet/>
      <dgm:spPr/>
      <dgm:t>
        <a:bodyPr/>
        <a:lstStyle/>
        <a:p>
          <a:endParaRPr lang="en-US"/>
        </a:p>
      </dgm:t>
    </dgm:pt>
    <dgm:pt modelId="{D3938B28-D312-4E26-AE46-1AC8CF22CEA9}">
      <dgm:prSet/>
      <dgm:spPr/>
      <dgm:t>
        <a:bodyPr/>
        <a:lstStyle/>
        <a:p>
          <a:r>
            <a:rPr lang="en-GB" b="0" i="0"/>
            <a:t>Analyze and interpret the resulting components to gain insights into the data.</a:t>
          </a:r>
          <a:endParaRPr lang="en-US"/>
        </a:p>
      </dgm:t>
    </dgm:pt>
    <dgm:pt modelId="{6511ABE5-9A0B-441C-8217-CE55471BE521}" type="parTrans" cxnId="{7EDF41A9-C479-4B6B-9C1B-99C70EA7E5FD}">
      <dgm:prSet/>
      <dgm:spPr/>
      <dgm:t>
        <a:bodyPr/>
        <a:lstStyle/>
        <a:p>
          <a:endParaRPr lang="en-US"/>
        </a:p>
      </dgm:t>
    </dgm:pt>
    <dgm:pt modelId="{EC10F86F-6C42-4CC4-8409-EDE84186CC3F}" type="sibTrans" cxnId="{7EDF41A9-C479-4B6B-9C1B-99C70EA7E5FD}">
      <dgm:prSet/>
      <dgm:spPr/>
      <dgm:t>
        <a:bodyPr/>
        <a:lstStyle/>
        <a:p>
          <a:endParaRPr lang="en-US"/>
        </a:p>
      </dgm:t>
    </dgm:pt>
    <dgm:pt modelId="{862BD28E-727E-4A49-8627-F485ACD16CD2}">
      <dgm:prSet/>
      <dgm:spPr/>
      <dgm:t>
        <a:bodyPr/>
        <a:lstStyle/>
        <a:p>
          <a:r>
            <a:rPr lang="en-GB" b="0" i="0"/>
            <a:t>Time series decomposition is a valuable technique in time series analysis, as it allows analysts and data scientists to better understand and model complex time series data, leading to improved forecasting and decision-making.</a:t>
          </a:r>
          <a:endParaRPr lang="en-US"/>
        </a:p>
      </dgm:t>
    </dgm:pt>
    <dgm:pt modelId="{A7188CA6-B809-4026-906C-D893599D4ADA}" type="parTrans" cxnId="{FCEA101E-0E58-4856-B02C-3674DFFFFF38}">
      <dgm:prSet/>
      <dgm:spPr/>
      <dgm:t>
        <a:bodyPr/>
        <a:lstStyle/>
        <a:p>
          <a:endParaRPr lang="en-US"/>
        </a:p>
      </dgm:t>
    </dgm:pt>
    <dgm:pt modelId="{8240E50F-EDEB-42FD-9859-6412D4E0A12C}" type="sibTrans" cxnId="{FCEA101E-0E58-4856-B02C-3674DFFFFF38}">
      <dgm:prSet/>
      <dgm:spPr/>
      <dgm:t>
        <a:bodyPr/>
        <a:lstStyle/>
        <a:p>
          <a:endParaRPr lang="en-US"/>
        </a:p>
      </dgm:t>
    </dgm:pt>
    <dgm:pt modelId="{C1587A4E-6046-4C43-82A3-A7BFCE5E53EB}" type="pres">
      <dgm:prSet presAssocID="{E067E46F-2352-4AD3-BE7F-94AC0872FA63}" presName="vert0" presStyleCnt="0">
        <dgm:presLayoutVars>
          <dgm:dir/>
          <dgm:animOne val="branch"/>
          <dgm:animLvl val="lvl"/>
        </dgm:presLayoutVars>
      </dgm:prSet>
      <dgm:spPr/>
    </dgm:pt>
    <dgm:pt modelId="{12B08547-72EB-433D-9CE3-192AC09FABD6}" type="pres">
      <dgm:prSet presAssocID="{C4B91AA3-5B23-4939-A091-F652A86AF1D0}" presName="thickLine" presStyleLbl="alignNode1" presStyleIdx="0" presStyleCnt="5"/>
      <dgm:spPr/>
    </dgm:pt>
    <dgm:pt modelId="{7731D056-A973-4756-9C0F-6777969F03FF}" type="pres">
      <dgm:prSet presAssocID="{C4B91AA3-5B23-4939-A091-F652A86AF1D0}" presName="horz1" presStyleCnt="0"/>
      <dgm:spPr/>
    </dgm:pt>
    <dgm:pt modelId="{BE5B1034-DD06-4BCB-96CA-E2635205F719}" type="pres">
      <dgm:prSet presAssocID="{C4B91AA3-5B23-4939-A091-F652A86AF1D0}" presName="tx1" presStyleLbl="revTx" presStyleIdx="0" presStyleCnt="5"/>
      <dgm:spPr/>
    </dgm:pt>
    <dgm:pt modelId="{43D06218-1F8A-45CA-B830-1AA23DE0F29E}" type="pres">
      <dgm:prSet presAssocID="{C4B91AA3-5B23-4939-A091-F652A86AF1D0}" presName="vert1" presStyleCnt="0"/>
      <dgm:spPr/>
    </dgm:pt>
    <dgm:pt modelId="{7B655270-4D99-405F-9ADE-1DF106F86A5F}" type="pres">
      <dgm:prSet presAssocID="{FDBBACAC-826B-4E28-98B1-FFB836807E43}" presName="thickLine" presStyleLbl="alignNode1" presStyleIdx="1" presStyleCnt="5"/>
      <dgm:spPr/>
    </dgm:pt>
    <dgm:pt modelId="{A9BA1194-67B9-4B77-88FA-156C4BE57FBD}" type="pres">
      <dgm:prSet presAssocID="{FDBBACAC-826B-4E28-98B1-FFB836807E43}" presName="horz1" presStyleCnt="0"/>
      <dgm:spPr/>
    </dgm:pt>
    <dgm:pt modelId="{5C0DFF57-F0A3-4553-874A-963C57E4D485}" type="pres">
      <dgm:prSet presAssocID="{FDBBACAC-826B-4E28-98B1-FFB836807E43}" presName="tx1" presStyleLbl="revTx" presStyleIdx="1" presStyleCnt="5"/>
      <dgm:spPr/>
    </dgm:pt>
    <dgm:pt modelId="{4798AE04-9779-4AF7-8C18-DC9C3B952F08}" type="pres">
      <dgm:prSet presAssocID="{FDBBACAC-826B-4E28-98B1-FFB836807E43}" presName="vert1" presStyleCnt="0"/>
      <dgm:spPr/>
    </dgm:pt>
    <dgm:pt modelId="{7EC6046B-5CD4-457E-BFD9-6580DC3E1C86}" type="pres">
      <dgm:prSet presAssocID="{19A4127F-DD67-42DE-A4D0-60A3E59D4017}" presName="thickLine" presStyleLbl="alignNode1" presStyleIdx="2" presStyleCnt="5"/>
      <dgm:spPr/>
    </dgm:pt>
    <dgm:pt modelId="{D1672DF8-14B2-4FF8-8513-A3FEE41A212B}" type="pres">
      <dgm:prSet presAssocID="{19A4127F-DD67-42DE-A4D0-60A3E59D4017}" presName="horz1" presStyleCnt="0"/>
      <dgm:spPr/>
    </dgm:pt>
    <dgm:pt modelId="{964F2DDC-F44E-484E-95A4-4B9086A6D9BE}" type="pres">
      <dgm:prSet presAssocID="{19A4127F-DD67-42DE-A4D0-60A3E59D4017}" presName="tx1" presStyleLbl="revTx" presStyleIdx="2" presStyleCnt="5"/>
      <dgm:spPr/>
    </dgm:pt>
    <dgm:pt modelId="{57DFD0EC-C3AA-495A-BE51-2E46CBB1C467}" type="pres">
      <dgm:prSet presAssocID="{19A4127F-DD67-42DE-A4D0-60A3E59D4017}" presName="vert1" presStyleCnt="0"/>
      <dgm:spPr/>
    </dgm:pt>
    <dgm:pt modelId="{FDC9F75F-ACEB-4B97-8C3B-928B4E580E07}" type="pres">
      <dgm:prSet presAssocID="{D3938B28-D312-4E26-AE46-1AC8CF22CEA9}" presName="thickLine" presStyleLbl="alignNode1" presStyleIdx="3" presStyleCnt="5"/>
      <dgm:spPr/>
    </dgm:pt>
    <dgm:pt modelId="{A0AE3314-F544-41FC-AF08-4EEC02D16E0A}" type="pres">
      <dgm:prSet presAssocID="{D3938B28-D312-4E26-AE46-1AC8CF22CEA9}" presName="horz1" presStyleCnt="0"/>
      <dgm:spPr/>
    </dgm:pt>
    <dgm:pt modelId="{D716758B-36D0-4D00-88C3-E07D9ADDBA21}" type="pres">
      <dgm:prSet presAssocID="{D3938B28-D312-4E26-AE46-1AC8CF22CEA9}" presName="tx1" presStyleLbl="revTx" presStyleIdx="3" presStyleCnt="5"/>
      <dgm:spPr/>
    </dgm:pt>
    <dgm:pt modelId="{4FA179A8-7CAA-4013-9F50-40415FE246A9}" type="pres">
      <dgm:prSet presAssocID="{D3938B28-D312-4E26-AE46-1AC8CF22CEA9}" presName="vert1" presStyleCnt="0"/>
      <dgm:spPr/>
    </dgm:pt>
    <dgm:pt modelId="{D7EFC3C6-06BC-4340-93E9-B15295BC276D}" type="pres">
      <dgm:prSet presAssocID="{862BD28E-727E-4A49-8627-F485ACD16CD2}" presName="thickLine" presStyleLbl="alignNode1" presStyleIdx="4" presStyleCnt="5"/>
      <dgm:spPr/>
    </dgm:pt>
    <dgm:pt modelId="{7561FD2F-6EDE-40B6-BF50-4DE89F00F216}" type="pres">
      <dgm:prSet presAssocID="{862BD28E-727E-4A49-8627-F485ACD16CD2}" presName="horz1" presStyleCnt="0"/>
      <dgm:spPr/>
    </dgm:pt>
    <dgm:pt modelId="{5434E615-48DA-4DE7-BBF0-43266A326EEA}" type="pres">
      <dgm:prSet presAssocID="{862BD28E-727E-4A49-8627-F485ACD16CD2}" presName="tx1" presStyleLbl="revTx" presStyleIdx="4" presStyleCnt="5"/>
      <dgm:spPr/>
    </dgm:pt>
    <dgm:pt modelId="{ED43512D-D281-4203-A5B1-9CA1C56EE870}" type="pres">
      <dgm:prSet presAssocID="{862BD28E-727E-4A49-8627-F485ACD16CD2}" presName="vert1" presStyleCnt="0"/>
      <dgm:spPr/>
    </dgm:pt>
  </dgm:ptLst>
  <dgm:cxnLst>
    <dgm:cxn modelId="{FCEA101E-0E58-4856-B02C-3674DFFFFF38}" srcId="{E067E46F-2352-4AD3-BE7F-94AC0872FA63}" destId="{862BD28E-727E-4A49-8627-F485ACD16CD2}" srcOrd="4" destOrd="0" parTransId="{A7188CA6-B809-4026-906C-D893599D4ADA}" sibTransId="{8240E50F-EDEB-42FD-9859-6412D4E0A12C}"/>
    <dgm:cxn modelId="{98B79330-6525-444C-BA25-767A5EDCA721}" type="presOf" srcId="{19A4127F-DD67-42DE-A4D0-60A3E59D4017}" destId="{964F2DDC-F44E-484E-95A4-4B9086A6D9BE}" srcOrd="0" destOrd="0" presId="urn:microsoft.com/office/officeart/2008/layout/LinedList"/>
    <dgm:cxn modelId="{230E5A47-942C-4F59-AC47-C62D127BAD37}" type="presOf" srcId="{D3938B28-D312-4E26-AE46-1AC8CF22CEA9}" destId="{D716758B-36D0-4D00-88C3-E07D9ADDBA21}" srcOrd="0" destOrd="0" presId="urn:microsoft.com/office/officeart/2008/layout/LinedList"/>
    <dgm:cxn modelId="{6A5CE968-2053-4092-8B78-950868AC83CB}" type="presOf" srcId="{C4B91AA3-5B23-4939-A091-F652A86AF1D0}" destId="{BE5B1034-DD06-4BCB-96CA-E2635205F719}" srcOrd="0" destOrd="0" presId="urn:microsoft.com/office/officeart/2008/layout/LinedList"/>
    <dgm:cxn modelId="{BF41104C-1CB2-4933-9041-0F4B760F98A7}" srcId="{E067E46F-2352-4AD3-BE7F-94AC0872FA63}" destId="{FDBBACAC-826B-4E28-98B1-FFB836807E43}" srcOrd="1" destOrd="0" parTransId="{CFC503E7-6A43-467C-B997-D93E84DCC4E7}" sibTransId="{742598AD-81F3-4032-9EAE-930357BA49CB}"/>
    <dgm:cxn modelId="{1099744E-C7C3-4B00-B73E-0E984F7539D2}" srcId="{E067E46F-2352-4AD3-BE7F-94AC0872FA63}" destId="{19A4127F-DD67-42DE-A4D0-60A3E59D4017}" srcOrd="2" destOrd="0" parTransId="{0EAF2E31-CADB-4F7A-BB45-B948225A3D4E}" sibTransId="{5CB92E23-BDD5-4988-AB1C-98E4D0F81353}"/>
    <dgm:cxn modelId="{970FE88B-46DD-441E-A50D-8CA950FDAB18}" srcId="{E067E46F-2352-4AD3-BE7F-94AC0872FA63}" destId="{C4B91AA3-5B23-4939-A091-F652A86AF1D0}" srcOrd="0" destOrd="0" parTransId="{30EF8A0E-D615-4391-A24A-EA4AC4EC9ECF}" sibTransId="{6B4B3D3D-0ED1-4D90-9CA7-8B95EC6DB9E2}"/>
    <dgm:cxn modelId="{7EDF41A9-C479-4B6B-9C1B-99C70EA7E5FD}" srcId="{E067E46F-2352-4AD3-BE7F-94AC0872FA63}" destId="{D3938B28-D312-4E26-AE46-1AC8CF22CEA9}" srcOrd="3" destOrd="0" parTransId="{6511ABE5-9A0B-441C-8217-CE55471BE521}" sibTransId="{EC10F86F-6C42-4CC4-8409-EDE84186CC3F}"/>
    <dgm:cxn modelId="{9A12DBD7-2C00-4E79-9EB2-7ED0C8277A99}" type="presOf" srcId="{862BD28E-727E-4A49-8627-F485ACD16CD2}" destId="{5434E615-48DA-4DE7-BBF0-43266A326EEA}" srcOrd="0" destOrd="0" presId="urn:microsoft.com/office/officeart/2008/layout/LinedList"/>
    <dgm:cxn modelId="{426F57E3-0599-455F-A93B-2386CEFC3E86}" type="presOf" srcId="{FDBBACAC-826B-4E28-98B1-FFB836807E43}" destId="{5C0DFF57-F0A3-4553-874A-963C57E4D485}" srcOrd="0" destOrd="0" presId="urn:microsoft.com/office/officeart/2008/layout/LinedList"/>
    <dgm:cxn modelId="{880949EE-64C6-41D8-A71E-64D5730C0FEB}" type="presOf" srcId="{E067E46F-2352-4AD3-BE7F-94AC0872FA63}" destId="{C1587A4E-6046-4C43-82A3-A7BFCE5E53EB}" srcOrd="0" destOrd="0" presId="urn:microsoft.com/office/officeart/2008/layout/LinedList"/>
    <dgm:cxn modelId="{39F2EF69-3A74-431A-9B5E-234FC0E3DD0E}" type="presParOf" srcId="{C1587A4E-6046-4C43-82A3-A7BFCE5E53EB}" destId="{12B08547-72EB-433D-9CE3-192AC09FABD6}" srcOrd="0" destOrd="0" presId="urn:microsoft.com/office/officeart/2008/layout/LinedList"/>
    <dgm:cxn modelId="{33966A4B-3EFB-4B2A-9DE6-258B10282380}" type="presParOf" srcId="{C1587A4E-6046-4C43-82A3-A7BFCE5E53EB}" destId="{7731D056-A973-4756-9C0F-6777969F03FF}" srcOrd="1" destOrd="0" presId="urn:microsoft.com/office/officeart/2008/layout/LinedList"/>
    <dgm:cxn modelId="{F5B67031-5E44-457C-85F9-DA56C74E7203}" type="presParOf" srcId="{7731D056-A973-4756-9C0F-6777969F03FF}" destId="{BE5B1034-DD06-4BCB-96CA-E2635205F719}" srcOrd="0" destOrd="0" presId="urn:microsoft.com/office/officeart/2008/layout/LinedList"/>
    <dgm:cxn modelId="{2D18FDAE-74C6-4A7C-A884-5921966D2301}" type="presParOf" srcId="{7731D056-A973-4756-9C0F-6777969F03FF}" destId="{43D06218-1F8A-45CA-B830-1AA23DE0F29E}" srcOrd="1" destOrd="0" presId="urn:microsoft.com/office/officeart/2008/layout/LinedList"/>
    <dgm:cxn modelId="{1338994A-F458-4DDC-A7EA-1B4EA9E7D705}" type="presParOf" srcId="{C1587A4E-6046-4C43-82A3-A7BFCE5E53EB}" destId="{7B655270-4D99-405F-9ADE-1DF106F86A5F}" srcOrd="2" destOrd="0" presId="urn:microsoft.com/office/officeart/2008/layout/LinedList"/>
    <dgm:cxn modelId="{82FCB8FC-3C9D-4E25-99EF-DE2C17375DB6}" type="presParOf" srcId="{C1587A4E-6046-4C43-82A3-A7BFCE5E53EB}" destId="{A9BA1194-67B9-4B77-88FA-156C4BE57FBD}" srcOrd="3" destOrd="0" presId="urn:microsoft.com/office/officeart/2008/layout/LinedList"/>
    <dgm:cxn modelId="{9C948971-2D48-450D-98CC-77CE62A3177D}" type="presParOf" srcId="{A9BA1194-67B9-4B77-88FA-156C4BE57FBD}" destId="{5C0DFF57-F0A3-4553-874A-963C57E4D485}" srcOrd="0" destOrd="0" presId="urn:microsoft.com/office/officeart/2008/layout/LinedList"/>
    <dgm:cxn modelId="{F7CBF422-77AA-4D15-AD31-AD02BB0285FF}" type="presParOf" srcId="{A9BA1194-67B9-4B77-88FA-156C4BE57FBD}" destId="{4798AE04-9779-4AF7-8C18-DC9C3B952F08}" srcOrd="1" destOrd="0" presId="urn:microsoft.com/office/officeart/2008/layout/LinedList"/>
    <dgm:cxn modelId="{18BFB61F-F5A0-41DD-AEA4-4F535DA2BD56}" type="presParOf" srcId="{C1587A4E-6046-4C43-82A3-A7BFCE5E53EB}" destId="{7EC6046B-5CD4-457E-BFD9-6580DC3E1C86}" srcOrd="4" destOrd="0" presId="urn:microsoft.com/office/officeart/2008/layout/LinedList"/>
    <dgm:cxn modelId="{F9E0039C-CFFD-44C8-8AE9-7A5312A7AED7}" type="presParOf" srcId="{C1587A4E-6046-4C43-82A3-A7BFCE5E53EB}" destId="{D1672DF8-14B2-4FF8-8513-A3FEE41A212B}" srcOrd="5" destOrd="0" presId="urn:microsoft.com/office/officeart/2008/layout/LinedList"/>
    <dgm:cxn modelId="{4573B4FA-2198-4768-996F-228D2ED7CFED}" type="presParOf" srcId="{D1672DF8-14B2-4FF8-8513-A3FEE41A212B}" destId="{964F2DDC-F44E-484E-95A4-4B9086A6D9BE}" srcOrd="0" destOrd="0" presId="urn:microsoft.com/office/officeart/2008/layout/LinedList"/>
    <dgm:cxn modelId="{08AFC515-F1A8-4BDE-A363-E46D7FF1BBEA}" type="presParOf" srcId="{D1672DF8-14B2-4FF8-8513-A3FEE41A212B}" destId="{57DFD0EC-C3AA-495A-BE51-2E46CBB1C467}" srcOrd="1" destOrd="0" presId="urn:microsoft.com/office/officeart/2008/layout/LinedList"/>
    <dgm:cxn modelId="{91B72F09-B5CE-44CC-84FC-DEF6726DE2B3}" type="presParOf" srcId="{C1587A4E-6046-4C43-82A3-A7BFCE5E53EB}" destId="{FDC9F75F-ACEB-4B97-8C3B-928B4E580E07}" srcOrd="6" destOrd="0" presId="urn:microsoft.com/office/officeart/2008/layout/LinedList"/>
    <dgm:cxn modelId="{146C5B78-38FE-4867-9BDC-B9B3D1050369}" type="presParOf" srcId="{C1587A4E-6046-4C43-82A3-A7BFCE5E53EB}" destId="{A0AE3314-F544-41FC-AF08-4EEC02D16E0A}" srcOrd="7" destOrd="0" presId="urn:microsoft.com/office/officeart/2008/layout/LinedList"/>
    <dgm:cxn modelId="{41D8E766-BDAD-4462-9168-8452C81E7270}" type="presParOf" srcId="{A0AE3314-F544-41FC-AF08-4EEC02D16E0A}" destId="{D716758B-36D0-4D00-88C3-E07D9ADDBA21}" srcOrd="0" destOrd="0" presId="urn:microsoft.com/office/officeart/2008/layout/LinedList"/>
    <dgm:cxn modelId="{9A467E62-DC3A-4F5A-8574-45E95E24A339}" type="presParOf" srcId="{A0AE3314-F544-41FC-AF08-4EEC02D16E0A}" destId="{4FA179A8-7CAA-4013-9F50-40415FE246A9}" srcOrd="1" destOrd="0" presId="urn:microsoft.com/office/officeart/2008/layout/LinedList"/>
    <dgm:cxn modelId="{D0AB1085-2518-42B0-940E-72081FC2DCDE}" type="presParOf" srcId="{C1587A4E-6046-4C43-82A3-A7BFCE5E53EB}" destId="{D7EFC3C6-06BC-4340-93E9-B15295BC276D}" srcOrd="8" destOrd="0" presId="urn:microsoft.com/office/officeart/2008/layout/LinedList"/>
    <dgm:cxn modelId="{B24B3B0B-86C9-4252-8754-CB38F2F71F5F}" type="presParOf" srcId="{C1587A4E-6046-4C43-82A3-A7BFCE5E53EB}" destId="{7561FD2F-6EDE-40B6-BF50-4DE89F00F216}" srcOrd="9" destOrd="0" presId="urn:microsoft.com/office/officeart/2008/layout/LinedList"/>
    <dgm:cxn modelId="{734A0203-D390-4EFA-B0BD-002F1719B01E}" type="presParOf" srcId="{7561FD2F-6EDE-40B6-BF50-4DE89F00F216}" destId="{5434E615-48DA-4DE7-BBF0-43266A326EEA}" srcOrd="0" destOrd="0" presId="urn:microsoft.com/office/officeart/2008/layout/LinedList"/>
    <dgm:cxn modelId="{0AF0D5C5-D02D-4AC3-8464-BB1D4FA86C26}" type="presParOf" srcId="{7561FD2F-6EDE-40B6-BF50-4DE89F00F216}" destId="{ED43512D-D281-4203-A5B1-9CA1C56EE870}"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6B3478-A956-4975-BFB4-4243CE0F5BB3}">
      <dsp:nvSpPr>
        <dsp:cNvPr id="0" name=""/>
        <dsp:cNvSpPr/>
      </dsp:nvSpPr>
      <dsp:spPr>
        <a:xfrm>
          <a:off x="0" y="1302"/>
          <a:ext cx="7003777" cy="190476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GB" sz="2200" b="0" i="0" kern="1200"/>
            <a:t>Time Series Analysis holds immense significance in various fields and industries due to its ability to provide valuable insights and make informed decisions based on historical data. Here are some key reasons why Time Series Analysis is essential:</a:t>
          </a:r>
          <a:endParaRPr lang="en-US" sz="2200" kern="1200"/>
        </a:p>
      </dsp:txBody>
      <dsp:txXfrm>
        <a:off x="92983" y="94285"/>
        <a:ext cx="6817811" cy="1718794"/>
      </dsp:txXfrm>
    </dsp:sp>
    <dsp:sp modelId="{8CE72C7B-EE12-4E78-9FA2-063CBE2F0FCF}">
      <dsp:nvSpPr>
        <dsp:cNvPr id="0" name=""/>
        <dsp:cNvSpPr/>
      </dsp:nvSpPr>
      <dsp:spPr>
        <a:xfrm>
          <a:off x="0" y="1969422"/>
          <a:ext cx="7003777" cy="1904760"/>
        </a:xfrm>
        <a:prstGeom prst="roundRect">
          <a:avLst/>
        </a:prstGeom>
        <a:solidFill>
          <a:schemeClr val="accent2">
            <a:hueOff val="744223"/>
            <a:satOff val="-464"/>
            <a:lumOff val="62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GB" sz="2200" b="1" i="0" kern="1200" dirty="0"/>
            <a:t>Understanding Trends and Patterns</a:t>
          </a:r>
          <a:r>
            <a:rPr lang="en-GB" sz="2200" b="0" i="0" kern="1200" dirty="0"/>
            <a:t>: Time series data allows us to identify trends and patterns over time. This is crucial for understanding how data evolves, which can inform various strategies and decisions.</a:t>
          </a:r>
          <a:endParaRPr lang="en-US" sz="2200" kern="1200" dirty="0"/>
        </a:p>
      </dsp:txBody>
      <dsp:txXfrm>
        <a:off x="92983" y="2062405"/>
        <a:ext cx="6817811" cy="1718794"/>
      </dsp:txXfrm>
    </dsp:sp>
    <dsp:sp modelId="{FBEC2BA7-38C2-4A10-A3B1-754F574F8891}">
      <dsp:nvSpPr>
        <dsp:cNvPr id="0" name=""/>
        <dsp:cNvSpPr/>
      </dsp:nvSpPr>
      <dsp:spPr>
        <a:xfrm>
          <a:off x="0" y="3937542"/>
          <a:ext cx="7003777" cy="1904760"/>
        </a:xfrm>
        <a:prstGeom prst="roundRect">
          <a:avLst/>
        </a:prstGeom>
        <a:solidFill>
          <a:schemeClr val="accent2">
            <a:hueOff val="1488446"/>
            <a:satOff val="-929"/>
            <a:lumOff val="1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GB" sz="2200" b="1" i="0" kern="1200"/>
            <a:t>Forecasting Future Values</a:t>
          </a:r>
          <a:r>
            <a:rPr lang="en-GB" sz="2200" b="0" i="0" kern="1200"/>
            <a:t>: Time series analysis provides the tools to make predictions about future data points. This is used for financial forecasting, sales predictions, demand forecasting, and more.</a:t>
          </a:r>
          <a:endParaRPr lang="en-US" sz="2200" kern="1200"/>
        </a:p>
      </dsp:txBody>
      <dsp:txXfrm>
        <a:off x="92983" y="4030525"/>
        <a:ext cx="6817811" cy="17187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3D7790-35CE-4631-9EFD-999531A066F4}">
      <dsp:nvSpPr>
        <dsp:cNvPr id="0" name=""/>
        <dsp:cNvSpPr/>
      </dsp:nvSpPr>
      <dsp:spPr>
        <a:xfrm>
          <a:off x="0" y="416202"/>
          <a:ext cx="7003777" cy="247103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b="1" i="0" kern="1200"/>
            <a:t>Seasonal and Cyclical Patterns</a:t>
          </a:r>
          <a:r>
            <a:rPr lang="en-GB" sz="2400" b="0" i="0" kern="1200"/>
            <a:t>: Many time series data exhibit seasonal or cyclical patterns, such as increased sales during holidays or recurring trends in financial markets. Understanding and leveraging these patterns can lead to more effective strategies.</a:t>
          </a:r>
          <a:endParaRPr lang="en-US" sz="2400" kern="1200"/>
        </a:p>
      </dsp:txBody>
      <dsp:txXfrm>
        <a:off x="120626" y="536828"/>
        <a:ext cx="6762525" cy="2229787"/>
      </dsp:txXfrm>
    </dsp:sp>
    <dsp:sp modelId="{FAA8E702-CFE0-4FBA-AD2B-2AD47BF935F3}">
      <dsp:nvSpPr>
        <dsp:cNvPr id="0" name=""/>
        <dsp:cNvSpPr/>
      </dsp:nvSpPr>
      <dsp:spPr>
        <a:xfrm>
          <a:off x="0" y="2956362"/>
          <a:ext cx="7003777" cy="2471039"/>
        </a:xfrm>
        <a:prstGeom prst="roundRect">
          <a:avLst/>
        </a:prstGeom>
        <a:solidFill>
          <a:schemeClr val="accent2">
            <a:hueOff val="1488446"/>
            <a:satOff val="-929"/>
            <a:lumOff val="1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b="1" i="0" kern="1200"/>
            <a:t>Resource Allocation</a:t>
          </a:r>
          <a:r>
            <a:rPr lang="en-GB" sz="2400" b="0" i="0" kern="1200"/>
            <a:t>: Businesses and organizations use time series analysis to allocate resources more efficiently. For instance, optimizing inventory based on demand forecasts can lead to cost savings.</a:t>
          </a:r>
          <a:endParaRPr lang="en-US" sz="2400" kern="1200"/>
        </a:p>
      </dsp:txBody>
      <dsp:txXfrm>
        <a:off x="120626" y="3076988"/>
        <a:ext cx="6762525" cy="222978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0356E6-5575-4824-BD89-B10A07FB67CC}">
      <dsp:nvSpPr>
        <dsp:cNvPr id="0" name=""/>
        <dsp:cNvSpPr/>
      </dsp:nvSpPr>
      <dsp:spPr>
        <a:xfrm>
          <a:off x="0" y="545262"/>
          <a:ext cx="7003777" cy="233766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GB" sz="2700" b="1" i="0" kern="1200"/>
            <a:t>Anomaly Detection</a:t>
          </a:r>
          <a:r>
            <a:rPr lang="en-GB" sz="2700" b="0" i="0" kern="1200"/>
            <a:t>: Time series analysis helps in identifying anomalies or outliers in data. Detecting unusual patterns can be critical for fraud detection, network security, and fault monitoring.</a:t>
          </a:r>
          <a:endParaRPr lang="en-US" sz="2700" kern="1200"/>
        </a:p>
      </dsp:txBody>
      <dsp:txXfrm>
        <a:off x="114115" y="659377"/>
        <a:ext cx="6775547" cy="2109430"/>
      </dsp:txXfrm>
    </dsp:sp>
    <dsp:sp modelId="{ABD4087D-64F8-45B3-A291-D67EBD45EAD8}">
      <dsp:nvSpPr>
        <dsp:cNvPr id="0" name=""/>
        <dsp:cNvSpPr/>
      </dsp:nvSpPr>
      <dsp:spPr>
        <a:xfrm>
          <a:off x="0" y="2960682"/>
          <a:ext cx="7003777" cy="2337660"/>
        </a:xfrm>
        <a:prstGeom prst="roundRect">
          <a:avLst/>
        </a:prstGeom>
        <a:solidFill>
          <a:schemeClr val="accent2">
            <a:hueOff val="1488446"/>
            <a:satOff val="-929"/>
            <a:lumOff val="1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GB" sz="2700" b="1" i="0" kern="1200"/>
            <a:t>Risk Management</a:t>
          </a:r>
          <a:r>
            <a:rPr lang="en-GB" sz="2700" b="0" i="0" kern="1200"/>
            <a:t>: In financial industries, understanding the time series behaviour of assets helps in risk management. Analysing historical asset prices can provide insights into potential future risks.</a:t>
          </a:r>
          <a:endParaRPr lang="en-US" sz="2700" kern="1200"/>
        </a:p>
      </dsp:txBody>
      <dsp:txXfrm>
        <a:off x="114115" y="3074797"/>
        <a:ext cx="6775547" cy="210943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62C957-5587-4BBF-B673-81A2E6ECA6C2}">
      <dsp:nvSpPr>
        <dsp:cNvPr id="0" name=""/>
        <dsp:cNvSpPr/>
      </dsp:nvSpPr>
      <dsp:spPr>
        <a:xfrm>
          <a:off x="0" y="103002"/>
          <a:ext cx="7003777" cy="27799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GB" sz="2700" b="1" i="0" kern="1200"/>
            <a:t>Policy and Strategy Making</a:t>
          </a:r>
          <a:r>
            <a:rPr lang="en-GB" sz="2700" b="0" i="0" kern="1200"/>
            <a:t>: Governments and policymakers use time series analysis to inform decisions and policies. For example, analysing historical health data can inform public health strategies.</a:t>
          </a:r>
          <a:endParaRPr lang="en-US" sz="2700" kern="1200"/>
        </a:p>
      </dsp:txBody>
      <dsp:txXfrm>
        <a:off x="135705" y="238707"/>
        <a:ext cx="6732367" cy="2508510"/>
      </dsp:txXfrm>
    </dsp:sp>
    <dsp:sp modelId="{50173F10-FE34-4CE4-AD7D-27C5C802CE8D}">
      <dsp:nvSpPr>
        <dsp:cNvPr id="0" name=""/>
        <dsp:cNvSpPr/>
      </dsp:nvSpPr>
      <dsp:spPr>
        <a:xfrm>
          <a:off x="0" y="2960682"/>
          <a:ext cx="7003777" cy="2779920"/>
        </a:xfrm>
        <a:prstGeom prst="roundRect">
          <a:avLst/>
        </a:prstGeom>
        <a:solidFill>
          <a:schemeClr val="accent2">
            <a:hueOff val="1488446"/>
            <a:satOff val="-929"/>
            <a:lumOff val="1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GB" sz="2700" b="1" i="0" kern="1200"/>
            <a:t>Optimisation</a:t>
          </a:r>
          <a:r>
            <a:rPr lang="en-GB" sz="2700" b="0" i="0" kern="1200"/>
            <a:t>: Time series analysis can optimize various processes, such as energy consumption, traffic management, and supply chain operations.</a:t>
          </a:r>
          <a:endParaRPr lang="en-US" sz="2700" kern="1200"/>
        </a:p>
      </dsp:txBody>
      <dsp:txXfrm>
        <a:off x="135705" y="3096387"/>
        <a:ext cx="6732367" cy="250851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E4A7E5-DA0A-4775-9AFC-B02380C0F26A}">
      <dsp:nvSpPr>
        <dsp:cNvPr id="0" name=""/>
        <dsp:cNvSpPr/>
      </dsp:nvSpPr>
      <dsp:spPr>
        <a:xfrm>
          <a:off x="0" y="457242"/>
          <a:ext cx="7003777" cy="24242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GB" sz="2800" b="1" i="0" kern="1200"/>
            <a:t>Scientific Research</a:t>
          </a:r>
          <a:r>
            <a:rPr lang="en-GB" sz="2800" b="0" i="0" kern="1200"/>
            <a:t>: In scientific research, time series data is used in fields like climatology, epidemiology, and astrophysics to analyse patterns and make predictions.</a:t>
          </a:r>
          <a:endParaRPr lang="en-US" sz="2800" kern="1200"/>
        </a:p>
      </dsp:txBody>
      <dsp:txXfrm>
        <a:off x="118342" y="575584"/>
        <a:ext cx="6767093" cy="2187556"/>
      </dsp:txXfrm>
    </dsp:sp>
    <dsp:sp modelId="{20C7B90E-D20C-432B-80F3-303B8B79A0F8}">
      <dsp:nvSpPr>
        <dsp:cNvPr id="0" name=""/>
        <dsp:cNvSpPr/>
      </dsp:nvSpPr>
      <dsp:spPr>
        <a:xfrm>
          <a:off x="0" y="2962122"/>
          <a:ext cx="7003777" cy="2424240"/>
        </a:xfrm>
        <a:prstGeom prst="roundRect">
          <a:avLst/>
        </a:prstGeom>
        <a:solidFill>
          <a:schemeClr val="accent2">
            <a:hueOff val="1488446"/>
            <a:satOff val="-929"/>
            <a:lumOff val="1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GB" sz="2800" b="1" i="0" kern="1200"/>
            <a:t>Performance Monitoring</a:t>
          </a:r>
          <a:r>
            <a:rPr lang="en-GB" sz="2800" b="0" i="0" kern="1200"/>
            <a:t>: Organizations use time series analysis to monitor and evaluate the performance of various systems, from manufacturing processes to website traffic.</a:t>
          </a:r>
          <a:endParaRPr lang="en-US" sz="2800" kern="1200"/>
        </a:p>
      </dsp:txBody>
      <dsp:txXfrm>
        <a:off x="118342" y="3080464"/>
        <a:ext cx="6767093" cy="218755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19731D-B6F8-4C48-8FCB-7AB05D8451F1}">
      <dsp:nvSpPr>
        <dsp:cNvPr id="0" name=""/>
        <dsp:cNvSpPr/>
      </dsp:nvSpPr>
      <dsp:spPr>
        <a:xfrm>
          <a:off x="0" y="71232"/>
          <a:ext cx="7003777" cy="186966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GB" sz="1600" b="0" i="0" kern="1200"/>
            <a:t>The primary objectives of Time Series Forecasting are to leverage historical time-ordered data to achieve the following:</a:t>
          </a:r>
          <a:endParaRPr lang="en-US" sz="1600" kern="1200"/>
        </a:p>
      </dsp:txBody>
      <dsp:txXfrm>
        <a:off x="91269" y="162501"/>
        <a:ext cx="6821239" cy="1687122"/>
      </dsp:txXfrm>
    </dsp:sp>
    <dsp:sp modelId="{DA1278C3-D025-4A48-AB57-1DF353372D0A}">
      <dsp:nvSpPr>
        <dsp:cNvPr id="0" name=""/>
        <dsp:cNvSpPr/>
      </dsp:nvSpPr>
      <dsp:spPr>
        <a:xfrm>
          <a:off x="0" y="1986972"/>
          <a:ext cx="7003777" cy="1869660"/>
        </a:xfrm>
        <a:prstGeom prst="roundRect">
          <a:avLst/>
        </a:prstGeom>
        <a:solidFill>
          <a:schemeClr val="accent2">
            <a:hueOff val="744223"/>
            <a:satOff val="-464"/>
            <a:lumOff val="62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GB" sz="1600" b="1" i="0" kern="1200"/>
            <a:t>Prediction and Future Planning</a:t>
          </a:r>
          <a:r>
            <a:rPr lang="en-GB" sz="1600" b="0" i="0" kern="1200"/>
            <a:t>: One of the primary objectives of time series forecasting is to predict future values accurately. By analysing historical data, organizations and individuals can anticipate what will happen in the future. This prediction is crucial for planning and making informed decisions. For example, businesses use sales forecasts to plan inventory, and meteorologists use weather forecasts to prepare for extreme weather events.</a:t>
          </a:r>
          <a:endParaRPr lang="en-US" sz="1600" kern="1200"/>
        </a:p>
      </dsp:txBody>
      <dsp:txXfrm>
        <a:off x="91269" y="2078241"/>
        <a:ext cx="6821239" cy="1687122"/>
      </dsp:txXfrm>
    </dsp:sp>
    <dsp:sp modelId="{9C52D655-CABA-4B66-8921-51507DF841DF}">
      <dsp:nvSpPr>
        <dsp:cNvPr id="0" name=""/>
        <dsp:cNvSpPr/>
      </dsp:nvSpPr>
      <dsp:spPr>
        <a:xfrm>
          <a:off x="0" y="3902712"/>
          <a:ext cx="7003777" cy="1869660"/>
        </a:xfrm>
        <a:prstGeom prst="roundRect">
          <a:avLst/>
        </a:prstGeom>
        <a:solidFill>
          <a:schemeClr val="accent2">
            <a:hueOff val="1488446"/>
            <a:satOff val="-929"/>
            <a:lumOff val="1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GB" sz="1600" b="1" i="0" kern="1200"/>
            <a:t>Understanding Patterns and Trends</a:t>
          </a:r>
          <a:r>
            <a:rPr lang="en-GB" sz="1600" b="0" i="0" kern="1200"/>
            <a:t>: Time series forecasting helps in understanding the underlying patterns and trends in data. This involves identifying various components, including seasonality (repeating patterns at fixed intervals), trends (long-term movements in data), and noise (random variations). Recognizing these patterns is essential for making accurate predictions.</a:t>
          </a:r>
          <a:endParaRPr lang="en-US" sz="1600" kern="1200"/>
        </a:p>
      </dsp:txBody>
      <dsp:txXfrm>
        <a:off x="91269" y="3993981"/>
        <a:ext cx="6821239" cy="168712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6D97B7-894D-4A94-97AC-A87F334F3A5F}">
      <dsp:nvSpPr>
        <dsp:cNvPr id="0" name=""/>
        <dsp:cNvSpPr/>
      </dsp:nvSpPr>
      <dsp:spPr>
        <a:xfrm>
          <a:off x="0" y="949585"/>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1CA2E6-685F-4346-BA28-54FB6B829996}">
      <dsp:nvSpPr>
        <dsp:cNvPr id="0" name=""/>
        <dsp:cNvSpPr/>
      </dsp:nvSpPr>
      <dsp:spPr>
        <a:xfrm>
          <a:off x="530307" y="1344029"/>
          <a:ext cx="964194" cy="9641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63D868-3C43-4774-A0E5-21C95E0837A9}">
      <dsp:nvSpPr>
        <dsp:cNvPr id="0" name=""/>
        <dsp:cNvSpPr/>
      </dsp:nvSpPr>
      <dsp:spPr>
        <a:xfrm>
          <a:off x="2024809" y="949585"/>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622300">
            <a:lnSpc>
              <a:spcPct val="90000"/>
            </a:lnSpc>
            <a:spcBef>
              <a:spcPct val="0"/>
            </a:spcBef>
            <a:spcAft>
              <a:spcPct val="35000"/>
            </a:spcAft>
            <a:buNone/>
          </a:pPr>
          <a:r>
            <a:rPr lang="en-GB" sz="1400" b="1" i="0" kern="1200"/>
            <a:t>Model Validation</a:t>
          </a:r>
          <a:r>
            <a:rPr lang="en-GB" sz="1400" b="0" i="0" kern="1200"/>
            <a:t>: Another objective is to develop and validate forecasting models. It's not enough to create models; they must be tested for accuracy and reliability. Cross-validation and error metrics help in assessing how well a model performs. This is essential for building trust in the forecasting results.</a:t>
          </a:r>
          <a:endParaRPr lang="en-US" sz="1400" kern="1200"/>
        </a:p>
      </dsp:txBody>
      <dsp:txXfrm>
        <a:off x="2024809" y="949585"/>
        <a:ext cx="4978967" cy="1753081"/>
      </dsp:txXfrm>
    </dsp:sp>
    <dsp:sp modelId="{C74A2F35-859B-4513-8D9B-AE35AED8AE95}">
      <dsp:nvSpPr>
        <dsp:cNvPr id="0" name=""/>
        <dsp:cNvSpPr/>
      </dsp:nvSpPr>
      <dsp:spPr>
        <a:xfrm>
          <a:off x="0" y="3140937"/>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CCB742-CA3E-435C-BA97-A914F9611669}">
      <dsp:nvSpPr>
        <dsp:cNvPr id="0" name=""/>
        <dsp:cNvSpPr/>
      </dsp:nvSpPr>
      <dsp:spPr>
        <a:xfrm>
          <a:off x="530307" y="3535381"/>
          <a:ext cx="964194" cy="9641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1BB8D92-4128-41A9-895B-005030405515}">
      <dsp:nvSpPr>
        <dsp:cNvPr id="0" name=""/>
        <dsp:cNvSpPr/>
      </dsp:nvSpPr>
      <dsp:spPr>
        <a:xfrm>
          <a:off x="2024809" y="3140937"/>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622300">
            <a:lnSpc>
              <a:spcPct val="90000"/>
            </a:lnSpc>
            <a:spcBef>
              <a:spcPct val="0"/>
            </a:spcBef>
            <a:spcAft>
              <a:spcPct val="35000"/>
            </a:spcAft>
            <a:buNone/>
          </a:pPr>
          <a:r>
            <a:rPr lang="en-GB" sz="1400" b="1" i="0" kern="1200"/>
            <a:t>Risk Assessment and Management</a:t>
          </a:r>
          <a:r>
            <a:rPr lang="en-GB" sz="1400" b="0" i="0" kern="1200"/>
            <a:t>: Time series forecasting is used to assess and manage risks. By forecasting potential scenarios, organizations can prepare for adverse events and reduce their impact. For example, financial institutions use risk forecasts to manage their portfolios, and insurance companies use it to price policies effectively.</a:t>
          </a:r>
          <a:endParaRPr lang="en-US" sz="1400" kern="1200"/>
        </a:p>
      </dsp:txBody>
      <dsp:txXfrm>
        <a:off x="2024809" y="3140937"/>
        <a:ext cx="4978967" cy="175308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B83932-DC82-4F6C-A8CE-41A18E7CF029}">
      <dsp:nvSpPr>
        <dsp:cNvPr id="0" name=""/>
        <dsp:cNvSpPr/>
      </dsp:nvSpPr>
      <dsp:spPr>
        <a:xfrm>
          <a:off x="0" y="79242"/>
          <a:ext cx="7003777" cy="28080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b="1" i="0" kern="1200"/>
            <a:t>Resource Allocation</a:t>
          </a:r>
          <a:r>
            <a:rPr lang="en-GB" sz="2400" b="0" i="0" kern="1200"/>
            <a:t>: Accurate forecasts support efficient resource allocation. By knowing the expected future demand or conditions, organizations can allocate resources such as manpower, inventory, and budget optimally. This leads to cost savings and resource efficiency.</a:t>
          </a:r>
          <a:endParaRPr lang="en-US" sz="2400" kern="1200"/>
        </a:p>
      </dsp:txBody>
      <dsp:txXfrm>
        <a:off x="137075" y="216317"/>
        <a:ext cx="6729627" cy="2533850"/>
      </dsp:txXfrm>
    </dsp:sp>
    <dsp:sp modelId="{35FE75D8-404A-4A7A-AF43-488DF18BB218}">
      <dsp:nvSpPr>
        <dsp:cNvPr id="0" name=""/>
        <dsp:cNvSpPr/>
      </dsp:nvSpPr>
      <dsp:spPr>
        <a:xfrm>
          <a:off x="0" y="2956362"/>
          <a:ext cx="7003777" cy="2808000"/>
        </a:xfrm>
        <a:prstGeom prst="roundRect">
          <a:avLst/>
        </a:prstGeom>
        <a:solidFill>
          <a:schemeClr val="accent2">
            <a:hueOff val="1488446"/>
            <a:satOff val="-929"/>
            <a:lumOff val="1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b="1" i="0" kern="1200"/>
            <a:t>Decision Support</a:t>
          </a:r>
          <a:r>
            <a:rPr lang="en-GB" sz="2400" b="0" i="0" kern="1200"/>
            <a:t>: Time series forecasting acts as a crucial decision support tool. It provides insights and data-driven information for better decision-making. For instance, healthcare professionals use patient admission forecasts to allocate staff and resources accordingly.</a:t>
          </a:r>
          <a:endParaRPr lang="en-US" sz="2400" kern="1200"/>
        </a:p>
      </dsp:txBody>
      <dsp:txXfrm>
        <a:off x="137075" y="3093437"/>
        <a:ext cx="6729627" cy="253385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31CED0-BB92-413D-8BE7-7628B733C3A8}">
      <dsp:nvSpPr>
        <dsp:cNvPr id="0" name=""/>
        <dsp:cNvSpPr/>
      </dsp:nvSpPr>
      <dsp:spPr>
        <a:xfrm>
          <a:off x="0" y="197682"/>
          <a:ext cx="7003777" cy="26910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GB" sz="2300" b="1" i="0" kern="1200"/>
            <a:t>Performance Tracking</a:t>
          </a:r>
          <a:r>
            <a:rPr lang="en-GB" sz="2300" b="0" i="0" kern="1200"/>
            <a:t>: Forecasting is used to track the performance of systems, processes, and investments. By comparing actual results with forecasts, organizations can identify areas where improvements are needed. This is particularly valuable in monitoring the performance of financial investments.</a:t>
          </a:r>
          <a:endParaRPr lang="en-US" sz="2300" kern="1200"/>
        </a:p>
      </dsp:txBody>
      <dsp:txXfrm>
        <a:off x="131364" y="329046"/>
        <a:ext cx="6741049" cy="2428272"/>
      </dsp:txXfrm>
    </dsp:sp>
    <dsp:sp modelId="{AF699502-B56B-4655-BA56-7AFA4DF955BD}">
      <dsp:nvSpPr>
        <dsp:cNvPr id="0" name=""/>
        <dsp:cNvSpPr/>
      </dsp:nvSpPr>
      <dsp:spPr>
        <a:xfrm>
          <a:off x="0" y="2954922"/>
          <a:ext cx="7003777" cy="2691000"/>
        </a:xfrm>
        <a:prstGeom prst="roundRect">
          <a:avLst/>
        </a:prstGeom>
        <a:solidFill>
          <a:schemeClr val="accent2">
            <a:hueOff val="1488446"/>
            <a:satOff val="-929"/>
            <a:lumOff val="1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GB" sz="2300" b="1" i="0" kern="1200"/>
            <a:t>Policy Formulation</a:t>
          </a:r>
          <a:r>
            <a:rPr lang="en-GB" sz="2300" b="0" i="0" kern="1200"/>
            <a:t>: Governments and policymakers use time series forecasting to inform decisions and policies. For example, public health planners use disease incidence forecasts to allocate resources for healthcare. Economic policymakers use forecasts to develop strategies for economic growth and stability.</a:t>
          </a:r>
          <a:endParaRPr lang="en-US" sz="2300" kern="1200"/>
        </a:p>
      </dsp:txBody>
      <dsp:txXfrm>
        <a:off x="131364" y="3086286"/>
        <a:ext cx="6741049" cy="242827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B2BBAE-0D31-44AB-9316-DCDDBC81603C}">
      <dsp:nvSpPr>
        <dsp:cNvPr id="0" name=""/>
        <dsp:cNvSpPr/>
      </dsp:nvSpPr>
      <dsp:spPr>
        <a:xfrm>
          <a:off x="0" y="197682"/>
          <a:ext cx="7003777" cy="26910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GB" sz="2300" b="1" i="0" kern="1200"/>
            <a:t>Market Analysis</a:t>
          </a:r>
          <a:r>
            <a:rPr lang="en-GB" sz="2300" b="0" i="0" kern="1200"/>
            <a:t>: In economics and finance, time series forecasting is crucial for analysing market conditions. It helps in identifying trends and making predictions about stock prices, currency exchange rates, commodity prices, and more. Investors and traders rely on these forecasts for their financial decisions.</a:t>
          </a:r>
          <a:endParaRPr lang="en-US" sz="2300" kern="1200"/>
        </a:p>
      </dsp:txBody>
      <dsp:txXfrm>
        <a:off x="131364" y="329046"/>
        <a:ext cx="6741049" cy="2428272"/>
      </dsp:txXfrm>
    </dsp:sp>
    <dsp:sp modelId="{49ADB4EE-1373-4650-A6D5-3929E150C998}">
      <dsp:nvSpPr>
        <dsp:cNvPr id="0" name=""/>
        <dsp:cNvSpPr/>
      </dsp:nvSpPr>
      <dsp:spPr>
        <a:xfrm>
          <a:off x="0" y="2954922"/>
          <a:ext cx="7003777" cy="2691000"/>
        </a:xfrm>
        <a:prstGeom prst="roundRect">
          <a:avLst/>
        </a:prstGeom>
        <a:solidFill>
          <a:schemeClr val="accent2">
            <a:hueOff val="1488446"/>
            <a:satOff val="-929"/>
            <a:lumOff val="1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GB" sz="2300" b="1" i="0" kern="1200"/>
            <a:t>Resource Optimization</a:t>
          </a:r>
          <a:r>
            <a:rPr lang="en-GB" sz="2300" b="0" i="0" kern="1200"/>
            <a:t>: Time series forecasting is instrumental in optimizing the utilization of resources. It allows organizations to balance supply and demand efficiently, reducing wastage and costs. This is vital in industries like manufacturing, where production planning is based on demand forecasts.</a:t>
          </a:r>
          <a:endParaRPr lang="en-US" sz="2300" kern="1200"/>
        </a:p>
      </dsp:txBody>
      <dsp:txXfrm>
        <a:off x="131364" y="3086286"/>
        <a:ext cx="6741049" cy="242827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4E663E-C201-443B-8D30-2A50F94D14B3}">
      <dsp:nvSpPr>
        <dsp:cNvPr id="0" name=""/>
        <dsp:cNvSpPr/>
      </dsp:nvSpPr>
      <dsp:spPr>
        <a:xfrm>
          <a:off x="0" y="93991"/>
          <a:ext cx="7003777" cy="185064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b="0" i="0" kern="1200"/>
            <a:t>Time series data possesses several key characteristics that distinguish it from other types of data. Understanding these characteristics is crucial when working with time series data for analysis and modeling. The primary characteristics of time series data include:</a:t>
          </a:r>
          <a:endParaRPr lang="en-US" sz="1800" kern="1200"/>
        </a:p>
      </dsp:txBody>
      <dsp:txXfrm>
        <a:off x="90341" y="184332"/>
        <a:ext cx="6823095" cy="1669965"/>
      </dsp:txXfrm>
    </dsp:sp>
    <dsp:sp modelId="{2AD85B81-EAFC-48F2-AA14-05B6E8F40C1D}">
      <dsp:nvSpPr>
        <dsp:cNvPr id="0" name=""/>
        <dsp:cNvSpPr/>
      </dsp:nvSpPr>
      <dsp:spPr>
        <a:xfrm>
          <a:off x="0" y="1996478"/>
          <a:ext cx="7003777" cy="1850647"/>
        </a:xfrm>
        <a:prstGeom prst="roundRect">
          <a:avLst/>
        </a:prstGeom>
        <a:solidFill>
          <a:schemeClr val="accent2">
            <a:hueOff val="744223"/>
            <a:satOff val="-464"/>
            <a:lumOff val="62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b="1" i="0" kern="1200"/>
            <a:t>Temporal Order</a:t>
          </a:r>
          <a:r>
            <a:rPr lang="en-GB" sz="1800" b="0" i="0" kern="1200"/>
            <a:t>: Time series data is organized chronologically, where data points follow a specific sequence according to the time they were collected or observed. Each data point is associated with a unique timestamp, and the order of these timestamps is important for understanding the data's behaviour over time.</a:t>
          </a:r>
          <a:endParaRPr lang="en-US" sz="1800" kern="1200"/>
        </a:p>
      </dsp:txBody>
      <dsp:txXfrm>
        <a:off x="90341" y="2086819"/>
        <a:ext cx="6823095" cy="1669965"/>
      </dsp:txXfrm>
    </dsp:sp>
    <dsp:sp modelId="{25AC7BA6-B11B-4C09-97E9-71F3B8F72813}">
      <dsp:nvSpPr>
        <dsp:cNvPr id="0" name=""/>
        <dsp:cNvSpPr/>
      </dsp:nvSpPr>
      <dsp:spPr>
        <a:xfrm>
          <a:off x="0" y="3898966"/>
          <a:ext cx="7003777" cy="1850647"/>
        </a:xfrm>
        <a:prstGeom prst="roundRect">
          <a:avLst/>
        </a:prstGeom>
        <a:solidFill>
          <a:schemeClr val="accent2">
            <a:hueOff val="1488446"/>
            <a:satOff val="-929"/>
            <a:lumOff val="1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GB" sz="1800" b="1" i="0" kern="1200"/>
            <a:t>Equally Spaced Intervals</a:t>
          </a:r>
          <a:r>
            <a:rPr lang="en-GB" sz="1800" b="0" i="0" kern="1200"/>
            <a:t>: In many cases, time series data is collected at regular and equally spaced time intervals. This regularity simplifies the analysis and modeling process. Common examples include daily, weekly, or monthly data points.</a:t>
          </a:r>
          <a:endParaRPr lang="en-US" sz="1800" kern="1200"/>
        </a:p>
      </dsp:txBody>
      <dsp:txXfrm>
        <a:off x="90341" y="3989307"/>
        <a:ext cx="6823095" cy="166996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D74906-5EE0-4346-A3AA-922007D6AF12}">
      <dsp:nvSpPr>
        <dsp:cNvPr id="0" name=""/>
        <dsp:cNvSpPr/>
      </dsp:nvSpPr>
      <dsp:spPr>
        <a:xfrm>
          <a:off x="0" y="197682"/>
          <a:ext cx="7003777" cy="26910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GB" sz="2300" b="1" i="0" kern="1200"/>
            <a:t>Temporal Dependency</a:t>
          </a:r>
          <a:r>
            <a:rPr lang="en-GB" sz="2300" b="0" i="0" kern="1200"/>
            <a:t>: Time series data often exhibits temporal dependencies, meaning that each data point's value is influenced by the values of previous data points. This autocorrelation is a critical feature of time series data, and it allows for the identification of trends, seasonality, and patterns.</a:t>
          </a:r>
          <a:endParaRPr lang="en-US" sz="2300" kern="1200"/>
        </a:p>
      </dsp:txBody>
      <dsp:txXfrm>
        <a:off x="131364" y="329046"/>
        <a:ext cx="6741049" cy="2428272"/>
      </dsp:txXfrm>
    </dsp:sp>
    <dsp:sp modelId="{8665848A-B742-45A3-B6F5-7EC2D42205F2}">
      <dsp:nvSpPr>
        <dsp:cNvPr id="0" name=""/>
        <dsp:cNvSpPr/>
      </dsp:nvSpPr>
      <dsp:spPr>
        <a:xfrm>
          <a:off x="0" y="2954922"/>
          <a:ext cx="7003777" cy="2691000"/>
        </a:xfrm>
        <a:prstGeom prst="roundRect">
          <a:avLst/>
        </a:prstGeom>
        <a:solidFill>
          <a:schemeClr val="accent2">
            <a:hueOff val="1488446"/>
            <a:satOff val="-929"/>
            <a:lumOff val="1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GB" sz="2300" b="1" i="0" kern="1200"/>
            <a:t>Trends</a:t>
          </a:r>
          <a:r>
            <a:rPr lang="en-GB" sz="2300" b="0" i="0" kern="1200"/>
            <a:t>: Time series data can exhibit long-term trends or directional movements. These trends represent gradual changes in the variable of interest over time, whether it's an increasing or decreasing pattern.</a:t>
          </a:r>
          <a:endParaRPr lang="en-US" sz="2300" kern="1200"/>
        </a:p>
      </dsp:txBody>
      <dsp:txXfrm>
        <a:off x="131364" y="3086286"/>
        <a:ext cx="6741049" cy="242827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3ED4BC-1D07-43B7-9069-72761CB2F075}">
      <dsp:nvSpPr>
        <dsp:cNvPr id="0" name=""/>
        <dsp:cNvSpPr/>
      </dsp:nvSpPr>
      <dsp:spPr>
        <a:xfrm>
          <a:off x="0" y="434562"/>
          <a:ext cx="7003777" cy="24570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b="1" i="0" kern="1200"/>
            <a:t>Seasonality</a:t>
          </a:r>
          <a:r>
            <a:rPr lang="en-GB" sz="2100" b="0" i="0" kern="1200"/>
            <a:t>: Seasonality refers to the regular, repeating patterns or fluctuations in the data that occur at fixed intervals. These patterns can be daily, weekly, monthly, or associated with other time frames. Seasonality often reflects external factors or cycles, such as the change in consumer behaviour throughout the year or daily temperature variations.</a:t>
          </a:r>
          <a:endParaRPr lang="en-US" sz="2100" kern="1200"/>
        </a:p>
      </dsp:txBody>
      <dsp:txXfrm>
        <a:off x="119941" y="554503"/>
        <a:ext cx="6763895" cy="2217118"/>
      </dsp:txXfrm>
    </dsp:sp>
    <dsp:sp modelId="{8462563A-355A-4638-BE12-21211638E869}">
      <dsp:nvSpPr>
        <dsp:cNvPr id="0" name=""/>
        <dsp:cNvSpPr/>
      </dsp:nvSpPr>
      <dsp:spPr>
        <a:xfrm>
          <a:off x="0" y="2952042"/>
          <a:ext cx="7003777" cy="2457000"/>
        </a:xfrm>
        <a:prstGeom prst="roundRect">
          <a:avLst/>
        </a:prstGeom>
        <a:solidFill>
          <a:schemeClr val="accent2">
            <a:hueOff val="1488446"/>
            <a:satOff val="-929"/>
            <a:lumOff val="1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b="1" i="0" kern="1200"/>
            <a:t>Cyclic Patterns</a:t>
          </a:r>
          <a:r>
            <a:rPr lang="en-GB" sz="2100" b="0" i="0" kern="1200"/>
            <a:t>: In addition to seasonality, time series data may contain cyclic patterns. These patterns are more extended than seasonality and may not have fixed intervals. They can be influenced by economic cycles, business cycles, or other extended periodic effects.</a:t>
          </a:r>
          <a:endParaRPr lang="en-US" sz="2100" kern="1200"/>
        </a:p>
      </dsp:txBody>
      <dsp:txXfrm>
        <a:off x="119941" y="3071983"/>
        <a:ext cx="6763895" cy="221711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4D6A66-8129-4A54-9F20-973732C1E494}">
      <dsp:nvSpPr>
        <dsp:cNvPr id="0" name=""/>
        <dsp:cNvSpPr/>
      </dsp:nvSpPr>
      <dsp:spPr>
        <a:xfrm>
          <a:off x="0" y="197682"/>
          <a:ext cx="7003777" cy="26910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GB" sz="2300" b="1" i="0" kern="1200"/>
            <a:t>Noise or Random Variations</a:t>
          </a:r>
          <a:r>
            <a:rPr lang="en-GB" sz="2300" b="0" i="0" kern="1200"/>
            <a:t>: Alongside the underlying patterns and trends, time series data also includes noise or random variations. These are irregular and unpredictable components that contribute to the overall variability in the data. Noise can result from measurement errors, external shocks, or random events.</a:t>
          </a:r>
          <a:endParaRPr lang="en-US" sz="2300" kern="1200"/>
        </a:p>
      </dsp:txBody>
      <dsp:txXfrm>
        <a:off x="131364" y="329046"/>
        <a:ext cx="6741049" cy="2428272"/>
      </dsp:txXfrm>
    </dsp:sp>
    <dsp:sp modelId="{10AA14FB-4377-4B05-9C39-CCEA960CFDDF}">
      <dsp:nvSpPr>
        <dsp:cNvPr id="0" name=""/>
        <dsp:cNvSpPr/>
      </dsp:nvSpPr>
      <dsp:spPr>
        <a:xfrm>
          <a:off x="0" y="2954922"/>
          <a:ext cx="7003777" cy="2691000"/>
        </a:xfrm>
        <a:prstGeom prst="roundRect">
          <a:avLst/>
        </a:prstGeom>
        <a:solidFill>
          <a:schemeClr val="accent2">
            <a:hueOff val="1488446"/>
            <a:satOff val="-929"/>
            <a:lumOff val="1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GB" sz="2300" b="1" i="0" kern="1200"/>
            <a:t>Data Points</a:t>
          </a:r>
          <a:r>
            <a:rPr lang="en-GB" sz="2300" b="0" i="0" kern="1200"/>
            <a:t>: Each data point in a time series consists of two main components: the observed value of the variable being measured (e.g., stock price, temperature, sales) and the corresponding timestamp or time index.</a:t>
          </a:r>
          <a:endParaRPr lang="en-US" sz="2300" kern="1200"/>
        </a:p>
      </dsp:txBody>
      <dsp:txXfrm>
        <a:off x="131364" y="3086286"/>
        <a:ext cx="6741049" cy="2428272"/>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44AE50-C6C5-4D3D-81EA-565D4F5A380B}">
      <dsp:nvSpPr>
        <dsp:cNvPr id="0" name=""/>
        <dsp:cNvSpPr/>
      </dsp:nvSpPr>
      <dsp:spPr>
        <a:xfrm>
          <a:off x="0" y="713"/>
          <a:ext cx="7003777" cy="166919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B53EE5-49CC-4E5F-94BD-12FF2C97762A}">
      <dsp:nvSpPr>
        <dsp:cNvPr id="0" name=""/>
        <dsp:cNvSpPr/>
      </dsp:nvSpPr>
      <dsp:spPr>
        <a:xfrm>
          <a:off x="504931" y="376281"/>
          <a:ext cx="918056" cy="9180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1C7DBB-6A08-4253-961C-DFC65A744EE0}">
      <dsp:nvSpPr>
        <dsp:cNvPr id="0" name=""/>
        <dsp:cNvSpPr/>
      </dsp:nvSpPr>
      <dsp:spPr>
        <a:xfrm>
          <a:off x="1927918" y="713"/>
          <a:ext cx="5075858" cy="1669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656" tIns="176656" rIns="176656" bIns="176656" numCol="1" spcCol="1270" anchor="ctr" anchorCtr="0">
          <a:noAutofit/>
        </a:bodyPr>
        <a:lstStyle/>
        <a:p>
          <a:pPr marL="0" lvl="0" indent="0" algn="l" defTabSz="755650">
            <a:lnSpc>
              <a:spcPct val="90000"/>
            </a:lnSpc>
            <a:spcBef>
              <a:spcPct val="0"/>
            </a:spcBef>
            <a:spcAft>
              <a:spcPct val="35000"/>
            </a:spcAft>
            <a:buNone/>
          </a:pPr>
          <a:r>
            <a:rPr lang="en-GB" sz="1700" b="0" i="0" kern="1200"/>
            <a:t>Time series data can be categorized into different types based on the number of variables or observations being measured. The two primary types of time series data are univariate and multivariate time series data.</a:t>
          </a:r>
          <a:endParaRPr lang="en-US" sz="1700" kern="1200"/>
        </a:p>
      </dsp:txBody>
      <dsp:txXfrm>
        <a:off x="1927918" y="713"/>
        <a:ext cx="5075858" cy="1669193"/>
      </dsp:txXfrm>
    </dsp:sp>
    <dsp:sp modelId="{7539108C-6997-4FFE-9106-F39A3FC0E89F}">
      <dsp:nvSpPr>
        <dsp:cNvPr id="0" name=""/>
        <dsp:cNvSpPr/>
      </dsp:nvSpPr>
      <dsp:spPr>
        <a:xfrm>
          <a:off x="0" y="2087205"/>
          <a:ext cx="7003777" cy="166919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160016-8A20-4E5A-813C-B2F38158BCE1}">
      <dsp:nvSpPr>
        <dsp:cNvPr id="0" name=""/>
        <dsp:cNvSpPr/>
      </dsp:nvSpPr>
      <dsp:spPr>
        <a:xfrm>
          <a:off x="504931" y="2462774"/>
          <a:ext cx="918056" cy="9180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0435979-7C5E-4B1C-907F-523D6CA1179B}">
      <dsp:nvSpPr>
        <dsp:cNvPr id="0" name=""/>
        <dsp:cNvSpPr/>
      </dsp:nvSpPr>
      <dsp:spPr>
        <a:xfrm>
          <a:off x="1927918" y="2087205"/>
          <a:ext cx="5075858" cy="1669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656" tIns="176656" rIns="176656" bIns="176656" numCol="1" spcCol="1270" anchor="ctr" anchorCtr="0">
          <a:noAutofit/>
        </a:bodyPr>
        <a:lstStyle/>
        <a:p>
          <a:pPr marL="0" lvl="0" indent="0" algn="l" defTabSz="755650">
            <a:lnSpc>
              <a:spcPct val="90000"/>
            </a:lnSpc>
            <a:spcBef>
              <a:spcPct val="0"/>
            </a:spcBef>
            <a:spcAft>
              <a:spcPct val="35000"/>
            </a:spcAft>
            <a:buNone/>
          </a:pPr>
          <a:r>
            <a:rPr lang="en-IE" sz="1700" b="1" i="0" kern="1200"/>
            <a:t>Univariate Time Series Data:</a:t>
          </a:r>
          <a:endParaRPr lang="en-US" sz="1700" kern="1200"/>
        </a:p>
      </dsp:txBody>
      <dsp:txXfrm>
        <a:off x="1927918" y="2087205"/>
        <a:ext cx="5075858" cy="1669193"/>
      </dsp:txXfrm>
    </dsp:sp>
    <dsp:sp modelId="{BAD614A7-C238-465F-84CC-AC7D11696EC2}">
      <dsp:nvSpPr>
        <dsp:cNvPr id="0" name=""/>
        <dsp:cNvSpPr/>
      </dsp:nvSpPr>
      <dsp:spPr>
        <a:xfrm>
          <a:off x="0" y="4173697"/>
          <a:ext cx="7003777" cy="166919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99DE65-B4DA-4FED-B5A4-0918136910D5}">
      <dsp:nvSpPr>
        <dsp:cNvPr id="0" name=""/>
        <dsp:cNvSpPr/>
      </dsp:nvSpPr>
      <dsp:spPr>
        <a:xfrm>
          <a:off x="504931" y="4549266"/>
          <a:ext cx="918056" cy="9180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BF0115C-9596-4ED9-BF76-4C2DA77A3044}">
      <dsp:nvSpPr>
        <dsp:cNvPr id="0" name=""/>
        <dsp:cNvSpPr/>
      </dsp:nvSpPr>
      <dsp:spPr>
        <a:xfrm>
          <a:off x="1927918" y="4173697"/>
          <a:ext cx="5075858" cy="1669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656" tIns="176656" rIns="176656" bIns="176656" numCol="1" spcCol="1270" anchor="ctr" anchorCtr="0">
          <a:noAutofit/>
        </a:bodyPr>
        <a:lstStyle/>
        <a:p>
          <a:pPr marL="0" lvl="0" indent="0" algn="l" defTabSz="755650">
            <a:lnSpc>
              <a:spcPct val="90000"/>
            </a:lnSpc>
            <a:spcBef>
              <a:spcPct val="0"/>
            </a:spcBef>
            <a:spcAft>
              <a:spcPct val="35000"/>
            </a:spcAft>
            <a:buNone/>
          </a:pPr>
          <a:r>
            <a:rPr lang="en-IE" sz="1700" b="1" i="0" kern="1200"/>
            <a:t>Multivariate Time Series Data:</a:t>
          </a:r>
          <a:endParaRPr lang="en-US" sz="1700" kern="1200"/>
        </a:p>
      </dsp:txBody>
      <dsp:txXfrm>
        <a:off x="1927918" y="4173697"/>
        <a:ext cx="5075858" cy="1669193"/>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4EC829-6044-4C87-BDEC-9F6DFA04F9B2}">
      <dsp:nvSpPr>
        <dsp:cNvPr id="0" name=""/>
        <dsp:cNvSpPr/>
      </dsp:nvSpPr>
      <dsp:spPr>
        <a:xfrm>
          <a:off x="0" y="949585"/>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0C7182-5172-4597-8F04-E1B1B67E41A2}">
      <dsp:nvSpPr>
        <dsp:cNvPr id="0" name=""/>
        <dsp:cNvSpPr/>
      </dsp:nvSpPr>
      <dsp:spPr>
        <a:xfrm>
          <a:off x="530307" y="1344029"/>
          <a:ext cx="964194" cy="9641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CC4D98B-5CEB-4584-B83C-2917BC8DD7F9}">
      <dsp:nvSpPr>
        <dsp:cNvPr id="0" name=""/>
        <dsp:cNvSpPr/>
      </dsp:nvSpPr>
      <dsp:spPr>
        <a:xfrm>
          <a:off x="2024809" y="949585"/>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622300">
            <a:lnSpc>
              <a:spcPct val="90000"/>
            </a:lnSpc>
            <a:spcBef>
              <a:spcPct val="0"/>
            </a:spcBef>
            <a:spcAft>
              <a:spcPct val="35000"/>
            </a:spcAft>
            <a:buNone/>
          </a:pPr>
          <a:r>
            <a:rPr lang="en-GB" sz="1400" b="1" i="0" kern="1200"/>
            <a:t>Definition</a:t>
          </a:r>
          <a:r>
            <a:rPr lang="en-GB" sz="1400" b="0" i="0" kern="1200"/>
            <a:t>: Univariate time series data consists of a single variable observed or measured at different time intervals. It represents the behaviour of that single variable over time.</a:t>
          </a:r>
          <a:endParaRPr lang="en-US" sz="1400" kern="1200"/>
        </a:p>
      </dsp:txBody>
      <dsp:txXfrm>
        <a:off x="2024809" y="949585"/>
        <a:ext cx="4978967" cy="1753081"/>
      </dsp:txXfrm>
    </dsp:sp>
    <dsp:sp modelId="{9F6F8537-8287-4D81-8E3C-C05976E7DA67}">
      <dsp:nvSpPr>
        <dsp:cNvPr id="0" name=""/>
        <dsp:cNvSpPr/>
      </dsp:nvSpPr>
      <dsp:spPr>
        <a:xfrm>
          <a:off x="0" y="3140937"/>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C873B0-4CCB-410B-B160-B7181DB70E3C}">
      <dsp:nvSpPr>
        <dsp:cNvPr id="0" name=""/>
        <dsp:cNvSpPr/>
      </dsp:nvSpPr>
      <dsp:spPr>
        <a:xfrm>
          <a:off x="530307" y="3535381"/>
          <a:ext cx="964194" cy="9641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1DBE73B-AF54-45E9-8DFF-1E4D3748A5D9}">
      <dsp:nvSpPr>
        <dsp:cNvPr id="0" name=""/>
        <dsp:cNvSpPr/>
      </dsp:nvSpPr>
      <dsp:spPr>
        <a:xfrm>
          <a:off x="2024809" y="3140937"/>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622300">
            <a:lnSpc>
              <a:spcPct val="90000"/>
            </a:lnSpc>
            <a:spcBef>
              <a:spcPct val="0"/>
            </a:spcBef>
            <a:spcAft>
              <a:spcPct val="35000"/>
            </a:spcAft>
            <a:buNone/>
          </a:pPr>
          <a:r>
            <a:rPr lang="en-GB" sz="1400" b="1" i="0" kern="1200"/>
            <a:t>Examples</a:t>
          </a:r>
          <a:r>
            <a:rPr lang="en-GB" sz="1400" b="0" i="0" kern="1200"/>
            <a:t>: Univariate time series data can include historical stock prices of a single company, daily temperature readings at a specific location, monthly sales figures for a product, or the daily closing price of a stock market index. In each case, there is only one variable of interest, and its values are recorded over time.</a:t>
          </a:r>
          <a:endParaRPr lang="en-US" sz="1400" kern="1200"/>
        </a:p>
      </dsp:txBody>
      <dsp:txXfrm>
        <a:off x="2024809" y="3140937"/>
        <a:ext cx="4978967" cy="1753081"/>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39E3BD-5A67-46B9-9F6E-0CF994230EE5}">
      <dsp:nvSpPr>
        <dsp:cNvPr id="0" name=""/>
        <dsp:cNvSpPr/>
      </dsp:nvSpPr>
      <dsp:spPr>
        <a:xfrm>
          <a:off x="0" y="121295"/>
          <a:ext cx="7003777" cy="277026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b="1" i="0" kern="1200"/>
            <a:t>Definition</a:t>
          </a:r>
          <a:r>
            <a:rPr lang="en-GB" sz="2100" b="0" i="0" kern="1200"/>
            <a:t>: Multivariate time series data involves multiple variables that are observed or measured simultaneously at different time intervals. This type of data provides a more comprehensive view of the relationships and interactions between multiple variables over time.</a:t>
          </a:r>
          <a:endParaRPr lang="en-US" sz="2100" kern="1200"/>
        </a:p>
      </dsp:txBody>
      <dsp:txXfrm>
        <a:off x="135233" y="256528"/>
        <a:ext cx="6733311" cy="2499801"/>
      </dsp:txXfrm>
    </dsp:sp>
    <dsp:sp modelId="{C1F41EAC-0880-4CBF-B963-4720EB711B8F}">
      <dsp:nvSpPr>
        <dsp:cNvPr id="0" name=""/>
        <dsp:cNvSpPr/>
      </dsp:nvSpPr>
      <dsp:spPr>
        <a:xfrm>
          <a:off x="0" y="2952042"/>
          <a:ext cx="7003777" cy="2770267"/>
        </a:xfrm>
        <a:prstGeom prst="roundRect">
          <a:avLst/>
        </a:prstGeom>
        <a:solidFill>
          <a:schemeClr val="accent2">
            <a:hueOff val="1488446"/>
            <a:satOff val="-929"/>
            <a:lumOff val="1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b="1" i="0" kern="1200"/>
            <a:t>Examples</a:t>
          </a:r>
          <a:r>
            <a:rPr lang="en-GB" sz="2100" b="0" i="0" kern="1200"/>
            <a:t>: Multivariate time series data is commonly used in various domains. For instance, in the field of finance, multivariate data could include historical stock prices for several companies within the same industry, along with other economic indicators like interest rates and inflation rates. In environmental science, it might encompass temperature, humidity, and air quality measurements over time.</a:t>
          </a:r>
          <a:endParaRPr lang="en-US" sz="2100" kern="1200"/>
        </a:p>
      </dsp:txBody>
      <dsp:txXfrm>
        <a:off x="135233" y="3087275"/>
        <a:ext cx="6733311" cy="2499801"/>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7761A5-0CD7-4B60-8676-F977F4C02D75}">
      <dsp:nvSpPr>
        <dsp:cNvPr id="0" name=""/>
        <dsp:cNvSpPr/>
      </dsp:nvSpPr>
      <dsp:spPr>
        <a:xfrm>
          <a:off x="0" y="17164"/>
          <a:ext cx="7003777" cy="1409118"/>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i="0" kern="1200"/>
            <a:t>Seasonal Component</a:t>
          </a:r>
          <a:r>
            <a:rPr lang="en-GB" sz="2000" b="0" i="0" kern="1200"/>
            <a:t>:</a:t>
          </a:r>
          <a:endParaRPr lang="en-US" sz="2000" kern="1200"/>
        </a:p>
      </dsp:txBody>
      <dsp:txXfrm>
        <a:off x="68787" y="85951"/>
        <a:ext cx="6866203" cy="1271544"/>
      </dsp:txXfrm>
    </dsp:sp>
    <dsp:sp modelId="{D741331B-4C30-4A6F-9F69-D7F87E563A2A}">
      <dsp:nvSpPr>
        <dsp:cNvPr id="0" name=""/>
        <dsp:cNvSpPr/>
      </dsp:nvSpPr>
      <dsp:spPr>
        <a:xfrm>
          <a:off x="0" y="1483883"/>
          <a:ext cx="7003777" cy="1409118"/>
        </a:xfrm>
        <a:prstGeom prst="roundRect">
          <a:avLst/>
        </a:prstGeom>
        <a:solidFill>
          <a:schemeClr val="accent2">
            <a:hueOff val="496149"/>
            <a:satOff val="-310"/>
            <a:lumOff val="41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0" i="0" kern="1200"/>
            <a:t>The seasonal component reflects the systematic, periodic fluctuations in the data that occur at consistent intervals. These intervals can be daily, weekly, monthly, quarterly, or annually, depending on the nature of the data.</a:t>
          </a:r>
          <a:endParaRPr lang="en-US" sz="2000" kern="1200"/>
        </a:p>
      </dsp:txBody>
      <dsp:txXfrm>
        <a:off x="68787" y="1552670"/>
        <a:ext cx="6866203" cy="1271544"/>
      </dsp:txXfrm>
    </dsp:sp>
    <dsp:sp modelId="{25471049-310E-4C1A-969D-C86FC749F706}">
      <dsp:nvSpPr>
        <dsp:cNvPr id="0" name=""/>
        <dsp:cNvSpPr/>
      </dsp:nvSpPr>
      <dsp:spPr>
        <a:xfrm>
          <a:off x="0" y="2950602"/>
          <a:ext cx="7003777" cy="1409118"/>
        </a:xfrm>
        <a:prstGeom prst="roundRect">
          <a:avLst/>
        </a:prstGeom>
        <a:solidFill>
          <a:schemeClr val="accent2">
            <a:hueOff val="992297"/>
            <a:satOff val="-619"/>
            <a:lumOff val="836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0" i="0" kern="1200"/>
            <a:t>Seasonal patterns often result from external factors like weather, holidays, or economic cycles. They can have a significant impact on the data's behaviour, particularly in fields like retail, agriculture, and tourism.</a:t>
          </a:r>
          <a:endParaRPr lang="en-US" sz="2000" kern="1200"/>
        </a:p>
      </dsp:txBody>
      <dsp:txXfrm>
        <a:off x="68787" y="3019389"/>
        <a:ext cx="6866203" cy="1271544"/>
      </dsp:txXfrm>
    </dsp:sp>
    <dsp:sp modelId="{E57BF5EC-F45E-4042-B4CF-2F29E0B16C21}">
      <dsp:nvSpPr>
        <dsp:cNvPr id="0" name=""/>
        <dsp:cNvSpPr/>
      </dsp:nvSpPr>
      <dsp:spPr>
        <a:xfrm>
          <a:off x="0" y="4417321"/>
          <a:ext cx="7003777" cy="1409118"/>
        </a:xfrm>
        <a:prstGeom prst="roundRect">
          <a:avLst/>
        </a:prstGeom>
        <a:solidFill>
          <a:schemeClr val="accent2">
            <a:hueOff val="1488446"/>
            <a:satOff val="-929"/>
            <a:lumOff val="1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0" i="0" kern="1200"/>
            <a:t>Detecting and understanding the seasonal component is crucial for adjusting data and making predictions that account for these recurrent patterns.</a:t>
          </a:r>
          <a:endParaRPr lang="en-US" sz="2000" kern="1200"/>
        </a:p>
      </dsp:txBody>
      <dsp:txXfrm>
        <a:off x="68787" y="4486108"/>
        <a:ext cx="6866203" cy="1271544"/>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242A7B-FFAC-4EBA-83F3-0A5B8B27AF97}">
      <dsp:nvSpPr>
        <dsp:cNvPr id="0" name=""/>
        <dsp:cNvSpPr/>
      </dsp:nvSpPr>
      <dsp:spPr>
        <a:xfrm>
          <a:off x="0" y="17164"/>
          <a:ext cx="7003777" cy="1409118"/>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i="0" kern="1200"/>
            <a:t>Cyclical Component</a:t>
          </a:r>
          <a:r>
            <a:rPr lang="en-GB" sz="2000" b="0" i="0" kern="1200"/>
            <a:t>:</a:t>
          </a:r>
          <a:endParaRPr lang="en-US" sz="2000" kern="1200"/>
        </a:p>
      </dsp:txBody>
      <dsp:txXfrm>
        <a:off x="68787" y="85951"/>
        <a:ext cx="6866203" cy="1271544"/>
      </dsp:txXfrm>
    </dsp:sp>
    <dsp:sp modelId="{47F6BA31-281C-40A7-ACB0-6C836A6356E8}">
      <dsp:nvSpPr>
        <dsp:cNvPr id="0" name=""/>
        <dsp:cNvSpPr/>
      </dsp:nvSpPr>
      <dsp:spPr>
        <a:xfrm>
          <a:off x="0" y="1483883"/>
          <a:ext cx="7003777" cy="1409118"/>
        </a:xfrm>
        <a:prstGeom prst="roundRect">
          <a:avLst/>
        </a:prstGeom>
        <a:solidFill>
          <a:schemeClr val="accent2">
            <a:hueOff val="496149"/>
            <a:satOff val="-310"/>
            <a:lumOff val="41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0" i="0" kern="1200"/>
            <a:t>The cyclical component captures longer-term periodic behaviour that is not as regular as seasonality. These cycles are often associated with economic and business cycles.</a:t>
          </a:r>
          <a:endParaRPr lang="en-US" sz="2000" kern="1200"/>
        </a:p>
      </dsp:txBody>
      <dsp:txXfrm>
        <a:off x="68787" y="1552670"/>
        <a:ext cx="6866203" cy="1271544"/>
      </dsp:txXfrm>
    </dsp:sp>
    <dsp:sp modelId="{E80A7615-4094-4138-8604-226FF0607939}">
      <dsp:nvSpPr>
        <dsp:cNvPr id="0" name=""/>
        <dsp:cNvSpPr/>
      </dsp:nvSpPr>
      <dsp:spPr>
        <a:xfrm>
          <a:off x="0" y="2950602"/>
          <a:ext cx="7003777" cy="1409118"/>
        </a:xfrm>
        <a:prstGeom prst="roundRect">
          <a:avLst/>
        </a:prstGeom>
        <a:solidFill>
          <a:schemeClr val="accent2">
            <a:hueOff val="992297"/>
            <a:satOff val="-619"/>
            <a:lumOff val="836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0" i="0" kern="1200"/>
            <a:t>Cyclical patterns are more challenging to model than seasonal patterns because they don't have a fixed duration or amplitude. They can last for several years and exhibit variations in intensity.</a:t>
          </a:r>
          <a:endParaRPr lang="en-US" sz="2000" kern="1200"/>
        </a:p>
      </dsp:txBody>
      <dsp:txXfrm>
        <a:off x="68787" y="3019389"/>
        <a:ext cx="6866203" cy="1271544"/>
      </dsp:txXfrm>
    </dsp:sp>
    <dsp:sp modelId="{8F8725A8-0D69-4263-AC4C-C889767DB203}">
      <dsp:nvSpPr>
        <dsp:cNvPr id="0" name=""/>
        <dsp:cNvSpPr/>
      </dsp:nvSpPr>
      <dsp:spPr>
        <a:xfrm>
          <a:off x="0" y="4417321"/>
          <a:ext cx="7003777" cy="1409118"/>
        </a:xfrm>
        <a:prstGeom prst="roundRect">
          <a:avLst/>
        </a:prstGeom>
        <a:solidFill>
          <a:schemeClr val="accent2">
            <a:hueOff val="1488446"/>
            <a:satOff val="-929"/>
            <a:lumOff val="1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0" i="0" kern="1200"/>
            <a:t>Identifying the cyclical component is essential for analysing and forecasting economic and financial data, as well as for planning long-term strategies.</a:t>
          </a:r>
          <a:endParaRPr lang="en-US" sz="2000" kern="1200"/>
        </a:p>
      </dsp:txBody>
      <dsp:txXfrm>
        <a:off x="68787" y="4486108"/>
        <a:ext cx="6866203" cy="1271544"/>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277480-5DFE-40DD-A5DE-FC43F6890137}">
      <dsp:nvSpPr>
        <dsp:cNvPr id="0" name=""/>
        <dsp:cNvSpPr/>
      </dsp:nvSpPr>
      <dsp:spPr>
        <a:xfrm>
          <a:off x="0" y="17164"/>
          <a:ext cx="7003777" cy="1409118"/>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i="0" kern="1200"/>
            <a:t>Irregular or Residual Component</a:t>
          </a:r>
          <a:r>
            <a:rPr lang="en-GB" sz="2000" b="0" i="0" kern="1200"/>
            <a:t>:</a:t>
          </a:r>
          <a:endParaRPr lang="en-US" sz="2000" kern="1200"/>
        </a:p>
      </dsp:txBody>
      <dsp:txXfrm>
        <a:off x="68787" y="85951"/>
        <a:ext cx="6866203" cy="1271544"/>
      </dsp:txXfrm>
    </dsp:sp>
    <dsp:sp modelId="{3983B9B0-01F7-4F71-B9CA-635098657A29}">
      <dsp:nvSpPr>
        <dsp:cNvPr id="0" name=""/>
        <dsp:cNvSpPr/>
      </dsp:nvSpPr>
      <dsp:spPr>
        <a:xfrm>
          <a:off x="0" y="1483883"/>
          <a:ext cx="7003777" cy="1409118"/>
        </a:xfrm>
        <a:prstGeom prst="roundRect">
          <a:avLst/>
        </a:prstGeom>
        <a:solidFill>
          <a:schemeClr val="accent2">
            <a:hueOff val="496149"/>
            <a:satOff val="-310"/>
            <a:lumOff val="41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0" i="0" kern="1200"/>
            <a:t>The irregular or residual component represents the random and unpredictable fluctuations in the data that cannot be attributed to trend, seasonality, or cyclical effects.</a:t>
          </a:r>
          <a:endParaRPr lang="en-US" sz="2000" kern="1200"/>
        </a:p>
      </dsp:txBody>
      <dsp:txXfrm>
        <a:off x="68787" y="1552670"/>
        <a:ext cx="6866203" cy="1271544"/>
      </dsp:txXfrm>
    </dsp:sp>
    <dsp:sp modelId="{B06E1D86-67F0-4275-B160-3B6C3865EE95}">
      <dsp:nvSpPr>
        <dsp:cNvPr id="0" name=""/>
        <dsp:cNvSpPr/>
      </dsp:nvSpPr>
      <dsp:spPr>
        <a:xfrm>
          <a:off x="0" y="2950602"/>
          <a:ext cx="7003777" cy="1409118"/>
        </a:xfrm>
        <a:prstGeom prst="roundRect">
          <a:avLst/>
        </a:prstGeom>
        <a:solidFill>
          <a:schemeClr val="accent2">
            <a:hueOff val="992297"/>
            <a:satOff val="-619"/>
            <a:lumOff val="836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0" i="0" kern="1200"/>
            <a:t>These irregularities can result from various factors, including short-term disturbances, measurement errors, or unexpected events.</a:t>
          </a:r>
          <a:endParaRPr lang="en-US" sz="2000" kern="1200"/>
        </a:p>
      </dsp:txBody>
      <dsp:txXfrm>
        <a:off x="68787" y="3019389"/>
        <a:ext cx="6866203" cy="1271544"/>
      </dsp:txXfrm>
    </dsp:sp>
    <dsp:sp modelId="{D898ECB0-C743-4CE2-93F5-D19A8F272541}">
      <dsp:nvSpPr>
        <dsp:cNvPr id="0" name=""/>
        <dsp:cNvSpPr/>
      </dsp:nvSpPr>
      <dsp:spPr>
        <a:xfrm>
          <a:off x="0" y="4417321"/>
          <a:ext cx="7003777" cy="1409118"/>
        </a:xfrm>
        <a:prstGeom prst="roundRect">
          <a:avLst/>
        </a:prstGeom>
        <a:solidFill>
          <a:schemeClr val="accent2">
            <a:hueOff val="1488446"/>
            <a:satOff val="-929"/>
            <a:lumOff val="1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0" i="0" kern="1200"/>
            <a:t>Understanding the irregular component helps in assessing the model's forecasting accuracy and identifying potential outliers and anomalies in the data.</a:t>
          </a:r>
          <a:endParaRPr lang="en-US" sz="2000" kern="1200"/>
        </a:p>
      </dsp:txBody>
      <dsp:txXfrm>
        <a:off x="68787" y="4486108"/>
        <a:ext cx="6866203" cy="1271544"/>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DB8494-AE25-4DD1-A873-46BEB1E22E20}">
      <dsp:nvSpPr>
        <dsp:cNvPr id="0" name=""/>
        <dsp:cNvSpPr/>
      </dsp:nvSpPr>
      <dsp:spPr>
        <a:xfrm>
          <a:off x="0" y="337396"/>
          <a:ext cx="7003777" cy="2548406"/>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b="1" i="0" kern="1200"/>
            <a:t>Definition of Trend Analysis:</a:t>
          </a:r>
          <a:endParaRPr lang="en-US" sz="2500" kern="1200"/>
        </a:p>
      </dsp:txBody>
      <dsp:txXfrm>
        <a:off x="124403" y="461799"/>
        <a:ext cx="6754971" cy="2299600"/>
      </dsp:txXfrm>
    </dsp:sp>
    <dsp:sp modelId="{C9A6C37B-131A-4067-84BA-8484034366C6}">
      <dsp:nvSpPr>
        <dsp:cNvPr id="0" name=""/>
        <dsp:cNvSpPr/>
      </dsp:nvSpPr>
      <dsp:spPr>
        <a:xfrm>
          <a:off x="0" y="2957802"/>
          <a:ext cx="7003777" cy="2548406"/>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b="0" i="0" kern="1200"/>
            <a:t>Trend analysis is the process of identifying and characterizing long-term movements or patterns in time series data. It focuses on understanding whether the data is generally increasing, decreasing, or maintaining a stable level over an extended period.</a:t>
          </a:r>
          <a:endParaRPr lang="en-US" sz="2500" kern="1200"/>
        </a:p>
      </dsp:txBody>
      <dsp:txXfrm>
        <a:off x="124403" y="3082205"/>
        <a:ext cx="6754971" cy="2299600"/>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AC3F6E-DC3C-49E6-8147-82449C3B4DA9}">
      <dsp:nvSpPr>
        <dsp:cNvPr id="0" name=""/>
        <dsp:cNvSpPr/>
      </dsp:nvSpPr>
      <dsp:spPr>
        <a:xfrm>
          <a:off x="0" y="394293"/>
          <a:ext cx="7003777" cy="794503"/>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E" sz="2000" b="1" i="0" kern="1200"/>
            <a:t>Objectives of Trend Analysis:</a:t>
          </a:r>
          <a:endParaRPr lang="en-US" sz="2000" kern="1200"/>
        </a:p>
      </dsp:txBody>
      <dsp:txXfrm>
        <a:off x="38784" y="433077"/>
        <a:ext cx="6926209" cy="716935"/>
      </dsp:txXfrm>
    </dsp:sp>
    <dsp:sp modelId="{31D3114F-97AF-4F13-B99C-A4AE6A9A61EF}">
      <dsp:nvSpPr>
        <dsp:cNvPr id="0" name=""/>
        <dsp:cNvSpPr/>
      </dsp:nvSpPr>
      <dsp:spPr>
        <a:xfrm>
          <a:off x="0" y="1246396"/>
          <a:ext cx="7003777" cy="794503"/>
        </a:xfrm>
        <a:prstGeom prst="roundRect">
          <a:avLst/>
        </a:prstGeom>
        <a:solidFill>
          <a:schemeClr val="accent2">
            <a:hueOff val="297689"/>
            <a:satOff val="-186"/>
            <a:lumOff val="250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0" i="0" kern="1200"/>
            <a:t>The primary objectives of trend analysis include, identifying the underlying long-term direction in the data.</a:t>
          </a:r>
          <a:endParaRPr lang="en-US" sz="2000" kern="1200"/>
        </a:p>
      </dsp:txBody>
      <dsp:txXfrm>
        <a:off x="38784" y="1285180"/>
        <a:ext cx="6926209" cy="716935"/>
      </dsp:txXfrm>
    </dsp:sp>
    <dsp:sp modelId="{F452E6F5-9C3E-4CE0-8C03-970D5E787538}">
      <dsp:nvSpPr>
        <dsp:cNvPr id="0" name=""/>
        <dsp:cNvSpPr/>
      </dsp:nvSpPr>
      <dsp:spPr>
        <a:xfrm>
          <a:off x="0" y="2098499"/>
          <a:ext cx="7003777" cy="794503"/>
        </a:xfrm>
        <a:prstGeom prst="roundRect">
          <a:avLst/>
        </a:prstGeom>
        <a:solidFill>
          <a:schemeClr val="accent2">
            <a:hueOff val="595378"/>
            <a:satOff val="-372"/>
            <a:lumOff val="501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0" i="0" kern="1200"/>
            <a:t>Assessing whether the data exhibits a rising, falling, or stable trend.</a:t>
          </a:r>
          <a:endParaRPr lang="en-US" sz="2000" kern="1200"/>
        </a:p>
      </dsp:txBody>
      <dsp:txXfrm>
        <a:off x="38784" y="2137283"/>
        <a:ext cx="6926209" cy="716935"/>
      </dsp:txXfrm>
    </dsp:sp>
    <dsp:sp modelId="{314293A2-411A-48B5-BFEE-5C65419DC87B}">
      <dsp:nvSpPr>
        <dsp:cNvPr id="0" name=""/>
        <dsp:cNvSpPr/>
      </dsp:nvSpPr>
      <dsp:spPr>
        <a:xfrm>
          <a:off x="0" y="2950602"/>
          <a:ext cx="7003777" cy="794503"/>
        </a:xfrm>
        <a:prstGeom prst="roundRect">
          <a:avLst/>
        </a:prstGeom>
        <a:solidFill>
          <a:schemeClr val="accent2">
            <a:hueOff val="893068"/>
            <a:satOff val="-557"/>
            <a:lumOff val="75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0" i="0" kern="1200"/>
            <a:t>Quantifying the rate and magnitude of the trend if present.</a:t>
          </a:r>
          <a:endParaRPr lang="en-US" sz="2000" kern="1200"/>
        </a:p>
      </dsp:txBody>
      <dsp:txXfrm>
        <a:off x="38784" y="2989386"/>
        <a:ext cx="6926209" cy="716935"/>
      </dsp:txXfrm>
    </dsp:sp>
    <dsp:sp modelId="{126CCBC4-F97A-464F-955C-41F0387CA838}">
      <dsp:nvSpPr>
        <dsp:cNvPr id="0" name=""/>
        <dsp:cNvSpPr/>
      </dsp:nvSpPr>
      <dsp:spPr>
        <a:xfrm>
          <a:off x="0" y="3802705"/>
          <a:ext cx="7003777" cy="794503"/>
        </a:xfrm>
        <a:prstGeom prst="roundRect">
          <a:avLst/>
        </a:prstGeom>
        <a:solidFill>
          <a:schemeClr val="accent2">
            <a:hueOff val="1190757"/>
            <a:satOff val="-743"/>
            <a:lumOff val="1003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0" i="0" kern="1200"/>
            <a:t>Recognizing the potential drivers or factors contributing to the observed trend.</a:t>
          </a:r>
          <a:endParaRPr lang="en-US" sz="2000" kern="1200"/>
        </a:p>
      </dsp:txBody>
      <dsp:txXfrm>
        <a:off x="38784" y="3841489"/>
        <a:ext cx="6926209" cy="716935"/>
      </dsp:txXfrm>
    </dsp:sp>
    <dsp:sp modelId="{17DF80C3-C669-4149-AF81-9DDC5294161B}">
      <dsp:nvSpPr>
        <dsp:cNvPr id="0" name=""/>
        <dsp:cNvSpPr/>
      </dsp:nvSpPr>
      <dsp:spPr>
        <a:xfrm>
          <a:off x="0" y="4654808"/>
          <a:ext cx="7003777" cy="794503"/>
        </a:xfrm>
        <a:prstGeom prst="roundRect">
          <a:avLst/>
        </a:prstGeom>
        <a:solidFill>
          <a:schemeClr val="accent2">
            <a:hueOff val="1488446"/>
            <a:satOff val="-929"/>
            <a:lumOff val="1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0" i="0" kern="1200"/>
            <a:t>Using the insights from trend analysis for forecasting and decision-making.</a:t>
          </a:r>
          <a:endParaRPr lang="en-US" sz="2000" kern="1200"/>
        </a:p>
      </dsp:txBody>
      <dsp:txXfrm>
        <a:off x="38784" y="4693592"/>
        <a:ext cx="6926209" cy="716935"/>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13521B-B5B4-4191-AF13-A2E4C2479157}">
      <dsp:nvSpPr>
        <dsp:cNvPr id="0" name=""/>
        <dsp:cNvSpPr/>
      </dsp:nvSpPr>
      <dsp:spPr>
        <a:xfrm>
          <a:off x="0" y="103002"/>
          <a:ext cx="7003777" cy="27799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GB" sz="2700" b="1" i="0" kern="1200"/>
            <a:t>Data Visualization:</a:t>
          </a:r>
          <a:r>
            <a:rPr lang="en-GB" sz="2700" b="0" i="0" kern="1200"/>
            <a:t> Start by plotting the time series data, which often consists of data points collected at different time intervals (e.g., daily, monthly, annually). This allows you to visualize the data's behaviour over time.</a:t>
          </a:r>
          <a:endParaRPr lang="en-US" sz="2700" kern="1200"/>
        </a:p>
      </dsp:txBody>
      <dsp:txXfrm>
        <a:off x="135705" y="238707"/>
        <a:ext cx="6732367" cy="2508510"/>
      </dsp:txXfrm>
    </dsp:sp>
    <dsp:sp modelId="{B21C1C72-F06E-4294-B8A9-DDAD4B8CB382}">
      <dsp:nvSpPr>
        <dsp:cNvPr id="0" name=""/>
        <dsp:cNvSpPr/>
      </dsp:nvSpPr>
      <dsp:spPr>
        <a:xfrm>
          <a:off x="0" y="2960682"/>
          <a:ext cx="7003777" cy="2779920"/>
        </a:xfrm>
        <a:prstGeom prst="roundRect">
          <a:avLst/>
        </a:prstGeom>
        <a:solidFill>
          <a:schemeClr val="accent2">
            <a:hueOff val="1488446"/>
            <a:satOff val="-929"/>
            <a:lumOff val="1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GB" sz="2700" b="1" i="0" kern="1200"/>
            <a:t>Smoothing Techniques:</a:t>
          </a:r>
          <a:r>
            <a:rPr lang="en-GB" sz="2700" b="0" i="0" kern="1200"/>
            <a:t> Apply smoothing techniques to remove short-term fluctuations and reveal the underlying trend. Common methods include moving averages and exponential smoothing.</a:t>
          </a:r>
          <a:endParaRPr lang="en-US" sz="2700" kern="1200"/>
        </a:p>
      </dsp:txBody>
      <dsp:txXfrm>
        <a:off x="135705" y="3096387"/>
        <a:ext cx="6732367" cy="2508510"/>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CA93F1-6B8E-4525-80B0-2D1C90CA8C3E}">
      <dsp:nvSpPr>
        <dsp:cNvPr id="0" name=""/>
        <dsp:cNvSpPr/>
      </dsp:nvSpPr>
      <dsp:spPr>
        <a:xfrm>
          <a:off x="3456168" y="2450427"/>
          <a:ext cx="91440" cy="908549"/>
        </a:xfrm>
        <a:custGeom>
          <a:avLst/>
          <a:gdLst/>
          <a:ahLst/>
          <a:cxnLst/>
          <a:rect l="0" t="0" r="0" b="0"/>
          <a:pathLst>
            <a:path>
              <a:moveTo>
                <a:pt x="45720" y="0"/>
              </a:moveTo>
              <a:lnTo>
                <a:pt x="45720" y="908549"/>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478409" y="2900006"/>
        <a:ext cx="46957" cy="9391"/>
      </dsp:txXfrm>
    </dsp:sp>
    <dsp:sp modelId="{5AF8EBBF-4684-4425-84AB-E1D6FC23A797}">
      <dsp:nvSpPr>
        <dsp:cNvPr id="0" name=""/>
        <dsp:cNvSpPr/>
      </dsp:nvSpPr>
      <dsp:spPr>
        <a:xfrm>
          <a:off x="1460260" y="2273"/>
          <a:ext cx="4083256" cy="244995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0083" tIns="210022" rIns="200083" bIns="210022" numCol="1" spcCol="1270" anchor="ctr" anchorCtr="0">
          <a:noAutofit/>
        </a:bodyPr>
        <a:lstStyle/>
        <a:p>
          <a:pPr marL="0" lvl="0" indent="0" algn="ctr" defTabSz="800100">
            <a:lnSpc>
              <a:spcPct val="100000"/>
            </a:lnSpc>
            <a:spcBef>
              <a:spcPct val="0"/>
            </a:spcBef>
            <a:spcAft>
              <a:spcPct val="35000"/>
            </a:spcAft>
            <a:buNone/>
          </a:pPr>
          <a:r>
            <a:rPr lang="en-GB" sz="1800" b="1" i="0" kern="1200"/>
            <a:t>Statistical Analysis:</a:t>
          </a:r>
          <a:r>
            <a:rPr lang="en-GB" sz="1800" b="0" i="0" kern="1200"/>
            <a:t> Use statistical methods to quantify the trend. This might involve fitting linear or nonlinear regression models to the data to estimate the trend's slope or direction.</a:t>
          </a:r>
          <a:endParaRPr lang="en-US" sz="1800" kern="1200"/>
        </a:p>
      </dsp:txBody>
      <dsp:txXfrm>
        <a:off x="1460260" y="2273"/>
        <a:ext cx="4083256" cy="2449954"/>
      </dsp:txXfrm>
    </dsp:sp>
    <dsp:sp modelId="{9976D5B8-B3B3-47D2-89F8-D0C4D0063732}">
      <dsp:nvSpPr>
        <dsp:cNvPr id="0" name=""/>
        <dsp:cNvSpPr/>
      </dsp:nvSpPr>
      <dsp:spPr>
        <a:xfrm>
          <a:off x="1460260" y="3391377"/>
          <a:ext cx="4083256" cy="2449954"/>
        </a:xfrm>
        <a:prstGeom prst="rect">
          <a:avLst/>
        </a:prstGeom>
        <a:solidFill>
          <a:schemeClr val="accent2">
            <a:hueOff val="1488446"/>
            <a:satOff val="-929"/>
            <a:lumOff val="1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0083" tIns="210022" rIns="200083" bIns="210022" numCol="1" spcCol="1270" anchor="ctr" anchorCtr="0">
          <a:noAutofit/>
        </a:bodyPr>
        <a:lstStyle/>
        <a:p>
          <a:pPr marL="0" lvl="0" indent="0" algn="ctr" defTabSz="800100">
            <a:lnSpc>
              <a:spcPct val="100000"/>
            </a:lnSpc>
            <a:spcBef>
              <a:spcPct val="0"/>
            </a:spcBef>
            <a:spcAft>
              <a:spcPct val="35000"/>
            </a:spcAft>
            <a:buNone/>
          </a:pPr>
          <a:r>
            <a:rPr lang="en-GB" sz="1800" b="1" i="0" kern="1200"/>
            <a:t>Interpretation:</a:t>
          </a:r>
          <a:r>
            <a:rPr lang="en-GB" sz="1800" b="0" i="0" kern="1200"/>
            <a:t> Interpret the results of trend analysis. Determine whether the data shows a significant and meaningful trend. If a trend is present, assess its implications and potential causes.</a:t>
          </a:r>
          <a:endParaRPr lang="en-US" sz="1800" kern="1200"/>
        </a:p>
      </dsp:txBody>
      <dsp:txXfrm>
        <a:off x="1460260" y="3391377"/>
        <a:ext cx="4083256" cy="2449954"/>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D80552-3516-401A-B53E-63B64CEE1DBC}">
      <dsp:nvSpPr>
        <dsp:cNvPr id="0" name=""/>
        <dsp:cNvSpPr/>
      </dsp:nvSpPr>
      <dsp:spPr>
        <a:xfrm>
          <a:off x="0" y="27402"/>
          <a:ext cx="7003777" cy="14040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0" i="0" kern="1200"/>
            <a:t>Trend analysis has numerous applications across various domains. Some examples include: Financial Markets: Analysing stock prices, commodity prices, and economic indicators to identify long-term trends.</a:t>
          </a:r>
          <a:endParaRPr lang="en-US" sz="2000" kern="1200"/>
        </a:p>
      </dsp:txBody>
      <dsp:txXfrm>
        <a:off x="68538" y="95940"/>
        <a:ext cx="6866701" cy="1266924"/>
      </dsp:txXfrm>
    </dsp:sp>
    <dsp:sp modelId="{8AA0334F-B0D7-4F5D-8CAF-BC0D2EE7ECE7}">
      <dsp:nvSpPr>
        <dsp:cNvPr id="0" name=""/>
        <dsp:cNvSpPr/>
      </dsp:nvSpPr>
      <dsp:spPr>
        <a:xfrm>
          <a:off x="0" y="1489002"/>
          <a:ext cx="7003777" cy="1404000"/>
        </a:xfrm>
        <a:prstGeom prst="roundRect">
          <a:avLst/>
        </a:prstGeom>
        <a:solidFill>
          <a:schemeClr val="accent2">
            <a:hueOff val="496149"/>
            <a:satOff val="-310"/>
            <a:lumOff val="41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0" i="0" kern="1200"/>
            <a:t>Environmental Science: Examining climate data to understand temperature trends and climate change.</a:t>
          </a:r>
          <a:endParaRPr lang="en-US" sz="2000" kern="1200"/>
        </a:p>
      </dsp:txBody>
      <dsp:txXfrm>
        <a:off x="68538" y="1557540"/>
        <a:ext cx="6866701" cy="1266924"/>
      </dsp:txXfrm>
    </dsp:sp>
    <dsp:sp modelId="{49665A13-4106-464B-AB24-89963526DCCC}">
      <dsp:nvSpPr>
        <dsp:cNvPr id="0" name=""/>
        <dsp:cNvSpPr/>
      </dsp:nvSpPr>
      <dsp:spPr>
        <a:xfrm>
          <a:off x="0" y="2950602"/>
          <a:ext cx="7003777" cy="1404000"/>
        </a:xfrm>
        <a:prstGeom prst="roundRect">
          <a:avLst/>
        </a:prstGeom>
        <a:solidFill>
          <a:schemeClr val="accent2">
            <a:hueOff val="992297"/>
            <a:satOff val="-619"/>
            <a:lumOff val="836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0" i="0" kern="1200"/>
            <a:t>Business and Marketing: Evaluating sales data to uncover long-term growth or decline in product demand.</a:t>
          </a:r>
          <a:endParaRPr lang="en-US" sz="2000" kern="1200"/>
        </a:p>
      </dsp:txBody>
      <dsp:txXfrm>
        <a:off x="68538" y="3019140"/>
        <a:ext cx="6866701" cy="1266924"/>
      </dsp:txXfrm>
    </dsp:sp>
    <dsp:sp modelId="{48EF0C68-69CC-48A1-925C-728FAB0F6525}">
      <dsp:nvSpPr>
        <dsp:cNvPr id="0" name=""/>
        <dsp:cNvSpPr/>
      </dsp:nvSpPr>
      <dsp:spPr>
        <a:xfrm>
          <a:off x="0" y="4412202"/>
          <a:ext cx="7003777" cy="1404000"/>
        </a:xfrm>
        <a:prstGeom prst="roundRect">
          <a:avLst/>
        </a:prstGeom>
        <a:solidFill>
          <a:schemeClr val="accent2">
            <a:hueOff val="1488446"/>
            <a:satOff val="-929"/>
            <a:lumOff val="1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0" i="0" kern="1200"/>
            <a:t>Demographics: Studying population data to observe trends in birth rates, aging populations, or migration patterns.</a:t>
          </a:r>
          <a:endParaRPr lang="en-US" sz="2000" kern="1200"/>
        </a:p>
      </dsp:txBody>
      <dsp:txXfrm>
        <a:off x="68538" y="4480740"/>
        <a:ext cx="6866701" cy="1266924"/>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B0F34A-47FF-4175-AF3D-018C29D5C502}">
      <dsp:nvSpPr>
        <dsp:cNvPr id="0" name=""/>
        <dsp:cNvSpPr/>
      </dsp:nvSpPr>
      <dsp:spPr>
        <a:xfrm>
          <a:off x="0" y="78927"/>
          <a:ext cx="7003777" cy="136743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b="0" i="0" kern="1200"/>
            <a:t>The objectives of understanding irregular components in time series data include:</a:t>
          </a:r>
          <a:endParaRPr lang="en-US" sz="2500" kern="1200"/>
        </a:p>
      </dsp:txBody>
      <dsp:txXfrm>
        <a:off x="66753" y="145680"/>
        <a:ext cx="6870271" cy="1233931"/>
      </dsp:txXfrm>
    </dsp:sp>
    <dsp:sp modelId="{F6D6C905-725F-4F89-A24C-F1BBA06A509D}">
      <dsp:nvSpPr>
        <dsp:cNvPr id="0" name=""/>
        <dsp:cNvSpPr/>
      </dsp:nvSpPr>
      <dsp:spPr>
        <a:xfrm>
          <a:off x="0" y="1518365"/>
          <a:ext cx="7003777" cy="1367437"/>
        </a:xfrm>
        <a:prstGeom prst="roundRect">
          <a:avLst/>
        </a:prstGeom>
        <a:solidFill>
          <a:schemeClr val="accent2">
            <a:hueOff val="496149"/>
            <a:satOff val="-310"/>
            <a:lumOff val="41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b="0" i="0" kern="1200"/>
            <a:t>Identifying and quantifying the random variations that cannot be attributed to regular patterns.</a:t>
          </a:r>
          <a:endParaRPr lang="en-US" sz="2500" kern="1200"/>
        </a:p>
      </dsp:txBody>
      <dsp:txXfrm>
        <a:off x="66753" y="1585118"/>
        <a:ext cx="6870271" cy="1233931"/>
      </dsp:txXfrm>
    </dsp:sp>
    <dsp:sp modelId="{3CDA76FA-D43B-42B7-9DBA-7E14BE093C44}">
      <dsp:nvSpPr>
        <dsp:cNvPr id="0" name=""/>
        <dsp:cNvSpPr/>
      </dsp:nvSpPr>
      <dsp:spPr>
        <a:xfrm>
          <a:off x="0" y="2957802"/>
          <a:ext cx="7003777" cy="1367437"/>
        </a:xfrm>
        <a:prstGeom prst="roundRect">
          <a:avLst/>
        </a:prstGeom>
        <a:solidFill>
          <a:schemeClr val="accent2">
            <a:hueOff val="992297"/>
            <a:satOff val="-619"/>
            <a:lumOff val="836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b="0" i="0" kern="1200"/>
            <a:t>Detecting outliers or extreme values that may indicate unusual events or measurement errors.</a:t>
          </a:r>
          <a:endParaRPr lang="en-US" sz="2500" kern="1200"/>
        </a:p>
      </dsp:txBody>
      <dsp:txXfrm>
        <a:off x="66753" y="3024555"/>
        <a:ext cx="6870271" cy="1233931"/>
      </dsp:txXfrm>
    </dsp:sp>
    <dsp:sp modelId="{3FB992E2-9967-474E-B599-2B6CE963FB51}">
      <dsp:nvSpPr>
        <dsp:cNvPr id="0" name=""/>
        <dsp:cNvSpPr/>
      </dsp:nvSpPr>
      <dsp:spPr>
        <a:xfrm>
          <a:off x="0" y="4397240"/>
          <a:ext cx="7003777" cy="1367437"/>
        </a:xfrm>
        <a:prstGeom prst="roundRect">
          <a:avLst/>
        </a:prstGeom>
        <a:solidFill>
          <a:schemeClr val="accent2">
            <a:hueOff val="1488446"/>
            <a:satOff val="-929"/>
            <a:lumOff val="1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b="0" i="0" kern="1200"/>
            <a:t>Assessing the overall stability and reliability of the time series data.</a:t>
          </a:r>
          <a:endParaRPr lang="en-US" sz="2500" kern="1200"/>
        </a:p>
      </dsp:txBody>
      <dsp:txXfrm>
        <a:off x="66753" y="4463993"/>
        <a:ext cx="6870271" cy="1233931"/>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3B62E6-70BF-4631-AD60-622B3C1CD2F9}">
      <dsp:nvSpPr>
        <dsp:cNvPr id="0" name=""/>
        <dsp:cNvSpPr/>
      </dsp:nvSpPr>
      <dsp:spPr>
        <a:xfrm>
          <a:off x="0" y="79242"/>
          <a:ext cx="7003777" cy="28080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b="1" i="0" kern="1200"/>
            <a:t>Residual Analysis:</a:t>
          </a:r>
          <a:r>
            <a:rPr lang="en-GB" sz="2400" b="0" i="0" kern="1200"/>
            <a:t> Residual analysis involves examining the difference between observed data points and the values predicted by a forecasting or modeling method. Irregular components are often manifested as the discrepancies between actual data and predicted values.</a:t>
          </a:r>
          <a:endParaRPr lang="en-US" sz="2400" kern="1200"/>
        </a:p>
      </dsp:txBody>
      <dsp:txXfrm>
        <a:off x="137075" y="216317"/>
        <a:ext cx="6729627" cy="2533850"/>
      </dsp:txXfrm>
    </dsp:sp>
    <dsp:sp modelId="{F446BABE-E1EC-40A6-A290-D1836194DBE2}">
      <dsp:nvSpPr>
        <dsp:cNvPr id="0" name=""/>
        <dsp:cNvSpPr/>
      </dsp:nvSpPr>
      <dsp:spPr>
        <a:xfrm>
          <a:off x="0" y="2956362"/>
          <a:ext cx="7003777" cy="2808000"/>
        </a:xfrm>
        <a:prstGeom prst="roundRect">
          <a:avLst/>
        </a:prstGeom>
        <a:solidFill>
          <a:schemeClr val="accent2">
            <a:hueOff val="1488446"/>
            <a:satOff val="-929"/>
            <a:lumOff val="1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b="1" i="0" kern="1200"/>
            <a:t>Outlier Detection:</a:t>
          </a:r>
          <a:r>
            <a:rPr lang="en-GB" sz="2400" b="0" i="0" kern="1200"/>
            <a:t> Identify and investigate outliers or extreme values in the time series data. Outliers could indicate unusual events, errors, or special occurrences that contribute to irregular components.</a:t>
          </a:r>
          <a:endParaRPr lang="en-US" sz="2400" kern="1200"/>
        </a:p>
      </dsp:txBody>
      <dsp:txXfrm>
        <a:off x="137075" y="3093437"/>
        <a:ext cx="6729627" cy="2533850"/>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9CC237-5F69-444D-80BD-4F3E9B550439}">
      <dsp:nvSpPr>
        <dsp:cNvPr id="0" name=""/>
        <dsp:cNvSpPr/>
      </dsp:nvSpPr>
      <dsp:spPr>
        <a:xfrm>
          <a:off x="0" y="416202"/>
          <a:ext cx="7003777" cy="247103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b="1" i="0" kern="1200"/>
            <a:t>Statistical Techniques:</a:t>
          </a:r>
          <a:r>
            <a:rPr lang="en-GB" sz="2400" b="0" i="0" kern="1200"/>
            <a:t> Apply statistical techniques and methods to analyze the nature of random fluctuations. This may involve measures of randomness, autocorrelation analysis, or time series decomposition to isolate the irregular component.</a:t>
          </a:r>
          <a:endParaRPr lang="en-US" sz="2400" kern="1200"/>
        </a:p>
      </dsp:txBody>
      <dsp:txXfrm>
        <a:off x="120626" y="536828"/>
        <a:ext cx="6762525" cy="2229787"/>
      </dsp:txXfrm>
    </dsp:sp>
    <dsp:sp modelId="{737EF427-3092-4BD2-9521-D7E3FEACD65A}">
      <dsp:nvSpPr>
        <dsp:cNvPr id="0" name=""/>
        <dsp:cNvSpPr/>
      </dsp:nvSpPr>
      <dsp:spPr>
        <a:xfrm>
          <a:off x="0" y="2956362"/>
          <a:ext cx="7003777" cy="2471039"/>
        </a:xfrm>
        <a:prstGeom prst="roundRect">
          <a:avLst/>
        </a:prstGeom>
        <a:solidFill>
          <a:schemeClr val="accent2">
            <a:hueOff val="1488446"/>
            <a:satOff val="-929"/>
            <a:lumOff val="1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b="1" i="0" kern="1200"/>
            <a:t>Filtering and Smoothing:</a:t>
          </a:r>
          <a:r>
            <a:rPr lang="en-GB" sz="2400" b="0" i="0" kern="1200"/>
            <a:t> Use filtering or smoothing techniques to reduce the impact of irregularities when necessary. Techniques like moving averages or exponential smoothing can help reveal underlying trends by suppressing the effects of random fluctuations.</a:t>
          </a:r>
          <a:endParaRPr lang="en-US" sz="2400" kern="1200"/>
        </a:p>
      </dsp:txBody>
      <dsp:txXfrm>
        <a:off x="120626" y="3076988"/>
        <a:ext cx="6762525" cy="2229787"/>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24AA72-044D-4938-AA99-990CAE65A9C9}">
      <dsp:nvSpPr>
        <dsp:cNvPr id="0" name=""/>
        <dsp:cNvSpPr/>
      </dsp:nvSpPr>
      <dsp:spPr>
        <a:xfrm>
          <a:off x="0" y="27402"/>
          <a:ext cx="7003777" cy="14040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0" i="0" kern="1200"/>
            <a:t>Understanding irregular components is crucial in various fields and applications, including:Financial Analysis: Identifying sudden, unexplained changes in stock prices or financial indicators.</a:t>
          </a:r>
          <a:endParaRPr lang="en-US" sz="2000" kern="1200"/>
        </a:p>
      </dsp:txBody>
      <dsp:txXfrm>
        <a:off x="68538" y="95940"/>
        <a:ext cx="6866701" cy="1266924"/>
      </dsp:txXfrm>
    </dsp:sp>
    <dsp:sp modelId="{6ABAFF57-1F8D-4070-8C3D-D3B8F228EBC7}">
      <dsp:nvSpPr>
        <dsp:cNvPr id="0" name=""/>
        <dsp:cNvSpPr/>
      </dsp:nvSpPr>
      <dsp:spPr>
        <a:xfrm>
          <a:off x="0" y="1489002"/>
          <a:ext cx="7003777" cy="1404000"/>
        </a:xfrm>
        <a:prstGeom prst="roundRect">
          <a:avLst/>
        </a:prstGeom>
        <a:solidFill>
          <a:schemeClr val="accent2">
            <a:hueOff val="496149"/>
            <a:satOff val="-310"/>
            <a:lumOff val="41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0" i="0" kern="1200"/>
            <a:t>Quality Control: Detecting anomalies or defects in manufacturing processes.</a:t>
          </a:r>
          <a:endParaRPr lang="en-US" sz="2000" kern="1200"/>
        </a:p>
      </dsp:txBody>
      <dsp:txXfrm>
        <a:off x="68538" y="1557540"/>
        <a:ext cx="6866701" cy="1266924"/>
      </dsp:txXfrm>
    </dsp:sp>
    <dsp:sp modelId="{55A92561-E045-42FE-A9D6-DF24353E51BA}">
      <dsp:nvSpPr>
        <dsp:cNvPr id="0" name=""/>
        <dsp:cNvSpPr/>
      </dsp:nvSpPr>
      <dsp:spPr>
        <a:xfrm>
          <a:off x="0" y="2950602"/>
          <a:ext cx="7003777" cy="1404000"/>
        </a:xfrm>
        <a:prstGeom prst="roundRect">
          <a:avLst/>
        </a:prstGeom>
        <a:solidFill>
          <a:schemeClr val="accent2">
            <a:hueOff val="992297"/>
            <a:satOff val="-619"/>
            <a:lumOff val="836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0" i="0" kern="1200"/>
            <a:t>Environmental Monitoring: Recognizing unanticipated variations in pollution levels or climate data.</a:t>
          </a:r>
          <a:endParaRPr lang="en-US" sz="2000" kern="1200"/>
        </a:p>
      </dsp:txBody>
      <dsp:txXfrm>
        <a:off x="68538" y="3019140"/>
        <a:ext cx="6866701" cy="1266924"/>
      </dsp:txXfrm>
    </dsp:sp>
    <dsp:sp modelId="{1E340201-2253-41A4-B6F4-042B7A049255}">
      <dsp:nvSpPr>
        <dsp:cNvPr id="0" name=""/>
        <dsp:cNvSpPr/>
      </dsp:nvSpPr>
      <dsp:spPr>
        <a:xfrm>
          <a:off x="0" y="4412202"/>
          <a:ext cx="7003777" cy="1404000"/>
        </a:xfrm>
        <a:prstGeom prst="roundRect">
          <a:avLst/>
        </a:prstGeom>
        <a:solidFill>
          <a:schemeClr val="accent2">
            <a:hueOff val="1488446"/>
            <a:satOff val="-929"/>
            <a:lumOff val="1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0" i="0" kern="1200"/>
            <a:t>Anomaly Detection: Detecting unusual activities or security breaches in cybersecurity applications.</a:t>
          </a:r>
          <a:endParaRPr lang="en-US" sz="2000" kern="1200"/>
        </a:p>
      </dsp:txBody>
      <dsp:txXfrm>
        <a:off x="68538" y="4480740"/>
        <a:ext cx="6866701" cy="1266924"/>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3227ED-99CC-461E-AA07-BBF20FBD95B8}">
      <dsp:nvSpPr>
        <dsp:cNvPr id="0" name=""/>
        <dsp:cNvSpPr/>
      </dsp:nvSpPr>
      <dsp:spPr>
        <a:xfrm>
          <a:off x="0" y="49808"/>
          <a:ext cx="7003777" cy="107257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GB" sz="2700" b="1" i="0" kern="1200"/>
            <a:t>Characteristics of Cyclical Patterns:</a:t>
          </a:r>
          <a:endParaRPr lang="en-US" sz="2700" kern="1200"/>
        </a:p>
      </dsp:txBody>
      <dsp:txXfrm>
        <a:off x="52359" y="102167"/>
        <a:ext cx="6899059" cy="967861"/>
      </dsp:txXfrm>
    </dsp:sp>
    <dsp:sp modelId="{2F05DC4E-3E66-4FC8-811E-032B2D10D854}">
      <dsp:nvSpPr>
        <dsp:cNvPr id="0" name=""/>
        <dsp:cNvSpPr/>
      </dsp:nvSpPr>
      <dsp:spPr>
        <a:xfrm>
          <a:off x="0" y="1200147"/>
          <a:ext cx="7003777" cy="1072579"/>
        </a:xfrm>
        <a:prstGeom prst="roundRect">
          <a:avLst/>
        </a:prstGeom>
        <a:solidFill>
          <a:schemeClr val="accent2">
            <a:hueOff val="1488446"/>
            <a:satOff val="-929"/>
            <a:lumOff val="1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GB" sz="2700" b="0" i="0" kern="1200"/>
            <a:t>Cyclical patterns exhibit the following characteristics:</a:t>
          </a:r>
          <a:endParaRPr lang="en-US" sz="2700" kern="1200"/>
        </a:p>
      </dsp:txBody>
      <dsp:txXfrm>
        <a:off x="52359" y="1252506"/>
        <a:ext cx="6899059" cy="967861"/>
      </dsp:txXfrm>
    </dsp:sp>
    <dsp:sp modelId="{D84899F3-2CA1-4A9E-8626-7DBC9DD083CA}">
      <dsp:nvSpPr>
        <dsp:cNvPr id="0" name=""/>
        <dsp:cNvSpPr/>
      </dsp:nvSpPr>
      <dsp:spPr>
        <a:xfrm>
          <a:off x="0" y="2272726"/>
          <a:ext cx="7003777" cy="352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2370"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GB" sz="2100" b="0" i="0" kern="1200"/>
            <a:t>Longer Durations: These patterns last for multiple years or quarters and do not follow a fixed, known period.</a:t>
          </a:r>
          <a:endParaRPr lang="en-US" sz="2100" kern="1200"/>
        </a:p>
        <a:p>
          <a:pPr marL="228600" lvl="1" indent="-228600" algn="l" defTabSz="933450">
            <a:lnSpc>
              <a:spcPct val="90000"/>
            </a:lnSpc>
            <a:spcBef>
              <a:spcPct val="0"/>
            </a:spcBef>
            <a:spcAft>
              <a:spcPct val="20000"/>
            </a:spcAft>
            <a:buChar char="•"/>
          </a:pPr>
          <a:r>
            <a:rPr lang="en-GB" sz="2100" b="0" i="0" kern="1200"/>
            <a:t>Non-Seasonal: Cyclical fluctuations are not tied to specific time intervals like seasons.</a:t>
          </a:r>
          <a:endParaRPr lang="en-US" sz="2100" kern="1200"/>
        </a:p>
        <a:p>
          <a:pPr marL="228600" lvl="1" indent="-228600" algn="l" defTabSz="933450">
            <a:lnSpc>
              <a:spcPct val="90000"/>
            </a:lnSpc>
            <a:spcBef>
              <a:spcPct val="0"/>
            </a:spcBef>
            <a:spcAft>
              <a:spcPct val="20000"/>
            </a:spcAft>
            <a:buChar char="•"/>
          </a:pPr>
          <a:r>
            <a:rPr lang="en-GB" sz="2100" b="0" i="0" kern="1200"/>
            <a:t>Less Regularity: Unlike seasonal patterns, cyclical patterns lack the predictability of fixed periods.</a:t>
          </a:r>
          <a:endParaRPr lang="en-US" sz="2100" kern="1200"/>
        </a:p>
        <a:p>
          <a:pPr marL="228600" lvl="1" indent="-228600" algn="l" defTabSz="933450">
            <a:lnSpc>
              <a:spcPct val="90000"/>
            </a:lnSpc>
            <a:spcBef>
              <a:spcPct val="0"/>
            </a:spcBef>
            <a:spcAft>
              <a:spcPct val="20000"/>
            </a:spcAft>
            <a:buChar char="•"/>
          </a:pPr>
          <a:r>
            <a:rPr lang="en-GB" sz="2100" b="0" i="0" kern="1200" dirty="0"/>
            <a:t>Linked to Economic or Business Cycles: Many cyclical patterns are associated with economic and business cycles, such as the boom and bust cycles in financial markets.</a:t>
          </a:r>
          <a:endParaRPr lang="en-US" sz="2100" kern="1200" dirty="0"/>
        </a:p>
      </dsp:txBody>
      <dsp:txXfrm>
        <a:off x="0" y="2272726"/>
        <a:ext cx="7003777" cy="3521070"/>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58CBB5-66CC-4247-83FF-E9862131028D}">
      <dsp:nvSpPr>
        <dsp:cNvPr id="0" name=""/>
        <dsp:cNvSpPr/>
      </dsp:nvSpPr>
      <dsp:spPr>
        <a:xfrm>
          <a:off x="0" y="27402"/>
          <a:ext cx="7003777" cy="14040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0" i="0" kern="1200"/>
            <a:t>Cyclical patterns exhibit the following characteristics:Longer Durations: These patterns last for multiple years or quarters and do not follow a fixed, known period.</a:t>
          </a:r>
          <a:endParaRPr lang="en-US" sz="2000" kern="1200"/>
        </a:p>
      </dsp:txBody>
      <dsp:txXfrm>
        <a:off x="68538" y="95940"/>
        <a:ext cx="6866701" cy="1266924"/>
      </dsp:txXfrm>
    </dsp:sp>
    <dsp:sp modelId="{227899A6-A217-424A-B57D-469C18492E5F}">
      <dsp:nvSpPr>
        <dsp:cNvPr id="0" name=""/>
        <dsp:cNvSpPr/>
      </dsp:nvSpPr>
      <dsp:spPr>
        <a:xfrm>
          <a:off x="0" y="1489002"/>
          <a:ext cx="7003777" cy="1404000"/>
        </a:xfrm>
        <a:prstGeom prst="roundRect">
          <a:avLst/>
        </a:prstGeom>
        <a:solidFill>
          <a:schemeClr val="accent2">
            <a:hueOff val="496149"/>
            <a:satOff val="-310"/>
            <a:lumOff val="41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0" i="0" kern="1200"/>
            <a:t>Non-Seasonal: Cyclical fluctuations are not tied to specific time intervals like seasons.</a:t>
          </a:r>
          <a:endParaRPr lang="en-US" sz="2000" kern="1200"/>
        </a:p>
      </dsp:txBody>
      <dsp:txXfrm>
        <a:off x="68538" y="1557540"/>
        <a:ext cx="6866701" cy="1266924"/>
      </dsp:txXfrm>
    </dsp:sp>
    <dsp:sp modelId="{5EA86BDC-CCED-44C1-B0B8-09F15FAAD953}">
      <dsp:nvSpPr>
        <dsp:cNvPr id="0" name=""/>
        <dsp:cNvSpPr/>
      </dsp:nvSpPr>
      <dsp:spPr>
        <a:xfrm>
          <a:off x="0" y="2950602"/>
          <a:ext cx="7003777" cy="1404000"/>
        </a:xfrm>
        <a:prstGeom prst="roundRect">
          <a:avLst/>
        </a:prstGeom>
        <a:solidFill>
          <a:schemeClr val="accent2">
            <a:hueOff val="992297"/>
            <a:satOff val="-619"/>
            <a:lumOff val="836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0" i="0" kern="1200"/>
            <a:t>Less Regularity: Unlike seasonal patterns, cyclical patterns lack the predictability of fixed periods.</a:t>
          </a:r>
          <a:endParaRPr lang="en-US" sz="2000" kern="1200"/>
        </a:p>
      </dsp:txBody>
      <dsp:txXfrm>
        <a:off x="68538" y="3019140"/>
        <a:ext cx="6866701" cy="1266924"/>
      </dsp:txXfrm>
    </dsp:sp>
    <dsp:sp modelId="{D1F18F68-91A4-4C38-BD00-40E54E62734C}">
      <dsp:nvSpPr>
        <dsp:cNvPr id="0" name=""/>
        <dsp:cNvSpPr/>
      </dsp:nvSpPr>
      <dsp:spPr>
        <a:xfrm>
          <a:off x="0" y="4412202"/>
          <a:ext cx="7003777" cy="1404000"/>
        </a:xfrm>
        <a:prstGeom prst="roundRect">
          <a:avLst/>
        </a:prstGeom>
        <a:solidFill>
          <a:schemeClr val="accent2">
            <a:hueOff val="1488446"/>
            <a:satOff val="-929"/>
            <a:lumOff val="1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0" i="0" kern="1200"/>
            <a:t>Linked to Economic or Business Cycles: Many cyclical patterns are associated with economic and business cycles, such as the boom and bust cycles in financial markets.</a:t>
          </a:r>
          <a:endParaRPr lang="en-US" sz="2000" kern="1200"/>
        </a:p>
      </dsp:txBody>
      <dsp:txXfrm>
        <a:off x="68538" y="4480740"/>
        <a:ext cx="6866701" cy="1266924"/>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96BA19-BCA9-4DA2-9501-B4FDB239CEA6}">
      <dsp:nvSpPr>
        <dsp:cNvPr id="0" name=""/>
        <dsp:cNvSpPr/>
      </dsp:nvSpPr>
      <dsp:spPr>
        <a:xfrm>
          <a:off x="0" y="0"/>
          <a:ext cx="7003777"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233848-5617-4119-96A4-B6E322B54F09}">
      <dsp:nvSpPr>
        <dsp:cNvPr id="0" name=""/>
        <dsp:cNvSpPr/>
      </dsp:nvSpPr>
      <dsp:spPr>
        <a:xfrm>
          <a:off x="0" y="0"/>
          <a:ext cx="7003777" cy="14609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GB" sz="2900" b="0" i="0" kern="1200"/>
            <a:t>The objectives of analysing cyclical patterns in time series data include:</a:t>
          </a:r>
          <a:endParaRPr lang="en-US" sz="2900" kern="1200"/>
        </a:p>
      </dsp:txBody>
      <dsp:txXfrm>
        <a:off x="0" y="0"/>
        <a:ext cx="7003777" cy="1460901"/>
      </dsp:txXfrm>
    </dsp:sp>
    <dsp:sp modelId="{4A151CCE-6DA2-489F-8C06-DCF15C3ACE01}">
      <dsp:nvSpPr>
        <dsp:cNvPr id="0" name=""/>
        <dsp:cNvSpPr/>
      </dsp:nvSpPr>
      <dsp:spPr>
        <a:xfrm>
          <a:off x="0" y="1460901"/>
          <a:ext cx="7003777"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1033E6-3DCA-4492-9A57-65E88F5B651E}">
      <dsp:nvSpPr>
        <dsp:cNvPr id="0" name=""/>
        <dsp:cNvSpPr/>
      </dsp:nvSpPr>
      <dsp:spPr>
        <a:xfrm>
          <a:off x="0" y="1460901"/>
          <a:ext cx="7003777" cy="14609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GB" sz="2900" b="0" i="0" kern="1200"/>
            <a:t>Identifying and quantifying the longer-term, non-seasonal trends that affect the data.</a:t>
          </a:r>
          <a:endParaRPr lang="en-US" sz="2900" kern="1200"/>
        </a:p>
      </dsp:txBody>
      <dsp:txXfrm>
        <a:off x="0" y="1460901"/>
        <a:ext cx="7003777" cy="1460901"/>
      </dsp:txXfrm>
    </dsp:sp>
    <dsp:sp modelId="{416C9822-DCBE-4DF9-B69F-637A15B006C7}">
      <dsp:nvSpPr>
        <dsp:cNvPr id="0" name=""/>
        <dsp:cNvSpPr/>
      </dsp:nvSpPr>
      <dsp:spPr>
        <a:xfrm>
          <a:off x="0" y="2921802"/>
          <a:ext cx="7003777"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2B1F53-A67A-43F6-A293-63A8A1DA2E80}">
      <dsp:nvSpPr>
        <dsp:cNvPr id="0" name=""/>
        <dsp:cNvSpPr/>
      </dsp:nvSpPr>
      <dsp:spPr>
        <a:xfrm>
          <a:off x="0" y="2921802"/>
          <a:ext cx="7003777" cy="14609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GB" sz="2900" b="0" i="0" kern="1200"/>
            <a:t>Understanding the influence of economic or business cycles on the data.</a:t>
          </a:r>
          <a:endParaRPr lang="en-US" sz="2900" kern="1200"/>
        </a:p>
      </dsp:txBody>
      <dsp:txXfrm>
        <a:off x="0" y="2921802"/>
        <a:ext cx="7003777" cy="1460901"/>
      </dsp:txXfrm>
    </dsp:sp>
    <dsp:sp modelId="{AFBC26A4-2BCA-4C58-9097-2F52F960C46F}">
      <dsp:nvSpPr>
        <dsp:cNvPr id="0" name=""/>
        <dsp:cNvSpPr/>
      </dsp:nvSpPr>
      <dsp:spPr>
        <a:xfrm>
          <a:off x="0" y="4382703"/>
          <a:ext cx="7003777"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962F40-703E-4274-B697-FCD2B4A4EFE2}">
      <dsp:nvSpPr>
        <dsp:cNvPr id="0" name=""/>
        <dsp:cNvSpPr/>
      </dsp:nvSpPr>
      <dsp:spPr>
        <a:xfrm>
          <a:off x="0" y="4382703"/>
          <a:ext cx="7003777" cy="14609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GB" sz="2900" b="0" i="0" kern="1200"/>
            <a:t>Making forecasts or predictions that account for cyclical fluctuations to improve accuracy.</a:t>
          </a:r>
          <a:endParaRPr lang="en-US" sz="2900" kern="1200"/>
        </a:p>
      </dsp:txBody>
      <dsp:txXfrm>
        <a:off x="0" y="4382703"/>
        <a:ext cx="7003777" cy="1460901"/>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46C676-0F60-409D-A465-74286455450C}">
      <dsp:nvSpPr>
        <dsp:cNvPr id="0" name=""/>
        <dsp:cNvSpPr/>
      </dsp:nvSpPr>
      <dsp:spPr>
        <a:xfrm>
          <a:off x="0" y="225402"/>
          <a:ext cx="7003777" cy="26676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i="0" kern="1200"/>
            <a:t>3. Cyclical Component:</a:t>
          </a:r>
          <a:r>
            <a:rPr lang="en-GB" sz="2000" b="0" i="0" kern="1200"/>
            <a:t> The cyclical component represents longer-term fluctuations that do not have a fixed periodicity like seasonal patterns. It captures economic or business cycles and can span several years. These fluctuations are generally associated with broader trends in the economy. An example is the real estate market cycle, which can last for several years and does not follow an annual or quarterly pattern.</a:t>
          </a:r>
          <a:endParaRPr lang="en-US" sz="2000" kern="1200"/>
        </a:p>
      </dsp:txBody>
      <dsp:txXfrm>
        <a:off x="130221" y="355623"/>
        <a:ext cx="6743335" cy="2407158"/>
      </dsp:txXfrm>
    </dsp:sp>
    <dsp:sp modelId="{8DB65E66-7318-4AFD-9BBB-0B5F9BBC1C29}">
      <dsp:nvSpPr>
        <dsp:cNvPr id="0" name=""/>
        <dsp:cNvSpPr/>
      </dsp:nvSpPr>
      <dsp:spPr>
        <a:xfrm>
          <a:off x="0" y="2950602"/>
          <a:ext cx="7003777" cy="2667600"/>
        </a:xfrm>
        <a:prstGeom prst="roundRect">
          <a:avLst/>
        </a:prstGeom>
        <a:solidFill>
          <a:schemeClr val="accent2">
            <a:hueOff val="1488446"/>
            <a:satOff val="-929"/>
            <a:lumOff val="1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kern="1200"/>
            <a:t>4.</a:t>
          </a:r>
          <a:r>
            <a:rPr lang="en-GB" sz="2000" b="1" i="0" kern="1200"/>
            <a:t>Irregular Component (Residual):</a:t>
          </a:r>
          <a:r>
            <a:rPr lang="en-GB" sz="2000" b="0" i="0" kern="1200"/>
            <a:t> The irregular component, often referred to as the residual component, accounts for random and unpredictable variations in the time series data. It includes measurement errors, unexpected events, or other short-term fluctuations that do not fit the trend, seasonal, or cyclical patterns.</a:t>
          </a:r>
          <a:endParaRPr lang="en-US" sz="2000" kern="1200"/>
        </a:p>
      </dsp:txBody>
      <dsp:txXfrm>
        <a:off x="130221" y="3080823"/>
        <a:ext cx="6743335" cy="2407158"/>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EE57FF-A668-4B49-9AEA-2958312EFF5E}">
      <dsp:nvSpPr>
        <dsp:cNvPr id="0" name=""/>
        <dsp:cNvSpPr/>
      </dsp:nvSpPr>
      <dsp:spPr>
        <a:xfrm>
          <a:off x="0" y="178602"/>
          <a:ext cx="7003777" cy="131975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b="0" i="0" kern="1200"/>
            <a:t>Decomposing a time series helps in understanding the underlying structure of the data, making it easier to model and analyze.</a:t>
          </a:r>
          <a:endParaRPr lang="en-US" sz="2400" kern="1200"/>
        </a:p>
      </dsp:txBody>
      <dsp:txXfrm>
        <a:off x="64425" y="243027"/>
        <a:ext cx="6874927" cy="1190909"/>
      </dsp:txXfrm>
    </dsp:sp>
    <dsp:sp modelId="{4F7DE530-02DC-4B50-8C4F-0BBD2FADDCC6}">
      <dsp:nvSpPr>
        <dsp:cNvPr id="0" name=""/>
        <dsp:cNvSpPr/>
      </dsp:nvSpPr>
      <dsp:spPr>
        <a:xfrm>
          <a:off x="0" y="1567482"/>
          <a:ext cx="7003777" cy="1319759"/>
        </a:xfrm>
        <a:prstGeom prst="roundRect">
          <a:avLst/>
        </a:prstGeom>
        <a:solidFill>
          <a:schemeClr val="accent2">
            <a:hueOff val="496149"/>
            <a:satOff val="-310"/>
            <a:lumOff val="41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b="0" i="0" kern="1200"/>
            <a:t>Separating the different components allows for more accurate forecasting, as models can be developed independently for each component.</a:t>
          </a:r>
          <a:endParaRPr lang="en-US" sz="2400" kern="1200"/>
        </a:p>
      </dsp:txBody>
      <dsp:txXfrm>
        <a:off x="64425" y="1631907"/>
        <a:ext cx="6874927" cy="1190909"/>
      </dsp:txXfrm>
    </dsp:sp>
    <dsp:sp modelId="{EF096092-41BC-428F-A9A3-E50C6E752DC8}">
      <dsp:nvSpPr>
        <dsp:cNvPr id="0" name=""/>
        <dsp:cNvSpPr/>
      </dsp:nvSpPr>
      <dsp:spPr>
        <a:xfrm>
          <a:off x="0" y="2956362"/>
          <a:ext cx="7003777" cy="1319759"/>
        </a:xfrm>
        <a:prstGeom prst="roundRect">
          <a:avLst/>
        </a:prstGeom>
        <a:solidFill>
          <a:schemeClr val="accent2">
            <a:hueOff val="992297"/>
            <a:satOff val="-619"/>
            <a:lumOff val="836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b="0" i="0" kern="1200"/>
            <a:t>It provides insights into the factors that influence the data, such as the impact of economic cycles or seasonal trends.</a:t>
          </a:r>
          <a:endParaRPr lang="en-US" sz="2400" kern="1200"/>
        </a:p>
      </dsp:txBody>
      <dsp:txXfrm>
        <a:off x="64425" y="3020787"/>
        <a:ext cx="6874927" cy="1190909"/>
      </dsp:txXfrm>
    </dsp:sp>
    <dsp:sp modelId="{44E1EC1C-D90E-4B79-A144-58239050F297}">
      <dsp:nvSpPr>
        <dsp:cNvPr id="0" name=""/>
        <dsp:cNvSpPr/>
      </dsp:nvSpPr>
      <dsp:spPr>
        <a:xfrm>
          <a:off x="0" y="4345242"/>
          <a:ext cx="7003777" cy="1319759"/>
        </a:xfrm>
        <a:prstGeom prst="roundRect">
          <a:avLst/>
        </a:prstGeom>
        <a:solidFill>
          <a:schemeClr val="accent2">
            <a:hueOff val="1488446"/>
            <a:satOff val="-929"/>
            <a:lumOff val="1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b="0" i="0" kern="1200"/>
            <a:t>Time series decomposition helps in identifying outliers and unusual events that are part of the irregular component.</a:t>
          </a:r>
          <a:endParaRPr lang="en-US" sz="2400" kern="1200"/>
        </a:p>
      </dsp:txBody>
      <dsp:txXfrm>
        <a:off x="64425" y="4409667"/>
        <a:ext cx="6874927" cy="1190909"/>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17D95D-E6DD-4117-B703-EABA07B2FC14}">
      <dsp:nvSpPr>
        <dsp:cNvPr id="0" name=""/>
        <dsp:cNvSpPr/>
      </dsp:nvSpPr>
      <dsp:spPr>
        <a:xfrm>
          <a:off x="0" y="79242"/>
          <a:ext cx="7003777" cy="28080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b="1" i="0" kern="1200"/>
            <a:t>Additive Decomposition:</a:t>
          </a:r>
          <a:r>
            <a:rPr lang="en-GB" sz="2400" b="0" i="0" kern="1200"/>
            <a:t> In an additive decomposition, the time series is considered as the sum of its components, i.e., Trend + Seasonal + Cyclical + Irregular. This method is suitable when the magnitude of the seasonal and cyclical components does not change with time.</a:t>
          </a:r>
          <a:endParaRPr lang="en-US" sz="2400" kern="1200"/>
        </a:p>
      </dsp:txBody>
      <dsp:txXfrm>
        <a:off x="137075" y="216317"/>
        <a:ext cx="6729627" cy="2533850"/>
      </dsp:txXfrm>
    </dsp:sp>
    <dsp:sp modelId="{F4ECF779-9D86-45FA-9925-6F1FBA580F55}">
      <dsp:nvSpPr>
        <dsp:cNvPr id="0" name=""/>
        <dsp:cNvSpPr/>
      </dsp:nvSpPr>
      <dsp:spPr>
        <a:xfrm>
          <a:off x="0" y="2956362"/>
          <a:ext cx="7003777" cy="2808000"/>
        </a:xfrm>
        <a:prstGeom prst="roundRect">
          <a:avLst/>
        </a:prstGeom>
        <a:solidFill>
          <a:schemeClr val="accent2">
            <a:hueOff val="1488446"/>
            <a:satOff val="-929"/>
            <a:lumOff val="1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GB" sz="2400" b="1" i="0" kern="1200"/>
            <a:t>Multiplicative Decomposition:</a:t>
          </a:r>
          <a:r>
            <a:rPr lang="en-GB" sz="2400" b="0" i="0" kern="1200"/>
            <a:t> In a multiplicative decomposition, the time series is considered as the product of its components, i.e., Trend x Seasonal x Cyclical x Irregular. This method is more appropriate when the magnitude of the seasonal and cyclical components varies with time.</a:t>
          </a:r>
          <a:endParaRPr lang="en-US" sz="2400" kern="1200"/>
        </a:p>
      </dsp:txBody>
      <dsp:txXfrm>
        <a:off x="137075" y="3093437"/>
        <a:ext cx="6729627" cy="2533850"/>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B08547-72EB-433D-9CE3-192AC09FABD6}">
      <dsp:nvSpPr>
        <dsp:cNvPr id="0" name=""/>
        <dsp:cNvSpPr/>
      </dsp:nvSpPr>
      <dsp:spPr>
        <a:xfrm>
          <a:off x="0" y="713"/>
          <a:ext cx="7003777"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5B1034-DD06-4BCB-96CA-E2635205F719}">
      <dsp:nvSpPr>
        <dsp:cNvPr id="0" name=""/>
        <dsp:cNvSpPr/>
      </dsp:nvSpPr>
      <dsp:spPr>
        <a:xfrm>
          <a:off x="0" y="713"/>
          <a:ext cx="7003777" cy="11684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b="0" i="0" kern="1200"/>
            <a:t>Collect the time series data.</a:t>
          </a:r>
          <a:endParaRPr lang="en-US" sz="1800" kern="1200"/>
        </a:p>
      </dsp:txBody>
      <dsp:txXfrm>
        <a:off x="0" y="713"/>
        <a:ext cx="7003777" cy="1168435"/>
      </dsp:txXfrm>
    </dsp:sp>
    <dsp:sp modelId="{7B655270-4D99-405F-9ADE-1DF106F86A5F}">
      <dsp:nvSpPr>
        <dsp:cNvPr id="0" name=""/>
        <dsp:cNvSpPr/>
      </dsp:nvSpPr>
      <dsp:spPr>
        <a:xfrm>
          <a:off x="0" y="1169148"/>
          <a:ext cx="7003777" cy="0"/>
        </a:xfrm>
        <a:prstGeom prst="line">
          <a:avLst/>
        </a:prstGeom>
        <a:solidFill>
          <a:schemeClr val="accent2">
            <a:hueOff val="372112"/>
            <a:satOff val="-232"/>
            <a:lumOff val="3136"/>
            <a:alphaOff val="0"/>
          </a:schemeClr>
        </a:solidFill>
        <a:ln w="12700" cap="flat" cmpd="sng" algn="ctr">
          <a:solidFill>
            <a:schemeClr val="accent2">
              <a:hueOff val="372112"/>
              <a:satOff val="-232"/>
              <a:lumOff val="313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0DFF57-F0A3-4553-874A-963C57E4D485}">
      <dsp:nvSpPr>
        <dsp:cNvPr id="0" name=""/>
        <dsp:cNvSpPr/>
      </dsp:nvSpPr>
      <dsp:spPr>
        <a:xfrm>
          <a:off x="0" y="1169148"/>
          <a:ext cx="7003777" cy="11684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b="0" i="0" kern="1200"/>
            <a:t>Choose between additive and multiplicative decomposition based on the characteristics of the data.</a:t>
          </a:r>
          <a:endParaRPr lang="en-US" sz="1800" kern="1200"/>
        </a:p>
      </dsp:txBody>
      <dsp:txXfrm>
        <a:off x="0" y="1169148"/>
        <a:ext cx="7003777" cy="1168435"/>
      </dsp:txXfrm>
    </dsp:sp>
    <dsp:sp modelId="{7EC6046B-5CD4-457E-BFD9-6580DC3E1C86}">
      <dsp:nvSpPr>
        <dsp:cNvPr id="0" name=""/>
        <dsp:cNvSpPr/>
      </dsp:nvSpPr>
      <dsp:spPr>
        <a:xfrm>
          <a:off x="0" y="2337584"/>
          <a:ext cx="7003777" cy="0"/>
        </a:xfrm>
        <a:prstGeom prst="line">
          <a:avLst/>
        </a:prstGeom>
        <a:solidFill>
          <a:schemeClr val="accent2">
            <a:hueOff val="744223"/>
            <a:satOff val="-464"/>
            <a:lumOff val="6273"/>
            <a:alphaOff val="0"/>
          </a:schemeClr>
        </a:solidFill>
        <a:ln w="12700" cap="flat" cmpd="sng" algn="ctr">
          <a:solidFill>
            <a:schemeClr val="accent2">
              <a:hueOff val="744223"/>
              <a:satOff val="-464"/>
              <a:lumOff val="627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64F2DDC-F44E-484E-95A4-4B9086A6D9BE}">
      <dsp:nvSpPr>
        <dsp:cNvPr id="0" name=""/>
        <dsp:cNvSpPr/>
      </dsp:nvSpPr>
      <dsp:spPr>
        <a:xfrm>
          <a:off x="0" y="2337584"/>
          <a:ext cx="7003777" cy="11684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b="0" i="0" kern="1200"/>
            <a:t>Decompose the time series using appropriate methods or software tools.</a:t>
          </a:r>
          <a:endParaRPr lang="en-US" sz="1800" kern="1200"/>
        </a:p>
      </dsp:txBody>
      <dsp:txXfrm>
        <a:off x="0" y="2337584"/>
        <a:ext cx="7003777" cy="1168435"/>
      </dsp:txXfrm>
    </dsp:sp>
    <dsp:sp modelId="{FDC9F75F-ACEB-4B97-8C3B-928B4E580E07}">
      <dsp:nvSpPr>
        <dsp:cNvPr id="0" name=""/>
        <dsp:cNvSpPr/>
      </dsp:nvSpPr>
      <dsp:spPr>
        <a:xfrm>
          <a:off x="0" y="3506020"/>
          <a:ext cx="7003777" cy="0"/>
        </a:xfrm>
        <a:prstGeom prst="line">
          <a:avLst/>
        </a:prstGeom>
        <a:solidFill>
          <a:schemeClr val="accent2">
            <a:hueOff val="1116335"/>
            <a:satOff val="-697"/>
            <a:lumOff val="9409"/>
            <a:alphaOff val="0"/>
          </a:schemeClr>
        </a:solidFill>
        <a:ln w="12700" cap="flat" cmpd="sng" algn="ctr">
          <a:solidFill>
            <a:schemeClr val="accent2">
              <a:hueOff val="1116335"/>
              <a:satOff val="-697"/>
              <a:lumOff val="94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16758B-36D0-4D00-88C3-E07D9ADDBA21}">
      <dsp:nvSpPr>
        <dsp:cNvPr id="0" name=""/>
        <dsp:cNvSpPr/>
      </dsp:nvSpPr>
      <dsp:spPr>
        <a:xfrm>
          <a:off x="0" y="3506020"/>
          <a:ext cx="7003777" cy="11684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b="0" i="0" kern="1200"/>
            <a:t>Analyze and interpret the resulting components to gain insights into the data.</a:t>
          </a:r>
          <a:endParaRPr lang="en-US" sz="1800" kern="1200"/>
        </a:p>
      </dsp:txBody>
      <dsp:txXfrm>
        <a:off x="0" y="3506020"/>
        <a:ext cx="7003777" cy="1168435"/>
      </dsp:txXfrm>
    </dsp:sp>
    <dsp:sp modelId="{D7EFC3C6-06BC-4340-93E9-B15295BC276D}">
      <dsp:nvSpPr>
        <dsp:cNvPr id="0" name=""/>
        <dsp:cNvSpPr/>
      </dsp:nvSpPr>
      <dsp:spPr>
        <a:xfrm>
          <a:off x="0" y="4674456"/>
          <a:ext cx="7003777" cy="0"/>
        </a:xfrm>
        <a:prstGeom prst="line">
          <a:avLst/>
        </a:prstGeom>
        <a:solidFill>
          <a:schemeClr val="accent2">
            <a:hueOff val="1488446"/>
            <a:satOff val="-929"/>
            <a:lumOff val="12546"/>
            <a:alphaOff val="0"/>
          </a:schemeClr>
        </a:solidFill>
        <a:ln w="12700" cap="flat" cmpd="sng" algn="ctr">
          <a:solidFill>
            <a:schemeClr val="accent2">
              <a:hueOff val="1488446"/>
              <a:satOff val="-929"/>
              <a:lumOff val="1254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434E615-48DA-4DE7-BBF0-43266A326EEA}">
      <dsp:nvSpPr>
        <dsp:cNvPr id="0" name=""/>
        <dsp:cNvSpPr/>
      </dsp:nvSpPr>
      <dsp:spPr>
        <a:xfrm>
          <a:off x="0" y="4674456"/>
          <a:ext cx="7003777" cy="11684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b="0" i="0" kern="1200"/>
            <a:t>Time series decomposition is a valuable technique in time series analysis, as it allows analysts and data scientists to better understand and model complex time series data, leading to improved forecasting and decision-making.</a:t>
          </a:r>
          <a:endParaRPr lang="en-US" sz="1800" kern="1200"/>
        </a:p>
      </dsp:txBody>
      <dsp:txXfrm>
        <a:off x="0" y="4674456"/>
        <a:ext cx="7003777" cy="116843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6908CE-E118-4D53-A081-09625B30528C}" type="datetimeFigureOut">
              <a:rPr lang="en-IE" smtClean="0"/>
              <a:t>14/04/2025</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0565E5-A7F2-4A91-AE3E-EC12E9783563}" type="slidenum">
              <a:rPr lang="en-IE" smtClean="0"/>
              <a:t>‹#›</a:t>
            </a:fld>
            <a:endParaRPr lang="en-IE"/>
          </a:p>
        </p:txBody>
      </p:sp>
    </p:spTree>
    <p:extLst>
      <p:ext uri="{BB962C8B-B14F-4D97-AF65-F5344CB8AC3E}">
        <p14:creationId xmlns:p14="http://schemas.microsoft.com/office/powerpoint/2010/main" val="3855233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GB" b="1" dirty="0"/>
              <a:t>📌 Why is Time Series Analysis Important?</a:t>
            </a:r>
          </a:p>
          <a:p>
            <a:pPr>
              <a:buNone/>
            </a:pPr>
            <a:r>
              <a:rPr lang="en-GB" dirty="0"/>
              <a:t>Time Series Analysis is crucial across industries because it:</a:t>
            </a:r>
          </a:p>
          <a:p>
            <a:pPr>
              <a:buFont typeface="Arial" panose="020B0604020202020204" pitchFamily="34" charset="0"/>
              <a:buChar char="•"/>
            </a:pPr>
            <a:r>
              <a:rPr lang="en-GB" b="1" dirty="0"/>
              <a:t>Provides insights</a:t>
            </a:r>
            <a:r>
              <a:rPr lang="en-GB" dirty="0"/>
              <a:t> from historical data.</a:t>
            </a:r>
          </a:p>
          <a:p>
            <a:pPr>
              <a:buFont typeface="Arial" panose="020B0604020202020204" pitchFamily="34" charset="0"/>
              <a:buChar char="•"/>
            </a:pPr>
            <a:r>
              <a:rPr lang="en-GB" b="1" dirty="0"/>
              <a:t>Supports data-driven decision-making</a:t>
            </a:r>
            <a:r>
              <a:rPr lang="en-GB" dirty="0"/>
              <a:t>.</a:t>
            </a:r>
          </a:p>
          <a:p>
            <a:pPr>
              <a:buNone/>
            </a:pPr>
            <a:r>
              <a:rPr lang="en-GB" b="1" dirty="0"/>
              <a:t>🔍 Key Reasons for Its Importance:</a:t>
            </a:r>
          </a:p>
          <a:p>
            <a:pPr>
              <a:buFont typeface="+mj-lt"/>
              <a:buAutoNum type="arabicPeriod"/>
            </a:pPr>
            <a:r>
              <a:rPr lang="en-GB" b="1" dirty="0"/>
              <a:t>Understanding Trends and Patterns</a:t>
            </a:r>
            <a:endParaRPr lang="en-GB" dirty="0"/>
          </a:p>
          <a:p>
            <a:pPr marL="742950" lvl="1" indent="-285750">
              <a:buFont typeface="+mj-lt"/>
              <a:buAutoNum type="arabicPeriod"/>
            </a:pPr>
            <a:r>
              <a:rPr lang="en-GB" dirty="0"/>
              <a:t>Helps identify how data evolves over time.</a:t>
            </a:r>
          </a:p>
          <a:p>
            <a:pPr marL="742950" lvl="1" indent="-285750">
              <a:buFont typeface="+mj-lt"/>
              <a:buAutoNum type="arabicPeriod"/>
            </a:pPr>
            <a:r>
              <a:rPr lang="en-GB" dirty="0"/>
              <a:t>Supports strategic planning and operational decisions.</a:t>
            </a:r>
          </a:p>
          <a:p>
            <a:pPr marL="742950" lvl="1" indent="-285750">
              <a:buFont typeface="+mj-lt"/>
              <a:buAutoNum type="arabicPeriod"/>
            </a:pPr>
            <a:r>
              <a:rPr lang="en-GB" dirty="0"/>
              <a:t>Example: Recognizing seasonal peaks in sales or long-term growth in revenue.</a:t>
            </a:r>
          </a:p>
          <a:p>
            <a:pPr>
              <a:buFont typeface="+mj-lt"/>
              <a:buAutoNum type="arabicPeriod"/>
            </a:pPr>
            <a:r>
              <a:rPr lang="en-GB" b="1" dirty="0"/>
              <a:t>Forecasting Future Values</a:t>
            </a:r>
            <a:endParaRPr lang="en-GB" dirty="0"/>
          </a:p>
          <a:p>
            <a:pPr marL="742950" lvl="1" indent="-285750">
              <a:buFont typeface="+mj-lt"/>
              <a:buAutoNum type="arabicPeriod"/>
            </a:pPr>
            <a:r>
              <a:rPr lang="en-GB" dirty="0"/>
              <a:t>Allows prediction of future outcomes based on past data.</a:t>
            </a:r>
          </a:p>
          <a:p>
            <a:pPr marL="742950" lvl="1" indent="-285750">
              <a:buFont typeface="+mj-lt"/>
              <a:buAutoNum type="arabicPeriod"/>
            </a:pPr>
            <a:r>
              <a:rPr lang="en-GB" dirty="0"/>
              <a:t>Applications:</a:t>
            </a:r>
          </a:p>
          <a:p>
            <a:pPr marL="1143000" lvl="2" indent="-228600">
              <a:buFont typeface="+mj-lt"/>
              <a:buAutoNum type="arabicPeriod"/>
            </a:pPr>
            <a:r>
              <a:rPr lang="en-GB" dirty="0"/>
              <a:t>Financial forecasting (e.g., stock prices)</a:t>
            </a:r>
          </a:p>
          <a:p>
            <a:pPr marL="1143000" lvl="2" indent="-228600">
              <a:buFont typeface="+mj-lt"/>
              <a:buAutoNum type="arabicPeriod"/>
            </a:pPr>
            <a:r>
              <a:rPr lang="en-GB" dirty="0"/>
              <a:t>Sales and demand predictions</a:t>
            </a:r>
          </a:p>
          <a:p>
            <a:pPr marL="1143000" lvl="2" indent="-228600">
              <a:buFont typeface="+mj-lt"/>
              <a:buAutoNum type="arabicPeriod"/>
            </a:pPr>
            <a:r>
              <a:rPr lang="en-GB" dirty="0"/>
              <a:t>Resource planning and inventory control</a:t>
            </a:r>
          </a:p>
          <a:p>
            <a:endParaRPr lang="en-IE" dirty="0"/>
          </a:p>
        </p:txBody>
      </p:sp>
      <p:sp>
        <p:nvSpPr>
          <p:cNvPr id="4" name="Slide Number Placeholder 3"/>
          <p:cNvSpPr>
            <a:spLocks noGrp="1"/>
          </p:cNvSpPr>
          <p:nvPr>
            <p:ph type="sldNum" sz="quarter" idx="5"/>
          </p:nvPr>
        </p:nvSpPr>
        <p:spPr/>
        <p:txBody>
          <a:bodyPr/>
          <a:lstStyle/>
          <a:p>
            <a:fld id="{100565E5-A7F2-4A91-AE3E-EC12E9783563}" type="slidenum">
              <a:rPr lang="en-IE" smtClean="0"/>
              <a:t>10</a:t>
            </a:fld>
            <a:endParaRPr lang="en-IE"/>
          </a:p>
        </p:txBody>
      </p:sp>
    </p:spTree>
    <p:extLst>
      <p:ext uri="{BB962C8B-B14F-4D97-AF65-F5344CB8AC3E}">
        <p14:creationId xmlns:p14="http://schemas.microsoft.com/office/powerpoint/2010/main" val="9881912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GB" b="1" dirty="0"/>
              <a:t>🔄 Recognizing Patterns for Better Strategy</a:t>
            </a:r>
          </a:p>
          <a:p>
            <a:pPr>
              <a:buFont typeface="+mj-lt"/>
              <a:buAutoNum type="arabicPeriod"/>
            </a:pPr>
            <a:r>
              <a:rPr lang="en-GB" b="1" dirty="0"/>
              <a:t>Seasonal and Cyclical Patterns</a:t>
            </a:r>
            <a:endParaRPr lang="en-GB" dirty="0"/>
          </a:p>
          <a:p>
            <a:pPr marL="742950" lvl="1" indent="-285750">
              <a:buFont typeface="+mj-lt"/>
              <a:buAutoNum type="arabicPeriod"/>
            </a:pPr>
            <a:r>
              <a:rPr lang="en-GB" dirty="0"/>
              <a:t>Many datasets follow </a:t>
            </a:r>
            <a:r>
              <a:rPr lang="en-GB" b="1" dirty="0"/>
              <a:t>seasonal</a:t>
            </a:r>
            <a:r>
              <a:rPr lang="en-GB" dirty="0"/>
              <a:t> (e.g., holidays, weather) or </a:t>
            </a:r>
            <a:r>
              <a:rPr lang="en-GB" b="1" dirty="0"/>
              <a:t>cyclical</a:t>
            </a:r>
            <a:r>
              <a:rPr lang="en-GB" dirty="0"/>
              <a:t> (e.g., economic cycles) trends.</a:t>
            </a:r>
          </a:p>
          <a:p>
            <a:pPr marL="742950" lvl="1" indent="-285750">
              <a:buFont typeface="+mj-lt"/>
              <a:buAutoNum type="arabicPeriod"/>
            </a:pPr>
            <a:r>
              <a:rPr lang="en-GB" dirty="0"/>
              <a:t>Recognizing these recurring patterns helps businesses:</a:t>
            </a:r>
          </a:p>
          <a:p>
            <a:pPr marL="1143000" lvl="2" indent="-228600">
              <a:buFont typeface="+mj-lt"/>
              <a:buAutoNum type="arabicPeriod"/>
            </a:pPr>
            <a:r>
              <a:rPr lang="en-GB" dirty="0"/>
              <a:t>Prepare for peak demand periods.</a:t>
            </a:r>
          </a:p>
          <a:p>
            <a:pPr marL="1143000" lvl="2" indent="-228600">
              <a:buFont typeface="+mj-lt"/>
              <a:buAutoNum type="arabicPeriod"/>
            </a:pPr>
            <a:r>
              <a:rPr lang="en-GB" dirty="0"/>
              <a:t>Adjust strategies in response to market cycles.</a:t>
            </a:r>
          </a:p>
          <a:p>
            <a:pPr marL="742950" lvl="1" indent="-285750">
              <a:buFont typeface="+mj-lt"/>
              <a:buAutoNum type="arabicPeriod"/>
            </a:pPr>
            <a:r>
              <a:rPr lang="en-GB" dirty="0"/>
              <a:t>📌 </a:t>
            </a:r>
            <a:r>
              <a:rPr lang="en-GB" i="1" dirty="0"/>
              <a:t>Example</a:t>
            </a:r>
            <a:r>
              <a:rPr lang="en-GB" dirty="0"/>
              <a:t>: Retailers planning stock around Black Friday or tourism boards budgeting based on peak/off-peak seasons.</a:t>
            </a:r>
          </a:p>
          <a:p>
            <a:pPr>
              <a:buFont typeface="+mj-lt"/>
              <a:buAutoNum type="arabicPeriod"/>
            </a:pPr>
            <a:r>
              <a:rPr lang="en-GB" b="1" dirty="0"/>
              <a:t>Resource Allocation</a:t>
            </a:r>
            <a:endParaRPr lang="en-GB" dirty="0"/>
          </a:p>
          <a:p>
            <a:pPr marL="742950" lvl="1" indent="-285750">
              <a:buFont typeface="+mj-lt"/>
              <a:buAutoNum type="arabicPeriod"/>
            </a:pPr>
            <a:r>
              <a:rPr lang="en-GB" dirty="0"/>
              <a:t>Time series insights allow organizations to:</a:t>
            </a:r>
          </a:p>
          <a:p>
            <a:pPr marL="1143000" lvl="2" indent="-228600">
              <a:buFont typeface="+mj-lt"/>
              <a:buAutoNum type="arabicPeriod"/>
            </a:pPr>
            <a:r>
              <a:rPr lang="en-GB" b="1" dirty="0"/>
              <a:t>Optimize inventory</a:t>
            </a:r>
            <a:r>
              <a:rPr lang="en-GB" dirty="0"/>
              <a:t> and staffing.</a:t>
            </a:r>
          </a:p>
          <a:p>
            <a:pPr marL="1143000" lvl="2" indent="-228600">
              <a:buFont typeface="+mj-lt"/>
              <a:buAutoNum type="arabicPeriod"/>
            </a:pPr>
            <a:r>
              <a:rPr lang="en-GB" b="1" dirty="0"/>
              <a:t>Reduce costs</a:t>
            </a:r>
            <a:r>
              <a:rPr lang="en-GB" dirty="0"/>
              <a:t> by aligning resources with predicted demand.</a:t>
            </a:r>
          </a:p>
          <a:p>
            <a:pPr marL="742950" lvl="1" indent="-285750">
              <a:buFont typeface="+mj-lt"/>
              <a:buAutoNum type="arabicPeriod"/>
            </a:pPr>
            <a:r>
              <a:rPr lang="en-GB" dirty="0"/>
              <a:t>📌 </a:t>
            </a:r>
            <a:r>
              <a:rPr lang="en-GB" i="1" dirty="0"/>
              <a:t>Example</a:t>
            </a:r>
            <a:r>
              <a:rPr lang="en-GB" dirty="0"/>
              <a:t>: Forecasting demand to manage warehouse stock levels efficiently.</a:t>
            </a:r>
          </a:p>
          <a:p>
            <a:endParaRPr lang="en-IE" dirty="0"/>
          </a:p>
        </p:txBody>
      </p:sp>
      <p:sp>
        <p:nvSpPr>
          <p:cNvPr id="4" name="Slide Number Placeholder 3"/>
          <p:cNvSpPr>
            <a:spLocks noGrp="1"/>
          </p:cNvSpPr>
          <p:nvPr>
            <p:ph type="sldNum" sz="quarter" idx="5"/>
          </p:nvPr>
        </p:nvSpPr>
        <p:spPr/>
        <p:txBody>
          <a:bodyPr/>
          <a:lstStyle/>
          <a:p>
            <a:fld id="{100565E5-A7F2-4A91-AE3E-EC12E9783563}" type="slidenum">
              <a:rPr lang="en-IE" smtClean="0"/>
              <a:t>11</a:t>
            </a:fld>
            <a:endParaRPr lang="en-IE"/>
          </a:p>
        </p:txBody>
      </p:sp>
    </p:spTree>
    <p:extLst>
      <p:ext uri="{BB962C8B-B14F-4D97-AF65-F5344CB8AC3E}">
        <p14:creationId xmlns:p14="http://schemas.microsoft.com/office/powerpoint/2010/main" val="22340111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IE" b="1" dirty="0"/>
              <a:t>🕒 Significance of Time Series Analysis (Continued)</a:t>
            </a:r>
          </a:p>
          <a:p>
            <a:pPr>
              <a:buNone/>
            </a:pPr>
            <a:r>
              <a:rPr lang="en-IE" b="1" dirty="0"/>
              <a:t>🔎 Enhancing Security &amp; Managing Financial Risk</a:t>
            </a:r>
          </a:p>
          <a:p>
            <a:pPr>
              <a:buFont typeface="+mj-lt"/>
              <a:buAutoNum type="arabicPeriod"/>
            </a:pPr>
            <a:r>
              <a:rPr lang="en-IE" b="1" dirty="0"/>
              <a:t>Anomaly Detection</a:t>
            </a:r>
            <a:endParaRPr lang="en-IE" dirty="0"/>
          </a:p>
          <a:p>
            <a:pPr marL="742950" lvl="1" indent="-285750">
              <a:buFont typeface="+mj-lt"/>
              <a:buAutoNum type="arabicPeriod"/>
            </a:pPr>
            <a:r>
              <a:rPr lang="en-IE" dirty="0"/>
              <a:t>Time series analysis helps identify </a:t>
            </a:r>
            <a:r>
              <a:rPr lang="en-IE" b="1" dirty="0"/>
              <a:t>unusual or unexpected patterns</a:t>
            </a:r>
            <a:r>
              <a:rPr lang="en-IE" dirty="0"/>
              <a:t> (outliers).</a:t>
            </a:r>
          </a:p>
          <a:p>
            <a:pPr marL="742950" lvl="1" indent="-285750">
              <a:buFont typeface="+mj-lt"/>
              <a:buAutoNum type="arabicPeriod"/>
            </a:pPr>
            <a:r>
              <a:rPr lang="en-IE" dirty="0"/>
              <a:t>Important for:</a:t>
            </a:r>
          </a:p>
          <a:p>
            <a:pPr marL="1143000" lvl="2" indent="-228600">
              <a:buFont typeface="+mj-lt"/>
              <a:buAutoNum type="arabicPeriod"/>
            </a:pPr>
            <a:r>
              <a:rPr lang="en-IE" b="1" dirty="0"/>
              <a:t>Fraud detection</a:t>
            </a:r>
            <a:endParaRPr lang="en-IE" dirty="0"/>
          </a:p>
          <a:p>
            <a:pPr marL="1143000" lvl="2" indent="-228600">
              <a:buFont typeface="+mj-lt"/>
              <a:buAutoNum type="arabicPeriod"/>
            </a:pPr>
            <a:r>
              <a:rPr lang="en-IE" b="1" dirty="0"/>
              <a:t>Cybersecurity</a:t>
            </a:r>
            <a:endParaRPr lang="en-IE" dirty="0"/>
          </a:p>
          <a:p>
            <a:pPr marL="1143000" lvl="2" indent="-228600">
              <a:buFont typeface="+mj-lt"/>
              <a:buAutoNum type="arabicPeriod"/>
            </a:pPr>
            <a:r>
              <a:rPr lang="en-IE" b="1" dirty="0"/>
              <a:t>System faults and error monitoring</a:t>
            </a:r>
            <a:endParaRPr lang="en-IE" dirty="0"/>
          </a:p>
          <a:p>
            <a:pPr marL="742950" lvl="1" indent="-285750">
              <a:buFont typeface="+mj-lt"/>
              <a:buAutoNum type="arabicPeriod"/>
            </a:pPr>
            <a:r>
              <a:rPr lang="en-IE" dirty="0"/>
              <a:t>📌 </a:t>
            </a:r>
            <a:r>
              <a:rPr lang="en-IE" i="1" dirty="0"/>
              <a:t>Example</a:t>
            </a:r>
            <a:r>
              <a:rPr lang="en-IE" dirty="0"/>
              <a:t>: Spotting a sudden spike in network traffic that could indicate a cyberattack.</a:t>
            </a:r>
          </a:p>
          <a:p>
            <a:pPr>
              <a:buFont typeface="+mj-lt"/>
              <a:buAutoNum type="arabicPeriod"/>
            </a:pPr>
            <a:r>
              <a:rPr lang="en-IE" b="1" dirty="0"/>
              <a:t>Risk Management</a:t>
            </a:r>
            <a:endParaRPr lang="en-IE" dirty="0"/>
          </a:p>
          <a:p>
            <a:pPr marL="742950" lvl="1" indent="-285750">
              <a:buFont typeface="+mj-lt"/>
              <a:buAutoNum type="arabicPeriod"/>
            </a:pPr>
            <a:r>
              <a:rPr lang="en-IE" dirty="0"/>
              <a:t>Particularly relevant in </a:t>
            </a:r>
            <a:r>
              <a:rPr lang="en-IE" b="1" dirty="0"/>
              <a:t>finance and investment</a:t>
            </a:r>
            <a:r>
              <a:rPr lang="en-IE" dirty="0"/>
              <a:t>.</a:t>
            </a:r>
          </a:p>
          <a:p>
            <a:pPr marL="742950" lvl="1" indent="-285750">
              <a:buFont typeface="+mj-lt"/>
              <a:buAutoNum type="arabicPeriod"/>
            </a:pPr>
            <a:r>
              <a:rPr lang="en-IE" dirty="0" err="1"/>
              <a:t>Analyzing</a:t>
            </a:r>
            <a:r>
              <a:rPr lang="en-IE" dirty="0"/>
              <a:t> historical patterns of asset prices helps:</a:t>
            </a:r>
          </a:p>
          <a:p>
            <a:pPr marL="1143000" lvl="2" indent="-228600">
              <a:buFont typeface="+mj-lt"/>
              <a:buAutoNum type="arabicPeriod"/>
            </a:pPr>
            <a:r>
              <a:rPr lang="en-IE" dirty="0"/>
              <a:t>Forecast potential </a:t>
            </a:r>
            <a:r>
              <a:rPr lang="en-IE" b="1" dirty="0"/>
              <a:t>downturns or crashes</a:t>
            </a:r>
            <a:endParaRPr lang="en-IE" dirty="0"/>
          </a:p>
          <a:p>
            <a:pPr marL="1143000" lvl="2" indent="-228600">
              <a:buFont typeface="+mj-lt"/>
              <a:buAutoNum type="arabicPeriod"/>
            </a:pPr>
            <a:r>
              <a:rPr lang="en-IE" dirty="0"/>
              <a:t>Manage </a:t>
            </a:r>
            <a:r>
              <a:rPr lang="en-IE" b="1" dirty="0"/>
              <a:t>portfolio risk</a:t>
            </a:r>
            <a:endParaRPr lang="en-IE" dirty="0"/>
          </a:p>
          <a:p>
            <a:pPr marL="742950" lvl="1" indent="-285750">
              <a:buFont typeface="+mj-lt"/>
              <a:buAutoNum type="arabicPeriod"/>
            </a:pPr>
            <a:r>
              <a:rPr lang="en-IE" dirty="0"/>
              <a:t>📌 </a:t>
            </a:r>
            <a:r>
              <a:rPr lang="en-IE" i="1" dirty="0"/>
              <a:t>Example</a:t>
            </a:r>
            <a:r>
              <a:rPr lang="en-IE" dirty="0"/>
              <a:t>: Using time series data to anticipate market volatility or recession indicators.</a:t>
            </a:r>
          </a:p>
          <a:p>
            <a:endParaRPr lang="en-IE" dirty="0"/>
          </a:p>
        </p:txBody>
      </p:sp>
      <p:sp>
        <p:nvSpPr>
          <p:cNvPr id="4" name="Slide Number Placeholder 3"/>
          <p:cNvSpPr>
            <a:spLocks noGrp="1"/>
          </p:cNvSpPr>
          <p:nvPr>
            <p:ph type="sldNum" sz="quarter" idx="5"/>
          </p:nvPr>
        </p:nvSpPr>
        <p:spPr/>
        <p:txBody>
          <a:bodyPr/>
          <a:lstStyle/>
          <a:p>
            <a:fld id="{100565E5-A7F2-4A91-AE3E-EC12E9783563}" type="slidenum">
              <a:rPr lang="en-IE" smtClean="0"/>
              <a:t>12</a:t>
            </a:fld>
            <a:endParaRPr lang="en-IE"/>
          </a:p>
        </p:txBody>
      </p:sp>
    </p:spTree>
    <p:extLst>
      <p:ext uri="{BB962C8B-B14F-4D97-AF65-F5344CB8AC3E}">
        <p14:creationId xmlns:p14="http://schemas.microsoft.com/office/powerpoint/2010/main" val="40466237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GB" b="1" dirty="0"/>
              <a:t>Significance of Time Series Analysis (Final Points)</a:t>
            </a:r>
          </a:p>
          <a:p>
            <a:pPr>
              <a:buNone/>
            </a:pPr>
            <a:r>
              <a:rPr lang="en-GB" b="1" dirty="0"/>
              <a:t>🏛️ Supporting Policy &amp; Improving Efficiency</a:t>
            </a:r>
          </a:p>
          <a:p>
            <a:pPr>
              <a:buFont typeface="+mj-lt"/>
              <a:buAutoNum type="arabicPeriod"/>
            </a:pPr>
            <a:r>
              <a:rPr lang="en-GB" b="1" dirty="0"/>
              <a:t>Policy and Strategy Making</a:t>
            </a:r>
            <a:endParaRPr lang="en-GB" dirty="0"/>
          </a:p>
          <a:p>
            <a:pPr marL="742950" lvl="1" indent="-285750">
              <a:buFont typeface="+mj-lt"/>
              <a:buAutoNum type="arabicPeriod"/>
            </a:pPr>
            <a:r>
              <a:rPr lang="en-GB" dirty="0"/>
              <a:t>Time series analysis aids </a:t>
            </a:r>
            <a:r>
              <a:rPr lang="en-GB" b="1" dirty="0"/>
              <a:t>governments and policymakers</a:t>
            </a:r>
            <a:r>
              <a:rPr lang="en-GB" dirty="0"/>
              <a:t> in:</a:t>
            </a:r>
          </a:p>
          <a:p>
            <a:pPr marL="1143000" lvl="2" indent="-228600">
              <a:buFont typeface="+mj-lt"/>
              <a:buAutoNum type="arabicPeriod"/>
            </a:pPr>
            <a:r>
              <a:rPr lang="en-GB" dirty="0"/>
              <a:t>Shaping public policy based on long-term data trends.</a:t>
            </a:r>
          </a:p>
          <a:p>
            <a:pPr marL="1143000" lvl="2" indent="-228600">
              <a:buFont typeface="+mj-lt"/>
              <a:buAutoNum type="arabicPeriod"/>
            </a:pPr>
            <a:r>
              <a:rPr lang="en-GB" dirty="0"/>
              <a:t>Responding proactively to emerging issues.</a:t>
            </a:r>
          </a:p>
          <a:p>
            <a:pPr marL="742950" lvl="1" indent="-285750">
              <a:buFont typeface="+mj-lt"/>
              <a:buAutoNum type="arabicPeriod"/>
            </a:pPr>
            <a:r>
              <a:rPr lang="en-GB" dirty="0"/>
              <a:t>📌 </a:t>
            </a:r>
            <a:r>
              <a:rPr lang="en-GB" i="1" dirty="0"/>
              <a:t>Example</a:t>
            </a:r>
            <a:r>
              <a:rPr lang="en-GB" dirty="0"/>
              <a:t>: Using historical health data to plan vaccination campaigns or hospital capacity.</a:t>
            </a:r>
          </a:p>
          <a:p>
            <a:pPr>
              <a:buFont typeface="+mj-lt"/>
              <a:buAutoNum type="arabicPeriod"/>
            </a:pPr>
            <a:r>
              <a:rPr lang="en-GB" b="1" dirty="0"/>
              <a:t>Optimisation</a:t>
            </a:r>
            <a:endParaRPr lang="en-GB" dirty="0"/>
          </a:p>
          <a:p>
            <a:pPr marL="742950" lvl="1" indent="-285750">
              <a:buFont typeface="+mj-lt"/>
              <a:buAutoNum type="arabicPeriod"/>
            </a:pPr>
            <a:r>
              <a:rPr lang="en-GB" dirty="0"/>
              <a:t>Improves </a:t>
            </a:r>
            <a:r>
              <a:rPr lang="en-GB" b="1" dirty="0"/>
              <a:t>operational efficiency</a:t>
            </a:r>
            <a:r>
              <a:rPr lang="en-GB" dirty="0"/>
              <a:t> by refining resource usage and process flow.</a:t>
            </a:r>
          </a:p>
          <a:p>
            <a:pPr marL="742950" lvl="1" indent="-285750">
              <a:buFont typeface="+mj-lt"/>
              <a:buAutoNum type="arabicPeriod"/>
            </a:pPr>
            <a:r>
              <a:rPr lang="en-GB" dirty="0"/>
              <a:t>Applications:</a:t>
            </a:r>
          </a:p>
          <a:p>
            <a:pPr marL="1143000" lvl="2" indent="-228600">
              <a:buFont typeface="+mj-lt"/>
              <a:buAutoNum type="arabicPeriod"/>
            </a:pPr>
            <a:r>
              <a:rPr lang="en-GB" b="1" dirty="0"/>
              <a:t>Energy consumption</a:t>
            </a:r>
            <a:r>
              <a:rPr lang="en-GB" dirty="0"/>
              <a:t> forecasting.</a:t>
            </a:r>
          </a:p>
          <a:p>
            <a:pPr marL="1143000" lvl="2" indent="-228600">
              <a:buFont typeface="+mj-lt"/>
              <a:buAutoNum type="arabicPeriod"/>
            </a:pPr>
            <a:r>
              <a:rPr lang="en-GB" b="1" dirty="0"/>
              <a:t>Traffic pattern analysis</a:t>
            </a:r>
            <a:r>
              <a:rPr lang="en-GB" dirty="0"/>
              <a:t> for smart cities.</a:t>
            </a:r>
          </a:p>
          <a:p>
            <a:pPr marL="1143000" lvl="2" indent="-228600">
              <a:buFont typeface="+mj-lt"/>
              <a:buAutoNum type="arabicPeriod"/>
            </a:pPr>
            <a:r>
              <a:rPr lang="en-GB" b="1" dirty="0"/>
              <a:t>Supply chain optimization</a:t>
            </a:r>
            <a:r>
              <a:rPr lang="en-GB" dirty="0"/>
              <a:t> to reduce costs and delays.</a:t>
            </a:r>
          </a:p>
          <a:p>
            <a:endParaRPr lang="en-IE" dirty="0"/>
          </a:p>
        </p:txBody>
      </p:sp>
      <p:sp>
        <p:nvSpPr>
          <p:cNvPr id="4" name="Slide Number Placeholder 3"/>
          <p:cNvSpPr>
            <a:spLocks noGrp="1"/>
          </p:cNvSpPr>
          <p:nvPr>
            <p:ph type="sldNum" sz="quarter" idx="5"/>
          </p:nvPr>
        </p:nvSpPr>
        <p:spPr/>
        <p:txBody>
          <a:bodyPr/>
          <a:lstStyle/>
          <a:p>
            <a:fld id="{100565E5-A7F2-4A91-AE3E-EC12E9783563}" type="slidenum">
              <a:rPr lang="en-IE" smtClean="0"/>
              <a:t>13</a:t>
            </a:fld>
            <a:endParaRPr lang="en-IE"/>
          </a:p>
        </p:txBody>
      </p:sp>
    </p:spTree>
    <p:extLst>
      <p:ext uri="{BB962C8B-B14F-4D97-AF65-F5344CB8AC3E}">
        <p14:creationId xmlns:p14="http://schemas.microsoft.com/office/powerpoint/2010/main" val="21148597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GB" b="1" dirty="0"/>
              <a:t>Significance of Time Series Analysis (Final Slide)</a:t>
            </a:r>
          </a:p>
          <a:p>
            <a:pPr>
              <a:buNone/>
            </a:pPr>
            <a:r>
              <a:rPr lang="en-GB" b="1" dirty="0"/>
              <a:t>🔬 Advancing Science &amp; Improving Systems</a:t>
            </a:r>
          </a:p>
          <a:p>
            <a:pPr>
              <a:buFont typeface="+mj-lt"/>
              <a:buAutoNum type="arabicPeriod"/>
            </a:pPr>
            <a:r>
              <a:rPr lang="en-GB" b="1" dirty="0"/>
              <a:t>Scientific Research</a:t>
            </a:r>
            <a:endParaRPr lang="en-GB" dirty="0"/>
          </a:p>
          <a:p>
            <a:pPr marL="742950" lvl="1" indent="-285750">
              <a:buFont typeface="+mj-lt"/>
              <a:buAutoNum type="arabicPeriod"/>
            </a:pPr>
            <a:r>
              <a:rPr lang="en-GB" dirty="0"/>
              <a:t>Time series analysis is critical in scientific disciplines to:</a:t>
            </a:r>
          </a:p>
          <a:p>
            <a:pPr marL="1143000" lvl="2" indent="-228600">
              <a:buFont typeface="+mj-lt"/>
              <a:buAutoNum type="arabicPeriod"/>
            </a:pPr>
            <a:r>
              <a:rPr lang="en-GB" b="1" dirty="0"/>
              <a:t>Identify patterns</a:t>
            </a:r>
            <a:endParaRPr lang="en-GB" dirty="0"/>
          </a:p>
          <a:p>
            <a:pPr marL="1143000" lvl="2" indent="-228600">
              <a:buFont typeface="+mj-lt"/>
              <a:buAutoNum type="arabicPeriod"/>
            </a:pPr>
            <a:r>
              <a:rPr lang="en-GB" b="1" dirty="0"/>
              <a:t>Predict future occurrences</a:t>
            </a:r>
            <a:endParaRPr lang="en-GB" dirty="0"/>
          </a:p>
          <a:p>
            <a:pPr marL="742950" lvl="1" indent="-285750">
              <a:buFont typeface="+mj-lt"/>
              <a:buAutoNum type="arabicPeriod"/>
            </a:pPr>
            <a:r>
              <a:rPr lang="en-GB" dirty="0"/>
              <a:t>Common fields:</a:t>
            </a:r>
          </a:p>
          <a:p>
            <a:pPr marL="1143000" lvl="2" indent="-228600">
              <a:buFont typeface="+mj-lt"/>
              <a:buAutoNum type="arabicPeriod"/>
            </a:pPr>
            <a:r>
              <a:rPr lang="en-GB" b="1" dirty="0"/>
              <a:t>Climatology</a:t>
            </a:r>
            <a:r>
              <a:rPr lang="en-GB" dirty="0"/>
              <a:t> (e.g. global temperature trends)</a:t>
            </a:r>
          </a:p>
          <a:p>
            <a:pPr marL="1143000" lvl="2" indent="-228600">
              <a:buFont typeface="+mj-lt"/>
              <a:buAutoNum type="arabicPeriod"/>
            </a:pPr>
            <a:r>
              <a:rPr lang="en-GB" b="1" dirty="0"/>
              <a:t>Epidemiology</a:t>
            </a:r>
            <a:r>
              <a:rPr lang="en-GB" dirty="0"/>
              <a:t> (e.g. infection rate curves)</a:t>
            </a:r>
          </a:p>
          <a:p>
            <a:pPr marL="1143000" lvl="2" indent="-228600">
              <a:buFont typeface="+mj-lt"/>
              <a:buAutoNum type="arabicPeriod"/>
            </a:pPr>
            <a:r>
              <a:rPr lang="en-GB" b="1" dirty="0"/>
              <a:t>Astrophysics</a:t>
            </a:r>
            <a:r>
              <a:rPr lang="en-GB" dirty="0"/>
              <a:t> (e.g. star brightness over time)</a:t>
            </a:r>
          </a:p>
          <a:p>
            <a:pPr>
              <a:buFont typeface="+mj-lt"/>
              <a:buAutoNum type="arabicPeriod"/>
            </a:pPr>
            <a:r>
              <a:rPr lang="en-GB" b="1" dirty="0"/>
              <a:t>Performance Monitoring</a:t>
            </a:r>
            <a:endParaRPr lang="en-GB" dirty="0"/>
          </a:p>
          <a:p>
            <a:pPr marL="742950" lvl="1" indent="-285750">
              <a:buFont typeface="+mj-lt"/>
              <a:buAutoNum type="arabicPeriod"/>
            </a:pPr>
            <a:r>
              <a:rPr lang="en-GB" dirty="0"/>
              <a:t>Organizations use time series to track and optimize:</a:t>
            </a:r>
          </a:p>
          <a:p>
            <a:pPr marL="1143000" lvl="2" indent="-228600">
              <a:buFont typeface="+mj-lt"/>
              <a:buAutoNum type="arabicPeriod"/>
            </a:pPr>
            <a:r>
              <a:rPr lang="en-GB" b="1" dirty="0"/>
              <a:t>Manufacturing efficiency</a:t>
            </a:r>
            <a:endParaRPr lang="en-GB" dirty="0"/>
          </a:p>
          <a:p>
            <a:pPr marL="1143000" lvl="2" indent="-228600">
              <a:buFont typeface="+mj-lt"/>
              <a:buAutoNum type="arabicPeriod"/>
            </a:pPr>
            <a:r>
              <a:rPr lang="en-GB" b="1" dirty="0"/>
              <a:t>Website traffic and server load</a:t>
            </a:r>
            <a:endParaRPr lang="en-GB" dirty="0"/>
          </a:p>
          <a:p>
            <a:pPr marL="1143000" lvl="2" indent="-228600">
              <a:buFont typeface="+mj-lt"/>
              <a:buAutoNum type="arabicPeriod"/>
            </a:pPr>
            <a:r>
              <a:rPr lang="en-GB" b="1" dirty="0"/>
              <a:t>Process reliability and uptime</a:t>
            </a:r>
            <a:endParaRPr lang="en-GB" dirty="0"/>
          </a:p>
          <a:p>
            <a:pPr marL="742950" lvl="1" indent="-285750">
              <a:buFont typeface="+mj-lt"/>
              <a:buAutoNum type="arabicPeriod"/>
            </a:pPr>
            <a:r>
              <a:rPr lang="en-GB" dirty="0"/>
              <a:t>📌 </a:t>
            </a:r>
            <a:r>
              <a:rPr lang="en-GB" i="1" dirty="0"/>
              <a:t>Example</a:t>
            </a:r>
            <a:r>
              <a:rPr lang="en-GB" dirty="0"/>
              <a:t>: Monitoring CPU usage in cloud services or tracking assembly line output.</a:t>
            </a:r>
          </a:p>
          <a:p>
            <a:endParaRPr lang="en-IE" dirty="0"/>
          </a:p>
        </p:txBody>
      </p:sp>
      <p:sp>
        <p:nvSpPr>
          <p:cNvPr id="4" name="Slide Number Placeholder 3"/>
          <p:cNvSpPr>
            <a:spLocks noGrp="1"/>
          </p:cNvSpPr>
          <p:nvPr>
            <p:ph type="sldNum" sz="quarter" idx="5"/>
          </p:nvPr>
        </p:nvSpPr>
        <p:spPr/>
        <p:txBody>
          <a:bodyPr/>
          <a:lstStyle/>
          <a:p>
            <a:fld id="{100565E5-A7F2-4A91-AE3E-EC12E9783563}" type="slidenum">
              <a:rPr lang="en-IE" smtClean="0"/>
              <a:t>14</a:t>
            </a:fld>
            <a:endParaRPr lang="en-IE"/>
          </a:p>
        </p:txBody>
      </p:sp>
    </p:spTree>
    <p:extLst>
      <p:ext uri="{BB962C8B-B14F-4D97-AF65-F5344CB8AC3E}">
        <p14:creationId xmlns:p14="http://schemas.microsoft.com/office/powerpoint/2010/main" val="4023755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GB" b="1" dirty="0"/>
              <a:t>🧾 Summary Point:</a:t>
            </a:r>
          </a:p>
          <a:p>
            <a:pPr>
              <a:buNone/>
            </a:pPr>
            <a:r>
              <a:rPr lang="en-GB" dirty="0"/>
              <a:t>Time Series Analysis is a </a:t>
            </a:r>
            <a:r>
              <a:rPr lang="en-GB" b="1" dirty="0"/>
              <a:t>core analytical technique</a:t>
            </a:r>
            <a:r>
              <a:rPr lang="en-GB" dirty="0"/>
              <a:t> used to:</a:t>
            </a:r>
          </a:p>
          <a:p>
            <a:pPr>
              <a:buFont typeface="Arial" panose="020B0604020202020204" pitchFamily="34" charset="0"/>
              <a:buChar char="•"/>
            </a:pPr>
            <a:r>
              <a:rPr lang="en-GB" b="1" dirty="0"/>
              <a:t>Understand</a:t>
            </a:r>
            <a:r>
              <a:rPr lang="en-GB" dirty="0"/>
              <a:t> how variables behave over time.</a:t>
            </a:r>
          </a:p>
          <a:p>
            <a:pPr>
              <a:buFont typeface="Arial" panose="020B0604020202020204" pitchFamily="34" charset="0"/>
              <a:buChar char="•"/>
            </a:pPr>
            <a:r>
              <a:rPr lang="en-GB" b="1" dirty="0"/>
              <a:t>Predict</a:t>
            </a:r>
            <a:r>
              <a:rPr lang="en-GB" dirty="0"/>
              <a:t> future outcomes based on past patterns.</a:t>
            </a:r>
          </a:p>
          <a:p>
            <a:pPr>
              <a:buFont typeface="Arial" panose="020B0604020202020204" pitchFamily="34" charset="0"/>
              <a:buChar char="•"/>
            </a:pPr>
            <a:r>
              <a:rPr lang="en-GB" b="1" dirty="0"/>
              <a:t>Optimise</a:t>
            </a:r>
            <a:r>
              <a:rPr lang="en-GB" dirty="0"/>
              <a:t> systems and operations across industries.</a:t>
            </a:r>
          </a:p>
          <a:p>
            <a:pPr>
              <a:buNone/>
            </a:pPr>
            <a:r>
              <a:rPr lang="en-GB" dirty="0"/>
              <a:t>It continues to gain importance as organizations look to:</a:t>
            </a:r>
          </a:p>
          <a:p>
            <a:pPr>
              <a:buFont typeface="Arial" panose="020B0604020202020204" pitchFamily="34" charset="0"/>
              <a:buChar char="•"/>
            </a:pPr>
            <a:r>
              <a:rPr lang="en-GB" dirty="0"/>
              <a:t>Gain a </a:t>
            </a:r>
            <a:r>
              <a:rPr lang="en-GB" b="1" dirty="0"/>
              <a:t>competitive edge</a:t>
            </a:r>
            <a:r>
              <a:rPr lang="en-GB" dirty="0"/>
              <a:t> through predictive analytics.</a:t>
            </a:r>
          </a:p>
          <a:p>
            <a:pPr>
              <a:buFont typeface="Arial" panose="020B0604020202020204" pitchFamily="34" charset="0"/>
              <a:buChar char="•"/>
            </a:pPr>
            <a:r>
              <a:rPr lang="en-GB" dirty="0"/>
              <a:t>Make </a:t>
            </a:r>
            <a:r>
              <a:rPr lang="en-GB" b="1" dirty="0"/>
              <a:t>data-informed decisions</a:t>
            </a:r>
            <a:r>
              <a:rPr lang="en-GB" dirty="0"/>
              <a:t> in complex environments.</a:t>
            </a:r>
          </a:p>
          <a:p>
            <a:endParaRPr lang="en-IE" dirty="0"/>
          </a:p>
        </p:txBody>
      </p:sp>
      <p:sp>
        <p:nvSpPr>
          <p:cNvPr id="4" name="Slide Number Placeholder 3"/>
          <p:cNvSpPr>
            <a:spLocks noGrp="1"/>
          </p:cNvSpPr>
          <p:nvPr>
            <p:ph type="sldNum" sz="quarter" idx="5"/>
          </p:nvPr>
        </p:nvSpPr>
        <p:spPr/>
        <p:txBody>
          <a:bodyPr/>
          <a:lstStyle/>
          <a:p>
            <a:fld id="{100565E5-A7F2-4A91-AE3E-EC12E9783563}" type="slidenum">
              <a:rPr lang="en-IE" smtClean="0"/>
              <a:t>15</a:t>
            </a:fld>
            <a:endParaRPr lang="en-IE"/>
          </a:p>
        </p:txBody>
      </p:sp>
    </p:spTree>
    <p:extLst>
      <p:ext uri="{BB962C8B-B14F-4D97-AF65-F5344CB8AC3E}">
        <p14:creationId xmlns:p14="http://schemas.microsoft.com/office/powerpoint/2010/main" val="20300937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9204-3F29-4C3A-BA41-3063400202C4}"/>
              </a:ext>
            </a:extLst>
          </p:cNvPr>
          <p:cNvSpPr>
            <a:spLocks noGrp="1"/>
          </p:cNvSpPr>
          <p:nvPr>
            <p:ph type="ctrTitle"/>
          </p:nvPr>
        </p:nvSpPr>
        <p:spPr>
          <a:xfrm>
            <a:off x="1524000" y="1122363"/>
            <a:ext cx="9144000" cy="2387600"/>
          </a:xfrm>
        </p:spPr>
        <p:txBody>
          <a:bodyPr anchor="b"/>
          <a:lstStyle>
            <a:lvl1pPr algn="ctr">
              <a:defRPr sz="4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03393CD-7262-4AC7-80E6-52FE6F3F39BA}"/>
              </a:ext>
            </a:extLst>
          </p:cNvPr>
          <p:cNvSpPr>
            <a:spLocks noGrp="1"/>
          </p:cNvSpPr>
          <p:nvPr>
            <p:ph type="subTitle" idx="1"/>
          </p:nvPr>
        </p:nvSpPr>
        <p:spPr>
          <a:xfrm>
            <a:off x="1524000" y="3602038"/>
            <a:ext cx="9144000" cy="1655762"/>
          </a:xfrm>
        </p:spPr>
        <p:txBody>
          <a:bodyPr/>
          <a:lstStyle>
            <a:lvl1pPr marL="0" indent="0" algn="ctr">
              <a:buNone/>
              <a:defRPr sz="20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7D430AE-0210-4E82-AD7B-41B112DE7F7D}"/>
              </a:ext>
            </a:extLst>
          </p:cNvPr>
          <p:cNvSpPr>
            <a:spLocks noGrp="1"/>
          </p:cNvSpPr>
          <p:nvPr>
            <p:ph type="dt" sz="half" idx="10"/>
          </p:nvPr>
        </p:nvSpPr>
        <p:spPr/>
        <p:txBody>
          <a:bodyPr/>
          <a:lstStyle>
            <a:lvl1pPr>
              <a:defRPr>
                <a:solidFill>
                  <a:schemeClr val="tx1">
                    <a:alpha val="60000"/>
                  </a:schemeClr>
                </a:solidFill>
                <a:latin typeface="+mn-lt"/>
              </a:defRPr>
            </a:lvl1pPr>
          </a:lstStyle>
          <a:p>
            <a:fld id="{11A6662E-FAF4-44BC-88B5-85A7CBFB6D30}" type="datetime1">
              <a:rPr lang="en-US" smtClean="0"/>
              <a:pPr/>
              <a:t>4/14/2025</a:t>
            </a:fld>
            <a:endParaRPr lang="en-US" dirty="0"/>
          </a:p>
        </p:txBody>
      </p:sp>
      <p:sp>
        <p:nvSpPr>
          <p:cNvPr id="5" name="Footer Placeholder 4">
            <a:extLst>
              <a:ext uri="{FF2B5EF4-FFF2-40B4-BE49-F238E27FC236}">
                <a16:creationId xmlns:a16="http://schemas.microsoft.com/office/drawing/2014/main" id="{0F221974-7DEC-459D-9642-CB5B59C82771}"/>
              </a:ext>
            </a:extLst>
          </p:cNvPr>
          <p:cNvSpPr>
            <a:spLocks noGrp="1"/>
          </p:cNvSpPr>
          <p:nvPr>
            <p:ph type="ftr" sz="quarter" idx="11"/>
          </p:nvPr>
        </p:nvSpPr>
        <p:spPr/>
        <p:txBody>
          <a:bodyPr/>
          <a:lstStyle>
            <a:lvl1pPr>
              <a:defRPr>
                <a:solidFill>
                  <a:schemeClr val="tx1">
                    <a:alpha val="60000"/>
                  </a:schemeClr>
                </a:solidFill>
                <a:latin typeface="+mn-lt"/>
              </a:defRPr>
            </a:lvl1pPr>
          </a:lstStyle>
          <a:p>
            <a:endParaRPr lang="en-US" dirty="0">
              <a:solidFill>
                <a:schemeClr val="tx1">
                  <a:alpha val="60000"/>
                </a:schemeClr>
              </a:solidFill>
            </a:endParaRPr>
          </a:p>
        </p:txBody>
      </p:sp>
      <p:sp>
        <p:nvSpPr>
          <p:cNvPr id="6" name="Slide Number Placeholder 5">
            <a:extLst>
              <a:ext uri="{FF2B5EF4-FFF2-40B4-BE49-F238E27FC236}">
                <a16:creationId xmlns:a16="http://schemas.microsoft.com/office/drawing/2014/main" id="{60731837-C94E-4B5B-BCF0-110C69EDB41C}"/>
              </a:ext>
            </a:extLst>
          </p:cNvPr>
          <p:cNvSpPr>
            <a:spLocks noGrp="1"/>
          </p:cNvSpPr>
          <p:nvPr>
            <p:ph type="sldNum" sz="quarter" idx="12"/>
          </p:nvPr>
        </p:nvSpPr>
        <p:spPr/>
        <p:txBody>
          <a:bodyPr/>
          <a:lstStyle>
            <a:lvl1pPr>
              <a:defRPr>
                <a:solidFill>
                  <a:schemeClr val="tx1">
                    <a:alpha val="60000"/>
                  </a:schemeClr>
                </a:solidFill>
                <a:latin typeface="+mn-lt"/>
              </a:defRPr>
            </a:lvl1p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1110073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C1FC-ADE8-488C-A1DA-2FD569FD4D09}"/>
              </a:ext>
            </a:extLst>
          </p:cNvPr>
          <p:cNvSpPr>
            <a:spLocks noGrp="1"/>
          </p:cNvSpPr>
          <p:nvPr>
            <p:ph type="title"/>
          </p:nvPr>
        </p:nvSpPr>
        <p:spPr>
          <a:xfrm>
            <a:off x="458694" y="365760"/>
            <a:ext cx="10895106" cy="1325563"/>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F02842-38C3-46D6-8527-0F6FE623C51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E864CF5-F681-40C2-88CC-E02206C9CECB}"/>
              </a:ext>
            </a:extLst>
          </p:cNvPr>
          <p:cNvSpPr>
            <a:spLocks noGrp="1"/>
          </p:cNvSpPr>
          <p:nvPr>
            <p:ph type="dt" sz="half" idx="10"/>
          </p:nvPr>
        </p:nvSpPr>
        <p:spPr/>
        <p:txBody>
          <a:bodyPr/>
          <a:lstStyle/>
          <a:p>
            <a:fld id="{0055F08A-1E71-4B2B-BB49-E743F2903911}" type="datetime1">
              <a:rPr lang="en-US" smtClean="0"/>
              <a:t>4/14/2025</a:t>
            </a:fld>
            <a:endParaRPr lang="en-US" dirty="0"/>
          </a:p>
        </p:txBody>
      </p:sp>
      <p:sp>
        <p:nvSpPr>
          <p:cNvPr id="5" name="Footer Placeholder 4">
            <a:extLst>
              <a:ext uri="{FF2B5EF4-FFF2-40B4-BE49-F238E27FC236}">
                <a16:creationId xmlns:a16="http://schemas.microsoft.com/office/drawing/2014/main" id="{82C04753-4FE4-4A6F-99BB-CFFC92E0CD0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0A569D1-DB13-4BD9-8BA9-0DEAD98F893F}"/>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2753005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0B05-7BF6-4073-9106-FA19E97273CB}"/>
              </a:ext>
            </a:extLst>
          </p:cNvPr>
          <p:cNvSpPr>
            <a:spLocks noGrp="1"/>
          </p:cNvSpPr>
          <p:nvPr>
            <p:ph type="title"/>
          </p:nvPr>
        </p:nvSpPr>
        <p:spPr>
          <a:xfrm>
            <a:off x="831850" y="1709738"/>
            <a:ext cx="10515600" cy="2852737"/>
          </a:xfrm>
        </p:spPr>
        <p:txBody>
          <a:bodyPr anchor="b"/>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E8EE8D7-6B58-4A3F-9DD5-E563D5192A68}"/>
              </a:ext>
            </a:extLst>
          </p:cNvPr>
          <p:cNvSpPr>
            <a:spLocks noGrp="1"/>
          </p:cNvSpPr>
          <p:nvPr>
            <p:ph type="body" idx="1"/>
          </p:nvPr>
        </p:nvSpPr>
        <p:spPr>
          <a:xfrm>
            <a:off x="831850" y="4589463"/>
            <a:ext cx="1051560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02990E-9F0A-446A-B5B8-459CA8D98D92}"/>
              </a:ext>
            </a:extLst>
          </p:cNvPr>
          <p:cNvSpPr>
            <a:spLocks noGrp="1"/>
          </p:cNvSpPr>
          <p:nvPr>
            <p:ph type="dt" sz="half" idx="10"/>
          </p:nvPr>
        </p:nvSpPr>
        <p:spPr/>
        <p:txBody>
          <a:bodyPr/>
          <a:lstStyle/>
          <a:p>
            <a:fld id="{15417D9E-721A-44BB-8863-9873FE64DA75}" type="datetime1">
              <a:rPr lang="en-US" smtClean="0"/>
              <a:t>4/14/2025</a:t>
            </a:fld>
            <a:endParaRPr lang="en-US" dirty="0"/>
          </a:p>
        </p:txBody>
      </p:sp>
      <p:sp>
        <p:nvSpPr>
          <p:cNvPr id="5" name="Footer Placeholder 4">
            <a:extLst>
              <a:ext uri="{FF2B5EF4-FFF2-40B4-BE49-F238E27FC236}">
                <a16:creationId xmlns:a16="http://schemas.microsoft.com/office/drawing/2014/main" id="{89E68EAA-4377-45FF-9D7C-9E77BC9F27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207FA71-74C3-44B8-A0AC-E18A1E76B43D}"/>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3354321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1F12-2D88-4F76-AF46-BD5156C127A9}"/>
              </a:ext>
            </a:extLst>
          </p:cNvPr>
          <p:cNvSpPr>
            <a:spLocks noGrp="1"/>
          </p:cNvSpPr>
          <p:nvPr>
            <p:ph type="title"/>
          </p:nvPr>
        </p:nvSpPr>
        <p:spPr>
          <a:xfrm>
            <a:off x="458694" y="365760"/>
            <a:ext cx="10895106" cy="1325563"/>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6E1AA46-E3EB-4704-B019-F90F1E6177A5}"/>
              </a:ext>
            </a:extLst>
          </p:cNvPr>
          <p:cNvSpPr>
            <a:spLocks noGrp="1"/>
          </p:cNvSpPr>
          <p:nvPr>
            <p:ph sz="half" idx="1"/>
          </p:nvPr>
        </p:nvSpPr>
        <p:spPr>
          <a:xfrm>
            <a:off x="458695" y="1825625"/>
            <a:ext cx="556110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5C17480F-A530-4D05-9A22-E573FB4BA620}"/>
              </a:ext>
            </a:extLst>
          </p:cNvPr>
          <p:cNvSpPr>
            <a:spLocks noGrp="1"/>
          </p:cNvSpPr>
          <p:nvPr>
            <p:ph sz="half" idx="2"/>
          </p:nvPr>
        </p:nvSpPr>
        <p:spPr>
          <a:xfrm>
            <a:off x="6172199" y="1825625"/>
            <a:ext cx="556110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55B56FDA-C47A-4F4A-A364-BA60A25AB90A}"/>
              </a:ext>
            </a:extLst>
          </p:cNvPr>
          <p:cNvSpPr>
            <a:spLocks noGrp="1"/>
          </p:cNvSpPr>
          <p:nvPr>
            <p:ph type="dt" sz="half" idx="10"/>
          </p:nvPr>
        </p:nvSpPr>
        <p:spPr/>
        <p:txBody>
          <a:bodyPr/>
          <a:lstStyle/>
          <a:p>
            <a:fld id="{5F31DA2F-80B8-49CF-99FB-5ABCA53A607A}" type="datetime1">
              <a:rPr lang="en-US" smtClean="0"/>
              <a:t>4/14/2025</a:t>
            </a:fld>
            <a:endParaRPr lang="en-US" dirty="0"/>
          </a:p>
        </p:txBody>
      </p:sp>
      <p:sp>
        <p:nvSpPr>
          <p:cNvPr id="6" name="Footer Placeholder 5">
            <a:extLst>
              <a:ext uri="{FF2B5EF4-FFF2-40B4-BE49-F238E27FC236}">
                <a16:creationId xmlns:a16="http://schemas.microsoft.com/office/drawing/2014/main" id="{7326D8DD-6D84-44D4-8A1B-57615B3ED83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4C8FE31-B577-4017-8AFE-A8BA09596E9C}"/>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3467479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28C9-B8CC-413F-9FFA-626680E4A828}"/>
              </a:ext>
            </a:extLst>
          </p:cNvPr>
          <p:cNvSpPr>
            <a:spLocks noGrp="1"/>
          </p:cNvSpPr>
          <p:nvPr>
            <p:ph type="title"/>
          </p:nvPr>
        </p:nvSpPr>
        <p:spPr>
          <a:xfrm>
            <a:off x="458694" y="365125"/>
            <a:ext cx="11274612"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B53FE72-9D42-45F5-A37F-B12130388AD5}"/>
              </a:ext>
            </a:extLst>
          </p:cNvPr>
          <p:cNvSpPr>
            <a:spLocks noGrp="1"/>
          </p:cNvSpPr>
          <p:nvPr>
            <p:ph type="body" idx="1"/>
          </p:nvPr>
        </p:nvSpPr>
        <p:spPr>
          <a:xfrm>
            <a:off x="465256" y="1752600"/>
            <a:ext cx="5532319" cy="82391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E3A31D-9B5F-4DE3-B18D-F7F77782EB46}"/>
              </a:ext>
            </a:extLst>
          </p:cNvPr>
          <p:cNvSpPr>
            <a:spLocks noGrp="1"/>
          </p:cNvSpPr>
          <p:nvPr>
            <p:ph sz="half" idx="2"/>
          </p:nvPr>
        </p:nvSpPr>
        <p:spPr>
          <a:xfrm>
            <a:off x="465256" y="2666999"/>
            <a:ext cx="5532319"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0BE1D2D-822C-466C-A7B9-1A2D97366A41}"/>
              </a:ext>
            </a:extLst>
          </p:cNvPr>
          <p:cNvSpPr>
            <a:spLocks noGrp="1"/>
          </p:cNvSpPr>
          <p:nvPr>
            <p:ph type="body" sz="quarter" idx="3"/>
          </p:nvPr>
        </p:nvSpPr>
        <p:spPr>
          <a:xfrm>
            <a:off x="6172200" y="1752600"/>
            <a:ext cx="5561106" cy="82391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F13B2C-44CA-49C4-BC84-02AF1638F381}"/>
              </a:ext>
            </a:extLst>
          </p:cNvPr>
          <p:cNvSpPr>
            <a:spLocks noGrp="1"/>
          </p:cNvSpPr>
          <p:nvPr>
            <p:ph sz="quarter" idx="4"/>
          </p:nvPr>
        </p:nvSpPr>
        <p:spPr>
          <a:xfrm>
            <a:off x="6172200" y="2666999"/>
            <a:ext cx="5561106"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793CB55-E9C1-4CE6-9B61-81B71475B960}"/>
              </a:ext>
            </a:extLst>
          </p:cNvPr>
          <p:cNvSpPr>
            <a:spLocks noGrp="1"/>
          </p:cNvSpPr>
          <p:nvPr>
            <p:ph type="dt" sz="half" idx="10"/>
          </p:nvPr>
        </p:nvSpPr>
        <p:spPr/>
        <p:txBody>
          <a:bodyPr/>
          <a:lstStyle/>
          <a:p>
            <a:fld id="{28852172-E6C9-4B6C-929A-A9DE3837BBF1}" type="datetime1">
              <a:rPr lang="en-US" smtClean="0"/>
              <a:t>4/14/2025</a:t>
            </a:fld>
            <a:endParaRPr lang="en-US" dirty="0"/>
          </a:p>
        </p:txBody>
      </p:sp>
      <p:sp>
        <p:nvSpPr>
          <p:cNvPr id="8" name="Footer Placeholder 7">
            <a:extLst>
              <a:ext uri="{FF2B5EF4-FFF2-40B4-BE49-F238E27FC236}">
                <a16:creationId xmlns:a16="http://schemas.microsoft.com/office/drawing/2014/main" id="{0DF22318-747B-4EC9-862C-D9FD488CCCE9}"/>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0CFBDDDF-16BD-438D-937D-0E3E30E74E86}"/>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4038255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92D5F-0BD4-4517-9233-E08AF405B6DE}"/>
              </a:ext>
            </a:extLst>
          </p:cNvPr>
          <p:cNvSpPr>
            <a:spLocks noGrp="1"/>
          </p:cNvSpPr>
          <p:nvPr>
            <p:ph type="title"/>
          </p:nvPr>
        </p:nvSpPr>
        <p:spPr>
          <a:xfrm>
            <a:off x="458694" y="365760"/>
            <a:ext cx="11274612"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B83523B8-51E3-48B8-BFD8-CE950619804E}"/>
              </a:ext>
            </a:extLst>
          </p:cNvPr>
          <p:cNvSpPr>
            <a:spLocks noGrp="1"/>
          </p:cNvSpPr>
          <p:nvPr>
            <p:ph type="dt" sz="half" idx="10"/>
          </p:nvPr>
        </p:nvSpPr>
        <p:spPr>
          <a:xfrm>
            <a:off x="458693" y="6416675"/>
            <a:ext cx="2921715" cy="365125"/>
          </a:xfrm>
        </p:spPr>
        <p:txBody>
          <a:bodyPr/>
          <a:lstStyle/>
          <a:p>
            <a:fld id="{3AB41CFF-90C9-47B3-9DA1-F2BF8D839F7E}" type="datetime1">
              <a:rPr lang="en-US" smtClean="0"/>
              <a:t>4/14/2025</a:t>
            </a:fld>
            <a:endParaRPr lang="en-US" dirty="0"/>
          </a:p>
        </p:txBody>
      </p:sp>
      <p:sp>
        <p:nvSpPr>
          <p:cNvPr id="4" name="Footer Placeholder 3">
            <a:extLst>
              <a:ext uri="{FF2B5EF4-FFF2-40B4-BE49-F238E27FC236}">
                <a16:creationId xmlns:a16="http://schemas.microsoft.com/office/drawing/2014/main" id="{7D739B90-5D50-4424-B51D-53C39162186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216F9286-3A00-4D3C-A3F0-50AC9045C4E1}"/>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32103970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fld id="{F06048FA-06AB-4884-A69B-986B96E68A24}" type="datetime1">
              <a:rPr lang="en-US" smtClean="0"/>
              <a:t>4/14/2025</a:t>
            </a:fld>
            <a:endParaRPr lang="en-US" dirty="0"/>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19195267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A81A1-6D8E-4DD6-8E49-DABDE6D107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93F18F-F78D-4A31-A6BC-6552105BCF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82C2F4-BDF4-4A4F-AA3D-52692932C2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13850F-5C87-4F08-9658-EAF049B60EB0}"/>
              </a:ext>
            </a:extLst>
          </p:cNvPr>
          <p:cNvSpPr>
            <a:spLocks noGrp="1"/>
          </p:cNvSpPr>
          <p:nvPr>
            <p:ph type="dt" sz="half" idx="10"/>
          </p:nvPr>
        </p:nvSpPr>
        <p:spPr/>
        <p:txBody>
          <a:bodyPr/>
          <a:lstStyle/>
          <a:p>
            <a:fld id="{50DB7ABA-0172-4F9C-889D-567164F66BCD}" type="datetime1">
              <a:rPr lang="en-US" smtClean="0"/>
              <a:t>4/14/2025</a:t>
            </a:fld>
            <a:endParaRPr lang="en-US" dirty="0"/>
          </a:p>
        </p:txBody>
      </p:sp>
      <p:sp>
        <p:nvSpPr>
          <p:cNvPr id="6" name="Footer Placeholder 5">
            <a:extLst>
              <a:ext uri="{FF2B5EF4-FFF2-40B4-BE49-F238E27FC236}">
                <a16:creationId xmlns:a16="http://schemas.microsoft.com/office/drawing/2014/main" id="{210BCE9A-A746-4439-B5D3-966FBC8E5FC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41D3B51-AA2E-4AA1-8062-A0D476D80CCB}"/>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38038768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02CF7-F453-4B3E-9510-D74797987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E2A1B9-8A2A-4B49-8B79-76D3EEB36B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BD9FEA03-0EC4-4085-AE63-4AA492D61A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05AD5B-0DEA-4C6F-94D2-FAA99F2E5DA9}"/>
              </a:ext>
            </a:extLst>
          </p:cNvPr>
          <p:cNvSpPr>
            <a:spLocks noGrp="1"/>
          </p:cNvSpPr>
          <p:nvPr>
            <p:ph type="dt" sz="half" idx="10"/>
          </p:nvPr>
        </p:nvSpPr>
        <p:spPr/>
        <p:txBody>
          <a:bodyPr/>
          <a:lstStyle/>
          <a:p>
            <a:fld id="{78AC6A5B-8AE7-4A41-B5A7-9ADC6686DC18}" type="datetime1">
              <a:rPr lang="en-US" smtClean="0"/>
              <a:t>4/14/2025</a:t>
            </a:fld>
            <a:endParaRPr lang="en-US" dirty="0"/>
          </a:p>
        </p:txBody>
      </p:sp>
      <p:sp>
        <p:nvSpPr>
          <p:cNvPr id="6" name="Footer Placeholder 5">
            <a:extLst>
              <a:ext uri="{FF2B5EF4-FFF2-40B4-BE49-F238E27FC236}">
                <a16:creationId xmlns:a16="http://schemas.microsoft.com/office/drawing/2014/main" id="{F0DC6744-7CBA-4A1D-8F87-10699F9812F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EAD9048-35FF-4BE9-8157-BE4BAA1C7251}"/>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2758969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ABDD2-E186-4F25-8FDE-D1E875E9C3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18CC5B-A7E0-48B1-8329-6533AC76E7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905B1B-77FE-4BFC-BF87-87DA989F0082}"/>
              </a:ext>
            </a:extLst>
          </p:cNvPr>
          <p:cNvSpPr>
            <a:spLocks noGrp="1"/>
          </p:cNvSpPr>
          <p:nvPr>
            <p:ph type="dt" sz="half" idx="10"/>
          </p:nvPr>
        </p:nvSpPr>
        <p:spPr/>
        <p:txBody>
          <a:bodyPr/>
          <a:lstStyle/>
          <a:p>
            <a:fld id="{4C559632-1575-4E14-B53B-3DC3D5ED3947}" type="datetime1">
              <a:rPr lang="en-US" smtClean="0"/>
              <a:t>4/14/2025</a:t>
            </a:fld>
            <a:endParaRPr lang="en-US" dirty="0"/>
          </a:p>
        </p:txBody>
      </p:sp>
      <p:sp>
        <p:nvSpPr>
          <p:cNvPr id="5" name="Footer Placeholder 4">
            <a:extLst>
              <a:ext uri="{FF2B5EF4-FFF2-40B4-BE49-F238E27FC236}">
                <a16:creationId xmlns:a16="http://schemas.microsoft.com/office/drawing/2014/main" id="{3118531E-1B90-4631-BD37-4BB1DBFABF4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38A55E8-88DC-4280-8E04-FF50FF8EDB5A}"/>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546711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60633D-90E4-4F5A-9EBF-DDEC2B0B47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DD3065-FA3D-42C8-BFDA-967C87F4F2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C126F-38E2-4425-861F-98ED432284BA}"/>
              </a:ext>
            </a:extLst>
          </p:cNvPr>
          <p:cNvSpPr>
            <a:spLocks noGrp="1"/>
          </p:cNvSpPr>
          <p:nvPr>
            <p:ph type="dt" sz="half" idx="10"/>
          </p:nvPr>
        </p:nvSpPr>
        <p:spPr/>
        <p:txBody>
          <a:bodyPr/>
          <a:lstStyle/>
          <a:p>
            <a:fld id="{CC4A6868-2568-4CC9-B302-F37117B01A6E}" type="datetime1">
              <a:rPr lang="en-US" smtClean="0"/>
              <a:t>4/14/2025</a:t>
            </a:fld>
            <a:endParaRPr lang="en-US" dirty="0"/>
          </a:p>
        </p:txBody>
      </p:sp>
      <p:sp>
        <p:nvSpPr>
          <p:cNvPr id="5" name="Footer Placeholder 4">
            <a:extLst>
              <a:ext uri="{FF2B5EF4-FFF2-40B4-BE49-F238E27FC236}">
                <a16:creationId xmlns:a16="http://schemas.microsoft.com/office/drawing/2014/main" id="{CA9645D8-F22A-4354-A8B3-96E8A2D232A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59E2295-A616-4D57-8800-7B7E213A8CC8}"/>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3001866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p:nvPr/>
        </p:nvSpPr>
        <p:spPr>
          <a:xfrm>
            <a:off x="0" y="0"/>
            <a:ext cx="12192000" cy="6858004"/>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 name="Title Placeholder 1">
            <a:extLst>
              <a:ext uri="{FF2B5EF4-FFF2-40B4-BE49-F238E27FC236}">
                <a16:creationId xmlns:a16="http://schemas.microsoft.com/office/drawing/2014/main" id="{E9984D45-0ED3-4D03-8E44-5E355C9134F1}"/>
              </a:ext>
            </a:extLst>
          </p:cNvPr>
          <p:cNvSpPr>
            <a:spLocks noGrp="1"/>
          </p:cNvSpPr>
          <p:nvPr>
            <p:ph type="title"/>
          </p:nvPr>
        </p:nvSpPr>
        <p:spPr>
          <a:xfrm>
            <a:off x="458694" y="425450"/>
            <a:ext cx="11274612"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1F687D6E-D1E9-489C-9AA9-3575C39BAA0B}"/>
              </a:ext>
            </a:extLst>
          </p:cNvPr>
          <p:cNvSpPr>
            <a:spLocks noGrp="1"/>
          </p:cNvSpPr>
          <p:nvPr>
            <p:ph type="body" idx="1"/>
          </p:nvPr>
        </p:nvSpPr>
        <p:spPr>
          <a:xfrm>
            <a:off x="458694" y="1949450"/>
            <a:ext cx="11274612" cy="41957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6364E9C-08EE-4B1B-B3FC-D6D997F4EA38}"/>
              </a:ext>
            </a:extLst>
          </p:cNvPr>
          <p:cNvSpPr>
            <a:spLocks noGrp="1"/>
          </p:cNvSpPr>
          <p:nvPr>
            <p:ph type="dt" sz="half" idx="2"/>
          </p:nvPr>
        </p:nvSpPr>
        <p:spPr>
          <a:xfrm>
            <a:off x="458694" y="6416675"/>
            <a:ext cx="2743200" cy="365125"/>
          </a:xfrm>
          <a:prstGeom prst="rect">
            <a:avLst/>
          </a:prstGeom>
        </p:spPr>
        <p:txBody>
          <a:bodyPr vert="horz" lIns="91440" tIns="45720" rIns="91440" bIns="45720" rtlCol="0" anchor="ctr"/>
          <a:lstStyle>
            <a:lvl1pPr algn="l">
              <a:defRPr sz="900">
                <a:solidFill>
                  <a:schemeClr val="tx1">
                    <a:alpha val="60000"/>
                  </a:schemeClr>
                </a:solidFill>
                <a:latin typeface="+mn-lt"/>
              </a:defRPr>
            </a:lvl1pPr>
          </a:lstStyle>
          <a:p>
            <a:fld id="{57E0CF6C-748E-4B7A-BC8B-3011EF78ED13}" type="datetime1">
              <a:rPr lang="en-US" smtClean="0"/>
              <a:pPr/>
              <a:t>4/14/2025</a:t>
            </a:fld>
            <a:endParaRPr lang="en-US" dirty="0"/>
          </a:p>
        </p:txBody>
      </p:sp>
      <p:sp>
        <p:nvSpPr>
          <p:cNvPr id="5" name="Footer Placeholder 4">
            <a:extLst>
              <a:ext uri="{FF2B5EF4-FFF2-40B4-BE49-F238E27FC236}">
                <a16:creationId xmlns:a16="http://schemas.microsoft.com/office/drawing/2014/main" id="{BAB0A1F1-38FE-4C27-81E6-A43A54793FC3}"/>
              </a:ext>
            </a:extLst>
          </p:cNvPr>
          <p:cNvSpPr>
            <a:spLocks noGrp="1"/>
          </p:cNvSpPr>
          <p:nvPr>
            <p:ph type="ftr" sz="quarter" idx="3"/>
          </p:nvPr>
        </p:nvSpPr>
        <p:spPr>
          <a:xfrm>
            <a:off x="4038600" y="6416675"/>
            <a:ext cx="4114800" cy="365125"/>
          </a:xfrm>
          <a:prstGeom prst="rect">
            <a:avLst/>
          </a:prstGeom>
        </p:spPr>
        <p:txBody>
          <a:bodyPr vert="horz" lIns="91440" tIns="45720" rIns="91440" bIns="45720" rtlCol="0" anchor="ctr"/>
          <a:lstStyle>
            <a:lvl1pPr algn="ctr">
              <a:defRPr sz="900">
                <a:solidFill>
                  <a:schemeClr val="tx1">
                    <a:alpha val="60000"/>
                  </a:schemeClr>
                </a:solidFill>
                <a:latin typeface="+mn-lt"/>
              </a:defRPr>
            </a:lvl1pPr>
          </a:lstStyle>
          <a:p>
            <a:endParaRPr lang="en-US" dirty="0">
              <a:solidFill>
                <a:schemeClr val="tx1">
                  <a:alpha val="60000"/>
                </a:schemeClr>
              </a:solidFill>
            </a:endParaRPr>
          </a:p>
        </p:txBody>
      </p:sp>
      <p:sp>
        <p:nvSpPr>
          <p:cNvPr id="6" name="Slide Number Placeholder 5">
            <a:extLst>
              <a:ext uri="{FF2B5EF4-FFF2-40B4-BE49-F238E27FC236}">
                <a16:creationId xmlns:a16="http://schemas.microsoft.com/office/drawing/2014/main" id="{5E26B39A-FFD8-42EF-ADC7-7DB3B302F8B2}"/>
              </a:ext>
            </a:extLst>
          </p:cNvPr>
          <p:cNvSpPr>
            <a:spLocks noGrp="1"/>
          </p:cNvSpPr>
          <p:nvPr>
            <p:ph type="sldNum" sz="quarter" idx="4"/>
          </p:nvPr>
        </p:nvSpPr>
        <p:spPr>
          <a:xfrm>
            <a:off x="8990106" y="6416675"/>
            <a:ext cx="2743200" cy="365125"/>
          </a:xfrm>
          <a:prstGeom prst="rect">
            <a:avLst/>
          </a:prstGeom>
        </p:spPr>
        <p:txBody>
          <a:bodyPr vert="horz" lIns="91440" tIns="45720" rIns="91440" bIns="45720" rtlCol="0" anchor="ctr"/>
          <a:lstStyle>
            <a:lvl1pPr algn="r">
              <a:defRPr sz="900">
                <a:solidFill>
                  <a:schemeClr val="tx1">
                    <a:alpha val="60000"/>
                  </a:schemeClr>
                </a:solidFill>
                <a:latin typeface="+mn-lt"/>
              </a:defRPr>
            </a:lvl1pPr>
          </a:lstStyle>
          <a:p>
            <a:fld id="{73B850FF-6169-4056-8077-06FFA93A5366}" type="slidenum">
              <a:rPr lang="en-US" smtClean="0"/>
              <a:pPr/>
              <a:t>‹#›</a:t>
            </a:fld>
            <a:endParaRPr lang="en-US" dirty="0"/>
          </a:p>
        </p:txBody>
      </p:sp>
      <p:pic>
        <p:nvPicPr>
          <p:cNvPr id="14" name="Picture 13" descr="A picture containing sitting&#10;&#10;Description automatically generated">
            <a:extLst>
              <a:ext uri="{FF2B5EF4-FFF2-40B4-BE49-F238E27FC236}">
                <a16:creationId xmlns:a16="http://schemas.microsoft.com/office/drawing/2014/main" id="{BC526B7A-4801-4FD1-95C8-03AF22629E87}"/>
              </a:ext>
            </a:extLst>
          </p:cNvPr>
          <p:cNvPicPr>
            <a:picLocks noChangeAspect="1"/>
          </p:cNvPicPr>
          <p:nvPr/>
        </p:nvPicPr>
        <p:blipFill>
          <a:blip r:embed="rId13">
            <a:alphaModFix amt="10000"/>
            <a:extLst>
              <a:ext uri="{28A0092B-C50C-407E-A947-70E740481C1C}">
                <a14:useLocalDpi xmlns:a14="http://schemas.microsoft.com/office/drawing/2010/main" val="0"/>
              </a:ext>
            </a:extLst>
          </a:blip>
          <a:stretch>
            <a:fillRect/>
          </a:stretch>
        </p:blipFill>
        <p:spPr>
          <a:xfrm>
            <a:off x="8534400" y="0"/>
            <a:ext cx="3654612" cy="4575348"/>
          </a:xfrm>
          <a:prstGeom prst="rect">
            <a:avLst/>
          </a:prstGeom>
        </p:spPr>
      </p:pic>
    </p:spTree>
    <p:extLst>
      <p:ext uri="{BB962C8B-B14F-4D97-AF65-F5344CB8AC3E}">
        <p14:creationId xmlns:p14="http://schemas.microsoft.com/office/powerpoint/2010/main" val="344116095"/>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62" r:id="rId3"/>
    <p:sldLayoutId id="2147483663" r:id="rId4"/>
    <p:sldLayoutId id="2147483664" r:id="rId5"/>
    <p:sldLayoutId id="2147483665" r:id="rId6"/>
    <p:sldLayoutId id="2147483666" r:id="rId7"/>
    <p:sldLayoutId id="2147483670" r:id="rId8"/>
    <p:sldLayoutId id="2147483667" r:id="rId9"/>
    <p:sldLayoutId id="2147483668" r:id="rId10"/>
    <p:sldLayoutId id="2147483669" r:id="rId11"/>
  </p:sldLayoutIdLst>
  <p:hf sldNum="0" hdr="0" ftr="0" dt="0"/>
  <p:txStyles>
    <p:titleStyle>
      <a:lvl1pPr algn="l" defTabSz="914400" rtl="0" eaLnBrk="1" latinLnBrk="0" hangingPunct="1">
        <a:lnSpc>
          <a:spcPct val="100000"/>
        </a:lnSpc>
        <a:spcBef>
          <a:spcPct val="0"/>
        </a:spcBef>
        <a:buNone/>
        <a:defRPr sz="4400" b="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7.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1.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7.png"/><Relationship Id="rId7" Type="http://schemas.openxmlformats.org/officeDocument/2006/relationships/diagramColors" Target="../diagrams/colors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2.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7.png"/><Relationship Id="rId7" Type="http://schemas.openxmlformats.org/officeDocument/2006/relationships/diagramColors" Target="../diagrams/colors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3.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7.png"/><Relationship Id="rId7" Type="http://schemas.openxmlformats.org/officeDocument/2006/relationships/diagramColors" Target="../diagrams/colors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4.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7.png"/><Relationship Id="rId7" Type="http://schemas.openxmlformats.org/officeDocument/2006/relationships/diagramColors" Target="../diagrams/colors5.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GE3JOFwTWVM" TargetMode="Externa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hyperlink" Target="https://www.dummies.com/article/technology/information-technology/data-science/big-data/time-series-analysis-in-statistical-analysis-of-big-data-141222/" TargetMode="External"/><Relationship Id="rId5" Type="http://schemas.openxmlformats.org/officeDocument/2006/relationships/hyperlink" Target="https://www.investopedia.com/terms/t/timeseries.asp" TargetMode="External"/><Relationship Id="rId4" Type="http://schemas.openxmlformats.org/officeDocument/2006/relationships/hyperlink" Target="https://www.sigmacomputing.com/resources/learn/what-is-time-series-analysis#:~:text=Time%20series%20analysis%20is%20a,forecasting%20based%20on%20historical%20data" TargetMode="Externa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knowledge.dataiku.com/latest/ml-analytics/time-series/concept-objectives.html" TargetMode="External"/><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hyperlink" Target="https://www.datacamp.com/tutorial/tutorial-time-series-forecasting" TargetMode="External"/><Relationship Id="rId4" Type="http://schemas.openxmlformats.org/officeDocument/2006/relationships/hyperlink" Target="https://www.expressanalytics.com/blog/time-series-analysis/"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23.xml"/><Relationship Id="rId7" Type="http://schemas.microsoft.com/office/2007/relationships/diagramDrawing" Target="../diagrams/drawing23.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25.xml"/><Relationship Id="rId7" Type="http://schemas.microsoft.com/office/2007/relationships/diagramDrawing" Target="../diagrams/drawing25.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25.xml"/><Relationship Id="rId5" Type="http://schemas.openxmlformats.org/officeDocument/2006/relationships/diagramQuickStyle" Target="../diagrams/quickStyle25.xml"/><Relationship Id="rId4" Type="http://schemas.openxmlformats.org/officeDocument/2006/relationships/diagramLayout" Target="../diagrams/layout25.xml"/></Relationships>
</file>

<file path=ppt/slides/_rels/slide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diagramData" Target="../diagrams/data26.xml"/><Relationship Id="rId7" Type="http://schemas.microsoft.com/office/2007/relationships/diagramDrawing" Target="../diagrams/drawing26.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26.xml"/><Relationship Id="rId5" Type="http://schemas.openxmlformats.org/officeDocument/2006/relationships/diagramQuickStyle" Target="../diagrams/quickStyle26.xml"/><Relationship Id="rId4" Type="http://schemas.openxmlformats.org/officeDocument/2006/relationships/diagramLayout" Target="../diagrams/layout26.xml"/></Relationships>
</file>

<file path=ppt/slides/_rels/slide59.xml.rels><?xml version="1.0" encoding="UTF-8" standalone="yes"?>
<Relationships xmlns="http://schemas.openxmlformats.org/package/2006/relationships"><Relationship Id="rId3" Type="http://schemas.openxmlformats.org/officeDocument/2006/relationships/diagramData" Target="../diagrams/data27.xml"/><Relationship Id="rId7" Type="http://schemas.microsoft.com/office/2007/relationships/diagramDrawing" Target="../diagrams/drawing27.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27.xml"/><Relationship Id="rId5" Type="http://schemas.openxmlformats.org/officeDocument/2006/relationships/diagramQuickStyle" Target="../diagrams/quickStyle27.xml"/><Relationship Id="rId4" Type="http://schemas.openxmlformats.org/officeDocument/2006/relationships/diagramLayout" Target="../diagrams/layout27.xml"/></Relationships>
</file>

<file path=ppt/slides/_rels/slide60.xml.rels><?xml version="1.0" encoding="UTF-8" standalone="yes"?>
<Relationships xmlns="http://schemas.openxmlformats.org/package/2006/relationships"><Relationship Id="rId3" Type="http://schemas.openxmlformats.org/officeDocument/2006/relationships/diagramData" Target="../diagrams/data28.xml"/><Relationship Id="rId7" Type="http://schemas.microsoft.com/office/2007/relationships/diagramDrawing" Target="../diagrams/drawing28.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28.xml"/><Relationship Id="rId5" Type="http://schemas.openxmlformats.org/officeDocument/2006/relationships/diagramQuickStyle" Target="../diagrams/quickStyle28.xml"/><Relationship Id="rId4" Type="http://schemas.openxmlformats.org/officeDocument/2006/relationships/diagramLayout" Target="../diagrams/layout28.xml"/></Relationships>
</file>

<file path=ppt/slides/_rels/slide61.xml.rels><?xml version="1.0" encoding="UTF-8" standalone="yes"?>
<Relationships xmlns="http://schemas.openxmlformats.org/package/2006/relationships"><Relationship Id="rId3" Type="http://schemas.openxmlformats.org/officeDocument/2006/relationships/diagramData" Target="../diagrams/data29.xml"/><Relationship Id="rId7" Type="http://schemas.microsoft.com/office/2007/relationships/diagramDrawing" Target="../diagrams/drawing29.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29.xml"/><Relationship Id="rId5" Type="http://schemas.openxmlformats.org/officeDocument/2006/relationships/diagramQuickStyle" Target="../diagrams/quickStyle29.xml"/><Relationship Id="rId4" Type="http://schemas.openxmlformats.org/officeDocument/2006/relationships/diagramLayout" Target="../diagrams/layout29.xml"/></Relationships>
</file>

<file path=ppt/slides/_rels/slide6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diagramData" Target="../diagrams/data30.xml"/><Relationship Id="rId7" Type="http://schemas.microsoft.com/office/2007/relationships/diagramDrawing" Target="../diagrams/drawing30.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30.xml"/><Relationship Id="rId5" Type="http://schemas.openxmlformats.org/officeDocument/2006/relationships/diagramQuickStyle" Target="../diagrams/quickStyle30.xml"/><Relationship Id="rId4" Type="http://schemas.openxmlformats.org/officeDocument/2006/relationships/diagramLayout" Target="../diagrams/layout30.xml"/></Relationships>
</file>

<file path=ppt/slides/_rels/slide65.xml.rels><?xml version="1.0" encoding="UTF-8" standalone="yes"?>
<Relationships xmlns="http://schemas.openxmlformats.org/package/2006/relationships"><Relationship Id="rId3" Type="http://schemas.openxmlformats.org/officeDocument/2006/relationships/diagramData" Target="../diagrams/data31.xml"/><Relationship Id="rId7" Type="http://schemas.microsoft.com/office/2007/relationships/diagramDrawing" Target="../diagrams/drawing31.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31.xml"/><Relationship Id="rId5" Type="http://schemas.openxmlformats.org/officeDocument/2006/relationships/diagramQuickStyle" Target="../diagrams/quickStyle31.xml"/><Relationship Id="rId4" Type="http://schemas.openxmlformats.org/officeDocument/2006/relationships/diagramLayout" Target="../diagrams/layout31.xml"/></Relationships>
</file>

<file path=ppt/slides/_rels/slide66.xml.rels><?xml version="1.0" encoding="UTF-8" standalone="yes"?>
<Relationships xmlns="http://schemas.openxmlformats.org/package/2006/relationships"><Relationship Id="rId3" Type="http://schemas.openxmlformats.org/officeDocument/2006/relationships/diagramData" Target="../diagrams/data32.xml"/><Relationship Id="rId7" Type="http://schemas.microsoft.com/office/2007/relationships/diagramDrawing" Target="../diagrams/drawing32.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32.xml"/><Relationship Id="rId5" Type="http://schemas.openxmlformats.org/officeDocument/2006/relationships/diagramQuickStyle" Target="../diagrams/quickStyle32.xml"/><Relationship Id="rId4" Type="http://schemas.openxmlformats.org/officeDocument/2006/relationships/diagramLayout" Target="../diagrams/layout32.xml"/></Relationships>
</file>

<file path=ppt/slides/_rels/slide6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diagramData" Target="../diagrams/data33.xml"/><Relationship Id="rId7" Type="http://schemas.microsoft.com/office/2007/relationships/diagramDrawing" Target="../diagrams/drawing33.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33.xml"/><Relationship Id="rId5" Type="http://schemas.openxmlformats.org/officeDocument/2006/relationships/diagramQuickStyle" Target="../diagrams/quickStyle33.xml"/><Relationship Id="rId4" Type="http://schemas.openxmlformats.org/officeDocument/2006/relationships/diagramLayout" Target="../diagrams/layout33.xml"/></Relationships>
</file>

<file path=ppt/slides/_rels/slide73.xml.rels><?xml version="1.0" encoding="UTF-8" standalone="yes"?>
<Relationships xmlns="http://schemas.openxmlformats.org/package/2006/relationships"><Relationship Id="rId3" Type="http://schemas.openxmlformats.org/officeDocument/2006/relationships/diagramData" Target="../diagrams/data34.xml"/><Relationship Id="rId7" Type="http://schemas.microsoft.com/office/2007/relationships/diagramDrawing" Target="../diagrams/drawing34.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34.xml"/><Relationship Id="rId5" Type="http://schemas.openxmlformats.org/officeDocument/2006/relationships/diagramQuickStyle" Target="../diagrams/quickStyle34.xml"/><Relationship Id="rId4" Type="http://schemas.openxmlformats.org/officeDocument/2006/relationships/diagramLayout" Target="../diagrams/layout34.xml"/></Relationships>
</file>

<file path=ppt/slides/_rels/slide74.xml.rels><?xml version="1.0" encoding="UTF-8" standalone="yes"?>
<Relationships xmlns="http://schemas.openxmlformats.org/package/2006/relationships"><Relationship Id="rId3" Type="http://schemas.openxmlformats.org/officeDocument/2006/relationships/diagramData" Target="../diagrams/data35.xml"/><Relationship Id="rId7" Type="http://schemas.microsoft.com/office/2007/relationships/diagramDrawing" Target="../diagrams/drawing35.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35.xml"/><Relationship Id="rId5" Type="http://schemas.openxmlformats.org/officeDocument/2006/relationships/diagramQuickStyle" Target="../diagrams/quickStyle35.xml"/><Relationship Id="rId4" Type="http://schemas.openxmlformats.org/officeDocument/2006/relationships/diagramLayout" Target="../diagrams/layout35.xml"/></Relationships>
</file>

<file path=ppt/slides/_rels/slide75.xml.rels><?xml version="1.0" encoding="UTF-8" standalone="yes"?>
<Relationships xmlns="http://schemas.openxmlformats.org/package/2006/relationships"><Relationship Id="rId3" Type="http://schemas.openxmlformats.org/officeDocument/2006/relationships/diagramData" Target="../diagrams/data36.xml"/><Relationship Id="rId7" Type="http://schemas.microsoft.com/office/2007/relationships/diagramDrawing" Target="../diagrams/drawing36.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diagramColors" Target="../diagrams/colors36.xml"/><Relationship Id="rId5" Type="http://schemas.openxmlformats.org/officeDocument/2006/relationships/diagramQuickStyle" Target="../diagrams/quickStyle36.xml"/><Relationship Id="rId4" Type="http://schemas.openxmlformats.org/officeDocument/2006/relationships/diagramLayout" Target="../diagrams/layout36.xml"/></Relationships>
</file>

<file path=ppt/slides/_rels/slide7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29.sv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0" name="Rectangle 59">
            <a:extLst>
              <a:ext uri="{FF2B5EF4-FFF2-40B4-BE49-F238E27FC236}">
                <a16:creationId xmlns:a16="http://schemas.microsoft.com/office/drawing/2014/main" id="{DE61FBD7-E37C-4B38-BE44-A6D4978D7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62" name="Rectangle 61">
            <a:extLst>
              <a:ext uri="{FF2B5EF4-FFF2-40B4-BE49-F238E27FC236}">
                <a16:creationId xmlns:a16="http://schemas.microsoft.com/office/drawing/2014/main" id="{392BFCFE-FD78-4EDF-BEFE-CC444DC5F3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64" name="Group 63">
            <a:extLst>
              <a:ext uri="{FF2B5EF4-FFF2-40B4-BE49-F238E27FC236}">
                <a16:creationId xmlns:a16="http://schemas.microsoft.com/office/drawing/2014/main" id="{6296EE44-57DB-43DA-992F-0E80F41E963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3048" y="0"/>
            <a:ext cx="7724071" cy="6858000"/>
            <a:chOff x="4464881" y="0"/>
            <a:chExt cx="7724071" cy="6858000"/>
          </a:xfrm>
        </p:grpSpPr>
        <p:pic>
          <p:nvPicPr>
            <p:cNvPr id="65" name="Picture 64">
              <a:extLst>
                <a:ext uri="{FF2B5EF4-FFF2-40B4-BE49-F238E27FC236}">
                  <a16:creationId xmlns:a16="http://schemas.microsoft.com/office/drawing/2014/main" id="{55951872-325D-435F-A5DB-3AE1583B045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66" name="Picture 65">
              <a:extLst>
                <a:ext uri="{FF2B5EF4-FFF2-40B4-BE49-F238E27FC236}">
                  <a16:creationId xmlns:a16="http://schemas.microsoft.com/office/drawing/2014/main" id="{D0233081-754B-4124-9DC0-555B0B05BD4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duotone>
                <a:schemeClr val="accent6">
                  <a:shade val="45000"/>
                  <a:satMod val="135000"/>
                </a:schemeClr>
                <a:prstClr val="white"/>
              </a:duotone>
              <a:alphaModFix amt="7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2" name="Title 1">
            <a:extLst>
              <a:ext uri="{FF2B5EF4-FFF2-40B4-BE49-F238E27FC236}">
                <a16:creationId xmlns:a16="http://schemas.microsoft.com/office/drawing/2014/main" id="{0429ED7E-D049-C24C-B6D7-BFA9DA0BA8FE}"/>
              </a:ext>
            </a:extLst>
          </p:cNvPr>
          <p:cNvSpPr>
            <a:spLocks noGrp="1"/>
          </p:cNvSpPr>
          <p:nvPr>
            <p:ph type="ctrTitle"/>
          </p:nvPr>
        </p:nvSpPr>
        <p:spPr>
          <a:xfrm>
            <a:off x="5943600" y="744909"/>
            <a:ext cx="5410200" cy="3155419"/>
          </a:xfrm>
        </p:spPr>
        <p:txBody>
          <a:bodyPr anchor="b">
            <a:normAutofit/>
          </a:bodyPr>
          <a:lstStyle/>
          <a:p>
            <a:pPr algn="l">
              <a:lnSpc>
                <a:spcPct val="90000"/>
              </a:lnSpc>
            </a:pPr>
            <a:r>
              <a:rPr lang="en-IE" sz="3100" b="1" i="0" u="none" strike="noStrike" kern="1200" cap="none" spc="0" dirty="0">
                <a:uFillTx/>
                <a:cs typeface="Raleway"/>
              </a:rPr>
              <a:t>Lecture Topic :Fundamentals of Data Analytics</a:t>
            </a:r>
            <a:br>
              <a:rPr lang="en-IE" sz="3100" b="1" i="0" u="none" strike="noStrike" kern="1200" cap="none" spc="0" dirty="0">
                <a:uFillTx/>
                <a:cs typeface="Raleway"/>
              </a:rPr>
            </a:br>
            <a:br>
              <a:rPr lang="en-IE" sz="3100" b="1" i="0" u="none" strike="noStrike" kern="1200" cap="none" spc="0" dirty="0">
                <a:uFillTx/>
                <a:cs typeface="Raleway"/>
              </a:rPr>
            </a:br>
            <a:r>
              <a:rPr lang="en-IE" sz="3100" b="1" baseline="0" dirty="0">
                <a:cs typeface="Raleway"/>
              </a:rPr>
              <a:t>Date : </a:t>
            </a:r>
            <a:r>
              <a:rPr lang="en-IE" sz="3100" b="1" dirty="0">
                <a:cs typeface="Raleway"/>
              </a:rPr>
              <a:t>(Week 7)</a:t>
            </a:r>
            <a:br>
              <a:rPr lang="en-IE" sz="3100" b="1" dirty="0">
                <a:cs typeface="Raleway"/>
              </a:rPr>
            </a:br>
            <a:br>
              <a:rPr lang="en-IE" sz="3100" b="1" i="0" u="none" strike="noStrike" kern="1200" cap="none" spc="0" baseline="0" dirty="0">
                <a:uFillTx/>
                <a:cs typeface="Raleway"/>
              </a:rPr>
            </a:br>
            <a:r>
              <a:rPr lang="en-IE" sz="3100" b="1" dirty="0">
                <a:cs typeface="Raleway"/>
              </a:rPr>
              <a:t>Lecturer : Aidan Pender</a:t>
            </a:r>
            <a:endParaRPr lang="en-IE" sz="3100" dirty="0"/>
          </a:p>
        </p:txBody>
      </p:sp>
      <p:sp>
        <p:nvSpPr>
          <p:cNvPr id="3" name="Subtitle 2">
            <a:extLst>
              <a:ext uri="{FF2B5EF4-FFF2-40B4-BE49-F238E27FC236}">
                <a16:creationId xmlns:a16="http://schemas.microsoft.com/office/drawing/2014/main" id="{E2316965-1772-D88D-5631-B63C48BE63D6}"/>
              </a:ext>
            </a:extLst>
          </p:cNvPr>
          <p:cNvSpPr>
            <a:spLocks noGrp="1"/>
          </p:cNvSpPr>
          <p:nvPr>
            <p:ph type="subTitle" idx="1"/>
          </p:nvPr>
        </p:nvSpPr>
        <p:spPr>
          <a:xfrm>
            <a:off x="9001364" y="5183888"/>
            <a:ext cx="2352435" cy="945202"/>
          </a:xfrm>
        </p:spPr>
        <p:txBody>
          <a:bodyPr anchor="t">
            <a:normAutofit/>
          </a:bodyPr>
          <a:lstStyle/>
          <a:p>
            <a:pPr algn="l"/>
            <a:r>
              <a:rPr lang="en-GB" sz="2200" b="1" dirty="0">
                <a:solidFill>
                  <a:srgbClr val="FFC000"/>
                </a:solidFill>
              </a:rPr>
              <a:t>          </a:t>
            </a:r>
            <a:endParaRPr lang="en-IE" sz="3600" b="1" dirty="0">
              <a:solidFill>
                <a:srgbClr val="FFC000"/>
              </a:solidFill>
            </a:endParaRPr>
          </a:p>
        </p:txBody>
      </p:sp>
      <p:pic>
        <p:nvPicPr>
          <p:cNvPr id="5" name="Picture 2">
            <a:extLst>
              <a:ext uri="{FF2B5EF4-FFF2-40B4-BE49-F238E27FC236}">
                <a16:creationId xmlns:a16="http://schemas.microsoft.com/office/drawing/2014/main" id="{A956CA8F-4B17-C14B-C929-5B749A9E79D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5624" r="-1" b="8944"/>
          <a:stretch/>
        </p:blipFill>
        <p:spPr bwMode="auto">
          <a:xfrm>
            <a:off x="1530838" y="773869"/>
            <a:ext cx="3031273" cy="258965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Vector background of vibrant colors splashing">
            <a:extLst>
              <a:ext uri="{FF2B5EF4-FFF2-40B4-BE49-F238E27FC236}">
                <a16:creationId xmlns:a16="http://schemas.microsoft.com/office/drawing/2014/main" id="{B0D68CDF-CCD2-A090-06BF-FEA4E2317A33}"/>
              </a:ext>
            </a:extLst>
          </p:cNvPr>
          <p:cNvPicPr>
            <a:picLocks noChangeAspect="1"/>
          </p:cNvPicPr>
          <p:nvPr/>
        </p:nvPicPr>
        <p:blipFill rotWithShape="1">
          <a:blip r:embed="rId5"/>
          <a:srcRect t="17276" r="-1" b="-1"/>
          <a:stretch/>
        </p:blipFill>
        <p:spPr>
          <a:xfrm>
            <a:off x="744661" y="3539436"/>
            <a:ext cx="4603628" cy="2589653"/>
          </a:xfrm>
          <a:prstGeom prst="rect">
            <a:avLst/>
          </a:prstGeom>
        </p:spPr>
      </p:pic>
    </p:spTree>
    <p:extLst>
      <p:ext uri="{BB962C8B-B14F-4D97-AF65-F5344CB8AC3E}">
        <p14:creationId xmlns:p14="http://schemas.microsoft.com/office/powerpoint/2010/main" val="3706566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 name="Rectangle 77">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4"/>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80" name="Picture 79">
            <a:extLst>
              <a:ext uri="{FF2B5EF4-FFF2-40B4-BE49-F238E27FC236}">
                <a16:creationId xmlns:a16="http://schemas.microsoft.com/office/drawing/2014/main" id="{BC526B7A-4801-4FD1-95C8-03AF22629E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8534400" y="0"/>
            <a:ext cx="3654612" cy="4575348"/>
          </a:xfrm>
          <a:prstGeom prst="rect">
            <a:avLst/>
          </a:prstGeom>
        </p:spPr>
      </p:pic>
      <p:sp useBgFill="1">
        <p:nvSpPr>
          <p:cNvPr id="82" name="Rectangle 81">
            <a:extLst>
              <a:ext uri="{FF2B5EF4-FFF2-40B4-BE49-F238E27FC236}">
                <a16:creationId xmlns:a16="http://schemas.microsoft.com/office/drawing/2014/main" id="{4E7CE7A7-0AFD-439B-9765-E708254D9D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84" name="Rectangle 83">
            <a:extLst>
              <a:ext uri="{FF2B5EF4-FFF2-40B4-BE49-F238E27FC236}">
                <a16:creationId xmlns:a16="http://schemas.microsoft.com/office/drawing/2014/main" id="{239CFBC2-8561-4BBF-BDDE-CF7908C98D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86" name="Group 85">
            <a:extLst>
              <a:ext uri="{FF2B5EF4-FFF2-40B4-BE49-F238E27FC236}">
                <a16:creationId xmlns:a16="http://schemas.microsoft.com/office/drawing/2014/main" id="{2AAC8F43-3BD7-44FC-843A-972922AF2B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4881" y="0"/>
            <a:ext cx="7724071" cy="6858000"/>
            <a:chOff x="4464881" y="0"/>
            <a:chExt cx="7724071" cy="6858000"/>
          </a:xfrm>
        </p:grpSpPr>
        <p:pic>
          <p:nvPicPr>
            <p:cNvPr id="87" name="Picture 86">
              <a:extLst>
                <a:ext uri="{FF2B5EF4-FFF2-40B4-BE49-F238E27FC236}">
                  <a16:creationId xmlns:a16="http://schemas.microsoft.com/office/drawing/2014/main" id="{1DE643C6-923A-4762-9462-D589A0AED50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2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88" name="Picture 87">
              <a:extLst>
                <a:ext uri="{FF2B5EF4-FFF2-40B4-BE49-F238E27FC236}">
                  <a16:creationId xmlns:a16="http://schemas.microsoft.com/office/drawing/2014/main" id="{51AB708F-73DA-4CC8-89B1-8EB70ABB3AEC}"/>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alphaModFix amt="10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2" name="Title 1">
            <a:extLst>
              <a:ext uri="{FF2B5EF4-FFF2-40B4-BE49-F238E27FC236}">
                <a16:creationId xmlns:a16="http://schemas.microsoft.com/office/drawing/2014/main" id="{9892E9CC-16E5-D1C1-7B81-E0AD3D08061A}"/>
              </a:ext>
            </a:extLst>
          </p:cNvPr>
          <p:cNvSpPr>
            <a:spLocks noGrp="1"/>
          </p:cNvSpPr>
          <p:nvPr>
            <p:ph type="title"/>
          </p:nvPr>
        </p:nvSpPr>
        <p:spPr>
          <a:xfrm>
            <a:off x="2593848" y="1295400"/>
            <a:ext cx="7010400" cy="2604928"/>
          </a:xfrm>
        </p:spPr>
        <p:txBody>
          <a:bodyPr vert="horz" lIns="91440" tIns="45720" rIns="91440" bIns="45720" rtlCol="0" anchor="b">
            <a:normAutofit/>
          </a:bodyPr>
          <a:lstStyle/>
          <a:p>
            <a:pPr algn="ctr"/>
            <a:r>
              <a:rPr lang="en-US" sz="5200" dirty="0">
                <a:solidFill>
                  <a:srgbClr val="FFFFFF"/>
                </a:solidFill>
              </a:rPr>
              <a:t>  Time Series Analysis and Forecasting</a:t>
            </a:r>
          </a:p>
        </p:txBody>
      </p:sp>
    </p:spTree>
    <p:extLst>
      <p:ext uri="{BB962C8B-B14F-4D97-AF65-F5344CB8AC3E}">
        <p14:creationId xmlns:p14="http://schemas.microsoft.com/office/powerpoint/2010/main" val="1894859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9A895-72E6-CA4A-8749-2455AF62CC40}"/>
              </a:ext>
            </a:extLst>
          </p:cNvPr>
          <p:cNvSpPr>
            <a:spLocks noGrp="1"/>
          </p:cNvSpPr>
          <p:nvPr>
            <p:ph type="title"/>
          </p:nvPr>
        </p:nvSpPr>
        <p:spPr/>
        <p:txBody>
          <a:bodyPr/>
          <a:lstStyle/>
          <a:p>
            <a:r>
              <a:rPr lang="en-GB" dirty="0"/>
              <a:t>What is Time Series Analysis / Forecasting</a:t>
            </a:r>
            <a:endParaRPr lang="en-IE" dirty="0"/>
          </a:p>
        </p:txBody>
      </p:sp>
      <p:sp>
        <p:nvSpPr>
          <p:cNvPr id="3" name="Content Placeholder 2">
            <a:extLst>
              <a:ext uri="{FF2B5EF4-FFF2-40B4-BE49-F238E27FC236}">
                <a16:creationId xmlns:a16="http://schemas.microsoft.com/office/drawing/2014/main" id="{C1A703CD-0DBB-DE6B-F3BF-446ADE1E6E93}"/>
              </a:ext>
            </a:extLst>
          </p:cNvPr>
          <p:cNvSpPr>
            <a:spLocks noGrp="1"/>
          </p:cNvSpPr>
          <p:nvPr>
            <p:ph idx="1"/>
          </p:nvPr>
        </p:nvSpPr>
        <p:spPr/>
        <p:txBody>
          <a:bodyPr/>
          <a:lstStyle/>
          <a:p>
            <a:pPr>
              <a:buNone/>
            </a:pPr>
            <a:r>
              <a:rPr lang="en-GB" b="1" dirty="0"/>
              <a:t>👀 What is a Time Series?</a:t>
            </a:r>
          </a:p>
          <a:p>
            <a:pPr>
              <a:buNone/>
            </a:pPr>
            <a:r>
              <a:rPr lang="en-GB" dirty="0"/>
              <a:t>A </a:t>
            </a:r>
            <a:r>
              <a:rPr lang="en-GB" b="1" dirty="0"/>
              <a:t>time series</a:t>
            </a:r>
            <a:r>
              <a:rPr lang="en-GB" dirty="0"/>
              <a:t> is just a list of numbers that were </a:t>
            </a:r>
            <a:r>
              <a:rPr lang="en-GB" b="1" dirty="0"/>
              <a:t>measured over time</a:t>
            </a:r>
            <a:r>
              <a:rPr lang="en-GB" dirty="0"/>
              <a:t>.</a:t>
            </a:r>
          </a:p>
          <a:p>
            <a:r>
              <a:rPr lang="en-GB" dirty="0"/>
              <a:t>📅 Example: Let’s say you write down how many cups of coffee you drink each day:</a:t>
            </a:r>
          </a:p>
          <a:p>
            <a:endParaRPr lang="en-IE" dirty="0"/>
          </a:p>
        </p:txBody>
      </p:sp>
    </p:spTree>
    <p:extLst>
      <p:ext uri="{BB962C8B-B14F-4D97-AF65-F5344CB8AC3E}">
        <p14:creationId xmlns:p14="http://schemas.microsoft.com/office/powerpoint/2010/main" val="1037667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0A720-AD2A-D103-263C-75520B7C9992}"/>
              </a:ext>
            </a:extLst>
          </p:cNvPr>
          <p:cNvSpPr>
            <a:spLocks noGrp="1"/>
          </p:cNvSpPr>
          <p:nvPr>
            <p:ph type="title"/>
          </p:nvPr>
        </p:nvSpPr>
        <p:spPr/>
        <p:txBody>
          <a:bodyPr/>
          <a:lstStyle/>
          <a:p>
            <a:r>
              <a:rPr lang="en-GB" dirty="0"/>
              <a:t>What is Time Series Analysis / Forecasting</a:t>
            </a:r>
            <a:endParaRPr lang="en-IE" dirty="0"/>
          </a:p>
        </p:txBody>
      </p:sp>
      <p:pic>
        <p:nvPicPr>
          <p:cNvPr id="11" name="Content Placeholder 10">
            <a:extLst>
              <a:ext uri="{FF2B5EF4-FFF2-40B4-BE49-F238E27FC236}">
                <a16:creationId xmlns:a16="http://schemas.microsoft.com/office/drawing/2014/main" id="{0AE83875-173E-86BC-A253-F7C7468B1B46}"/>
              </a:ext>
            </a:extLst>
          </p:cNvPr>
          <p:cNvPicPr>
            <a:picLocks noGrp="1" noChangeAspect="1"/>
          </p:cNvPicPr>
          <p:nvPr>
            <p:ph idx="1"/>
          </p:nvPr>
        </p:nvPicPr>
        <p:blipFill>
          <a:blip r:embed="rId2"/>
          <a:stretch>
            <a:fillRect/>
          </a:stretch>
        </p:blipFill>
        <p:spPr>
          <a:xfrm>
            <a:off x="838200" y="1691323"/>
            <a:ext cx="8915400" cy="4950990"/>
          </a:xfrm>
        </p:spPr>
      </p:pic>
    </p:spTree>
    <p:extLst>
      <p:ext uri="{BB962C8B-B14F-4D97-AF65-F5344CB8AC3E}">
        <p14:creationId xmlns:p14="http://schemas.microsoft.com/office/powerpoint/2010/main" val="3729932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CFEEF-4114-FF4A-C910-6E6CC5429056}"/>
              </a:ext>
            </a:extLst>
          </p:cNvPr>
          <p:cNvSpPr>
            <a:spLocks noGrp="1"/>
          </p:cNvSpPr>
          <p:nvPr>
            <p:ph type="title"/>
          </p:nvPr>
        </p:nvSpPr>
        <p:spPr/>
        <p:txBody>
          <a:bodyPr/>
          <a:lstStyle/>
          <a:p>
            <a:r>
              <a:rPr lang="en-GB" dirty="0"/>
              <a:t>What is Time Series Analysis / Forecasting</a:t>
            </a:r>
            <a:endParaRPr lang="en-IE" dirty="0"/>
          </a:p>
        </p:txBody>
      </p:sp>
      <p:sp>
        <p:nvSpPr>
          <p:cNvPr id="3" name="Content Placeholder 2">
            <a:extLst>
              <a:ext uri="{FF2B5EF4-FFF2-40B4-BE49-F238E27FC236}">
                <a16:creationId xmlns:a16="http://schemas.microsoft.com/office/drawing/2014/main" id="{B6C9EF80-0A0E-F77B-E6B1-B68FECF7C5A7}"/>
              </a:ext>
            </a:extLst>
          </p:cNvPr>
          <p:cNvSpPr>
            <a:spLocks noGrp="1"/>
          </p:cNvSpPr>
          <p:nvPr>
            <p:ph idx="1"/>
          </p:nvPr>
        </p:nvSpPr>
        <p:spPr/>
        <p:txBody>
          <a:bodyPr>
            <a:normAutofit fontScale="92500"/>
          </a:bodyPr>
          <a:lstStyle/>
          <a:p>
            <a:pPr>
              <a:buNone/>
            </a:pPr>
            <a:r>
              <a:rPr lang="en-GB" b="1" dirty="0"/>
              <a:t>🔍 What is Time Series </a:t>
            </a:r>
            <a:r>
              <a:rPr lang="en-GB" b="1" i="1" dirty="0"/>
              <a:t>Analysis</a:t>
            </a:r>
            <a:r>
              <a:rPr lang="en-GB" b="1" dirty="0"/>
              <a:t>?</a:t>
            </a:r>
          </a:p>
          <a:p>
            <a:pPr>
              <a:buNone/>
            </a:pPr>
            <a:r>
              <a:rPr lang="en-GB" b="1" dirty="0"/>
              <a:t>Time Series Analysis</a:t>
            </a:r>
            <a:r>
              <a:rPr lang="en-GB" dirty="0"/>
              <a:t> means looking at those numbers to find patterns.</a:t>
            </a:r>
          </a:p>
          <a:p>
            <a:pPr>
              <a:buNone/>
            </a:pPr>
            <a:r>
              <a:rPr lang="en-GB" b="1" dirty="0"/>
              <a:t>Some questions we might ask:</a:t>
            </a:r>
          </a:p>
          <a:p>
            <a:pPr>
              <a:buFont typeface="Arial" panose="020B0604020202020204" pitchFamily="34" charset="0"/>
              <a:buChar char="•"/>
            </a:pPr>
            <a:r>
              <a:rPr lang="en-GB" dirty="0"/>
              <a:t>📈 Are the numbers going up or down over time? (</a:t>
            </a:r>
            <a:r>
              <a:rPr lang="en-GB" b="1" dirty="0"/>
              <a:t>Trend</a:t>
            </a:r>
            <a:r>
              <a:rPr lang="en-GB" dirty="0"/>
              <a:t>)</a:t>
            </a:r>
          </a:p>
          <a:p>
            <a:pPr>
              <a:buFont typeface="Arial" panose="020B0604020202020204" pitchFamily="34" charset="0"/>
              <a:buChar char="•"/>
            </a:pPr>
            <a:r>
              <a:rPr lang="en-GB" dirty="0"/>
              <a:t>🔁 Is there a pattern that repeats every week or month? (</a:t>
            </a:r>
            <a:r>
              <a:rPr lang="en-GB" b="1" dirty="0"/>
              <a:t>Seasonality</a:t>
            </a:r>
            <a:r>
              <a:rPr lang="en-GB" dirty="0"/>
              <a:t>)</a:t>
            </a:r>
          </a:p>
          <a:p>
            <a:pPr>
              <a:buFont typeface="Arial" panose="020B0604020202020204" pitchFamily="34" charset="0"/>
              <a:buChar char="•"/>
            </a:pPr>
            <a:r>
              <a:rPr lang="en-GB" dirty="0"/>
              <a:t>❓ Are there any weird changes we didn’t expect? (</a:t>
            </a:r>
            <a:r>
              <a:rPr lang="en-GB" b="1" dirty="0"/>
              <a:t>Noise or outliers</a:t>
            </a:r>
            <a:r>
              <a:rPr lang="en-GB" dirty="0"/>
              <a:t>)</a:t>
            </a:r>
          </a:p>
          <a:p>
            <a:endParaRPr lang="en-IE" dirty="0"/>
          </a:p>
        </p:txBody>
      </p:sp>
    </p:spTree>
    <p:extLst>
      <p:ext uri="{BB962C8B-B14F-4D97-AF65-F5344CB8AC3E}">
        <p14:creationId xmlns:p14="http://schemas.microsoft.com/office/powerpoint/2010/main" val="1199631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42D12-A090-B950-994C-06F5A4AD9C2E}"/>
              </a:ext>
            </a:extLst>
          </p:cNvPr>
          <p:cNvSpPr>
            <a:spLocks noGrp="1"/>
          </p:cNvSpPr>
          <p:nvPr>
            <p:ph type="title"/>
          </p:nvPr>
        </p:nvSpPr>
        <p:spPr/>
        <p:txBody>
          <a:bodyPr/>
          <a:lstStyle/>
          <a:p>
            <a:r>
              <a:rPr lang="en-IE" dirty="0"/>
              <a:t>What is Forecasting?</a:t>
            </a:r>
          </a:p>
        </p:txBody>
      </p:sp>
      <p:sp>
        <p:nvSpPr>
          <p:cNvPr id="4" name="Rectangle 1">
            <a:extLst>
              <a:ext uri="{FF2B5EF4-FFF2-40B4-BE49-F238E27FC236}">
                <a16:creationId xmlns:a16="http://schemas.microsoft.com/office/drawing/2014/main" id="{7FB8444E-C01A-4431-E4C7-C6077F44DE78}"/>
              </a:ext>
            </a:extLst>
          </p:cNvPr>
          <p:cNvSpPr>
            <a:spLocks noGrp="1" noChangeArrowheads="1"/>
          </p:cNvSpPr>
          <p:nvPr>
            <p:ph idx="1"/>
          </p:nvPr>
        </p:nvSpPr>
        <p:spPr bwMode="auto">
          <a:xfrm>
            <a:off x="458693" y="3759066"/>
            <a:ext cx="870707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rPr>
              <a:t>Forecasting</a:t>
            </a:r>
            <a:r>
              <a:rPr kumimoji="0" lang="en-US" altLang="en-US" sz="1800" b="0" i="0" u="none" strike="noStrike" cap="none" normalizeH="0" baseline="0">
                <a:ln>
                  <a:noFill/>
                </a:ln>
                <a:solidFill>
                  <a:schemeClr val="tx1"/>
                </a:solidFill>
                <a:effectLst/>
                <a:latin typeface="Arial" panose="020B0604020202020204" pitchFamily="34" charset="0"/>
              </a:rPr>
              <a:t> means </a:t>
            </a:r>
            <a:r>
              <a:rPr kumimoji="0" lang="en-US" altLang="en-US" sz="1800" b="1" i="0" u="none" strike="noStrike" cap="none" normalizeH="0" baseline="0">
                <a:ln>
                  <a:noFill/>
                </a:ln>
                <a:solidFill>
                  <a:schemeClr val="tx1"/>
                </a:solidFill>
                <a:effectLst/>
                <a:latin typeface="Arial" panose="020B0604020202020204" pitchFamily="34" charset="0"/>
              </a:rPr>
              <a:t>guessing what will happen in the future</a:t>
            </a:r>
            <a:r>
              <a:rPr kumimoji="0" lang="en-US" altLang="en-US" sz="1800" b="0" i="0" u="none" strike="noStrike" cap="none" normalizeH="0" baseline="0">
                <a:ln>
                  <a:noFill/>
                </a:ln>
                <a:solidFill>
                  <a:schemeClr val="tx1"/>
                </a:solidFill>
                <a:effectLst/>
                <a:latin typeface="Arial" panose="020B0604020202020204" pitchFamily="34" charset="0"/>
              </a:rPr>
              <a:t> — but using data to make that guess smarter!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It’s like saying: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“If this is what’s happened before, here’s what I think will happen next.”</a:t>
            </a:r>
          </a:p>
        </p:txBody>
      </p:sp>
    </p:spTree>
    <p:extLst>
      <p:ext uri="{BB962C8B-B14F-4D97-AF65-F5344CB8AC3E}">
        <p14:creationId xmlns:p14="http://schemas.microsoft.com/office/powerpoint/2010/main" val="1781182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F6E5F-11C2-E9DE-F128-E7F9B28275AA}"/>
              </a:ext>
            </a:extLst>
          </p:cNvPr>
          <p:cNvSpPr>
            <a:spLocks noGrp="1"/>
          </p:cNvSpPr>
          <p:nvPr>
            <p:ph type="title"/>
          </p:nvPr>
        </p:nvSpPr>
        <p:spPr/>
        <p:txBody>
          <a:bodyPr/>
          <a:lstStyle/>
          <a:p>
            <a:r>
              <a:rPr lang="en-IE" dirty="0"/>
              <a:t>What is Forecasting?</a:t>
            </a:r>
          </a:p>
        </p:txBody>
      </p:sp>
      <p:sp>
        <p:nvSpPr>
          <p:cNvPr id="3" name="Content Placeholder 2">
            <a:extLst>
              <a:ext uri="{FF2B5EF4-FFF2-40B4-BE49-F238E27FC236}">
                <a16:creationId xmlns:a16="http://schemas.microsoft.com/office/drawing/2014/main" id="{F3BAEFB1-590B-81F8-C02B-400F9DFA9A24}"/>
              </a:ext>
            </a:extLst>
          </p:cNvPr>
          <p:cNvSpPr>
            <a:spLocks noGrp="1"/>
          </p:cNvSpPr>
          <p:nvPr>
            <p:ph idx="1"/>
          </p:nvPr>
        </p:nvSpPr>
        <p:spPr/>
        <p:txBody>
          <a:bodyPr/>
          <a:lstStyle/>
          <a:p>
            <a:pPr>
              <a:buNone/>
            </a:pPr>
            <a:r>
              <a:rPr lang="en-GB" b="1" dirty="0"/>
              <a:t>🎯 Everyday Examples:</a:t>
            </a:r>
          </a:p>
          <a:p>
            <a:pPr>
              <a:buFont typeface="Arial" panose="020B0604020202020204" pitchFamily="34" charset="0"/>
              <a:buChar char="•"/>
            </a:pPr>
            <a:r>
              <a:rPr lang="en-GB" dirty="0"/>
              <a:t>🧥 If it’s been cold every morning this week, you might </a:t>
            </a:r>
            <a:r>
              <a:rPr lang="en-GB" b="1" dirty="0"/>
              <a:t>predict</a:t>
            </a:r>
            <a:r>
              <a:rPr lang="en-GB" dirty="0"/>
              <a:t> tomorrow will be cold too.</a:t>
            </a:r>
          </a:p>
          <a:p>
            <a:pPr>
              <a:buFont typeface="Arial" panose="020B0604020202020204" pitchFamily="34" charset="0"/>
              <a:buChar char="•"/>
            </a:pPr>
            <a:r>
              <a:rPr lang="en-GB" dirty="0"/>
              <a:t>🍕 If your pizza shop sells more pizzas every Friday, you might </a:t>
            </a:r>
            <a:r>
              <a:rPr lang="en-GB" b="1" dirty="0"/>
              <a:t>expect</a:t>
            </a:r>
            <a:r>
              <a:rPr lang="en-GB" dirty="0"/>
              <a:t> a big day this Friday too.</a:t>
            </a:r>
          </a:p>
          <a:p>
            <a:pPr>
              <a:buFont typeface="Arial" panose="020B0604020202020204" pitchFamily="34" charset="0"/>
              <a:buChar char="•"/>
            </a:pPr>
            <a:r>
              <a:rPr lang="en-GB" dirty="0"/>
              <a:t>📺 If a YouTube video gets 100 more views every day, you might </a:t>
            </a:r>
            <a:r>
              <a:rPr lang="en-GB" b="1" dirty="0"/>
              <a:t>guess</a:t>
            </a:r>
            <a:r>
              <a:rPr lang="en-GB" dirty="0"/>
              <a:t> it’ll get 700 more views in a week.</a:t>
            </a:r>
          </a:p>
          <a:p>
            <a:endParaRPr lang="en-IE" dirty="0"/>
          </a:p>
        </p:txBody>
      </p:sp>
    </p:spTree>
    <p:extLst>
      <p:ext uri="{BB962C8B-B14F-4D97-AF65-F5344CB8AC3E}">
        <p14:creationId xmlns:p14="http://schemas.microsoft.com/office/powerpoint/2010/main" val="3200239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F65C3-D4FB-DA4D-54EE-1B06FD849869}"/>
              </a:ext>
            </a:extLst>
          </p:cNvPr>
          <p:cNvSpPr>
            <a:spLocks noGrp="1"/>
          </p:cNvSpPr>
          <p:nvPr>
            <p:ph type="title"/>
          </p:nvPr>
        </p:nvSpPr>
        <p:spPr/>
        <p:txBody>
          <a:bodyPr/>
          <a:lstStyle/>
          <a:p>
            <a:r>
              <a:rPr lang="en-IE" dirty="0"/>
              <a:t>What is Forecasting?</a:t>
            </a:r>
          </a:p>
        </p:txBody>
      </p:sp>
      <p:sp>
        <p:nvSpPr>
          <p:cNvPr id="3" name="Content Placeholder 2">
            <a:extLst>
              <a:ext uri="{FF2B5EF4-FFF2-40B4-BE49-F238E27FC236}">
                <a16:creationId xmlns:a16="http://schemas.microsoft.com/office/drawing/2014/main" id="{25C93E54-2504-9BD3-66BF-B502A56DD887}"/>
              </a:ext>
            </a:extLst>
          </p:cNvPr>
          <p:cNvSpPr>
            <a:spLocks noGrp="1"/>
          </p:cNvSpPr>
          <p:nvPr>
            <p:ph idx="1"/>
          </p:nvPr>
        </p:nvSpPr>
        <p:spPr/>
        <p:txBody>
          <a:bodyPr/>
          <a:lstStyle/>
          <a:p>
            <a:pPr>
              <a:buNone/>
            </a:pPr>
            <a:r>
              <a:rPr lang="en-GB" b="1" dirty="0"/>
              <a:t>🧠 So how is that different from guessing?</a:t>
            </a:r>
          </a:p>
          <a:p>
            <a:pPr>
              <a:buNone/>
            </a:pPr>
            <a:r>
              <a:rPr lang="en-GB" dirty="0"/>
              <a:t>The big difference is: ✅ </a:t>
            </a:r>
            <a:r>
              <a:rPr lang="en-GB" b="1" dirty="0"/>
              <a:t>Guessing = random</a:t>
            </a:r>
            <a:br>
              <a:rPr lang="en-GB" dirty="0"/>
            </a:br>
            <a:r>
              <a:rPr lang="en-GB" dirty="0"/>
              <a:t>✅ </a:t>
            </a:r>
            <a:r>
              <a:rPr lang="en-GB" b="1" dirty="0"/>
              <a:t>Forecasting = based on past data</a:t>
            </a:r>
            <a:endParaRPr lang="en-GB" dirty="0"/>
          </a:p>
          <a:p>
            <a:r>
              <a:rPr lang="en-GB" dirty="0"/>
              <a:t>You use </a:t>
            </a:r>
            <a:r>
              <a:rPr lang="en-GB" b="1" dirty="0"/>
              <a:t>past patterns</a:t>
            </a:r>
            <a:r>
              <a:rPr lang="en-GB" dirty="0"/>
              <a:t> to make </a:t>
            </a:r>
            <a:r>
              <a:rPr lang="en-GB" b="1" dirty="0"/>
              <a:t>future predictions</a:t>
            </a:r>
            <a:r>
              <a:rPr lang="en-GB" dirty="0"/>
              <a:t>.</a:t>
            </a:r>
          </a:p>
          <a:p>
            <a:endParaRPr lang="en-IE" dirty="0"/>
          </a:p>
        </p:txBody>
      </p:sp>
    </p:spTree>
    <p:extLst>
      <p:ext uri="{BB962C8B-B14F-4D97-AF65-F5344CB8AC3E}">
        <p14:creationId xmlns:p14="http://schemas.microsoft.com/office/powerpoint/2010/main" val="1786140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919BD-9348-BADC-7DCB-980F4B0EDDB1}"/>
              </a:ext>
            </a:extLst>
          </p:cNvPr>
          <p:cNvSpPr>
            <a:spLocks noGrp="1"/>
          </p:cNvSpPr>
          <p:nvPr>
            <p:ph type="title"/>
          </p:nvPr>
        </p:nvSpPr>
        <p:spPr/>
        <p:txBody>
          <a:bodyPr/>
          <a:lstStyle/>
          <a:p>
            <a:r>
              <a:rPr lang="en-IE" dirty="0"/>
              <a:t>What is Forecasting?</a:t>
            </a:r>
          </a:p>
        </p:txBody>
      </p:sp>
      <p:sp>
        <p:nvSpPr>
          <p:cNvPr id="3" name="Content Placeholder 2">
            <a:extLst>
              <a:ext uri="{FF2B5EF4-FFF2-40B4-BE49-F238E27FC236}">
                <a16:creationId xmlns:a16="http://schemas.microsoft.com/office/drawing/2014/main" id="{165BBC8B-B8C4-48B1-4440-9858024855AE}"/>
              </a:ext>
            </a:extLst>
          </p:cNvPr>
          <p:cNvSpPr>
            <a:spLocks noGrp="1"/>
          </p:cNvSpPr>
          <p:nvPr>
            <p:ph idx="1"/>
          </p:nvPr>
        </p:nvSpPr>
        <p:spPr/>
        <p:txBody>
          <a:bodyPr/>
          <a:lstStyle/>
          <a:p>
            <a:pPr>
              <a:buNone/>
            </a:pPr>
            <a:r>
              <a:rPr lang="en-GB" b="1" dirty="0"/>
              <a:t>🔁 And how is this connected to Time Series?</a:t>
            </a:r>
          </a:p>
          <a:p>
            <a:pPr>
              <a:buNone/>
            </a:pPr>
            <a:r>
              <a:rPr lang="en-GB" dirty="0"/>
              <a:t>Time series = data over time</a:t>
            </a:r>
            <a:br>
              <a:rPr lang="en-GB" dirty="0"/>
            </a:br>
            <a:r>
              <a:rPr lang="en-GB" dirty="0"/>
              <a:t>Forecasting = predicting what comes next in that time series</a:t>
            </a:r>
          </a:p>
          <a:p>
            <a:r>
              <a:rPr lang="en-GB" dirty="0"/>
              <a:t>They go hand in hand! You study what </a:t>
            </a:r>
            <a:r>
              <a:rPr lang="en-GB" i="1" dirty="0"/>
              <a:t>has</a:t>
            </a:r>
            <a:r>
              <a:rPr lang="en-GB" dirty="0"/>
              <a:t> happened, so you can predict what </a:t>
            </a:r>
            <a:r>
              <a:rPr lang="en-GB" i="1" dirty="0"/>
              <a:t>will</a:t>
            </a:r>
            <a:r>
              <a:rPr lang="en-GB" dirty="0"/>
              <a:t> happen.</a:t>
            </a:r>
          </a:p>
          <a:p>
            <a:endParaRPr lang="en-IE" dirty="0"/>
          </a:p>
        </p:txBody>
      </p:sp>
    </p:spTree>
    <p:extLst>
      <p:ext uri="{BB962C8B-B14F-4D97-AF65-F5344CB8AC3E}">
        <p14:creationId xmlns:p14="http://schemas.microsoft.com/office/powerpoint/2010/main" val="847773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9" name="Rectangle 18">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20" name="Group 19">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5" name="Picture 14">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6" name="Picture 15">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4" name="Rectangle 1">
            <a:extLst>
              <a:ext uri="{FF2B5EF4-FFF2-40B4-BE49-F238E27FC236}">
                <a16:creationId xmlns:a16="http://schemas.microsoft.com/office/drawing/2014/main" id="{A7A3167D-03BC-6C51-0AEB-13E13C80CEEE}"/>
              </a:ext>
            </a:extLst>
          </p:cNvPr>
          <p:cNvSpPr>
            <a:spLocks noGrp="1" noChangeArrowheads="1"/>
          </p:cNvSpPr>
          <p:nvPr>
            <p:ph type="title"/>
          </p:nvPr>
        </p:nvSpPr>
        <p:spPr bwMode="auto">
          <a:xfrm>
            <a:off x="838201" y="559813"/>
            <a:ext cx="3352799" cy="557793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spcBef>
                <a:spcPct val="0"/>
              </a:spcBef>
              <a:spcAft>
                <a:spcPct val="0"/>
              </a:spcAft>
              <a:buClrTx/>
              <a:buSzTx/>
              <a:buFontTx/>
              <a:buNone/>
              <a:tabLst/>
            </a:pPr>
            <a:r>
              <a:rPr kumimoji="0" lang="en-US" altLang="en-US" sz="4000" b="0" i="0" u="none" strike="noStrike" cap="none" normalizeH="0" baseline="0" dirty="0">
                <a:ln>
                  <a:noFill/>
                </a:ln>
                <a:effectLst/>
                <a:latin typeface="Söhne"/>
              </a:rPr>
              <a:t>Significance of Time Series Analysis</a:t>
            </a:r>
          </a:p>
          <a:p>
            <a:pPr marL="0" marR="0" lvl="0" indent="0" defTabSz="914400" rtl="0" eaLnBrk="0" fontAlgn="base" latinLnBrk="0" hangingPunct="0">
              <a:spcBef>
                <a:spcPct val="0"/>
              </a:spcBef>
              <a:spcAft>
                <a:spcPct val="0"/>
              </a:spcAft>
              <a:buClrTx/>
              <a:buSzTx/>
              <a:buFontTx/>
              <a:buNone/>
              <a:tabLst/>
            </a:pPr>
            <a:br>
              <a:rPr kumimoji="0" lang="en-US" altLang="en-US" sz="4000" b="0" i="0" u="none" strike="noStrike" cap="none" normalizeH="0" baseline="0" dirty="0">
                <a:ln>
                  <a:noFill/>
                </a:ln>
                <a:effectLst/>
                <a:latin typeface="Söhne"/>
              </a:rPr>
            </a:br>
            <a:endParaRPr kumimoji="0" lang="en-US" altLang="en-US" sz="4000" b="0" i="0" u="none" strike="noStrike" cap="none" normalizeH="0" baseline="0" dirty="0">
              <a:ln>
                <a:noFill/>
              </a:ln>
              <a:effectLst/>
              <a:latin typeface="Arial" panose="020B0604020202020204" pitchFamily="34" charset="0"/>
            </a:endParaRPr>
          </a:p>
        </p:txBody>
      </p:sp>
      <p:graphicFrame>
        <p:nvGraphicFramePr>
          <p:cNvPr id="21" name="Content Placeholder 2">
            <a:extLst>
              <a:ext uri="{FF2B5EF4-FFF2-40B4-BE49-F238E27FC236}">
                <a16:creationId xmlns:a16="http://schemas.microsoft.com/office/drawing/2014/main" id="{FDD09D88-09A9-CE1D-0BC5-3071627A7D50}"/>
              </a:ext>
            </a:extLst>
          </p:cNvPr>
          <p:cNvGraphicFramePr>
            <a:graphicFrameLocks noGrp="1"/>
          </p:cNvGraphicFramePr>
          <p:nvPr>
            <p:ph idx="1"/>
            <p:extLst>
              <p:ext uri="{D42A27DB-BD31-4B8C-83A1-F6EECF244321}">
                <p14:modId xmlns:p14="http://schemas.microsoft.com/office/powerpoint/2010/main" val="685536"/>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518508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4" name="Picture 13">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B55D29A6-60D8-8C9D-52E6-832177549515}"/>
              </a:ext>
            </a:extLst>
          </p:cNvPr>
          <p:cNvSpPr>
            <a:spLocks noGrp="1"/>
          </p:cNvSpPr>
          <p:nvPr>
            <p:ph type="title"/>
          </p:nvPr>
        </p:nvSpPr>
        <p:spPr>
          <a:xfrm>
            <a:off x="838201" y="559813"/>
            <a:ext cx="3352799" cy="5577934"/>
          </a:xfrm>
        </p:spPr>
        <p:txBody>
          <a:bodyPr>
            <a:normAutofit/>
          </a:bodyPr>
          <a:lstStyle/>
          <a:p>
            <a:r>
              <a:rPr kumimoji="0" lang="en-US" altLang="en-US" sz="4000" b="0" i="0" u="none" strike="noStrike" cap="none" normalizeH="0" baseline="0">
                <a:ln>
                  <a:noFill/>
                </a:ln>
                <a:effectLst/>
                <a:latin typeface="Söhne"/>
              </a:rPr>
              <a:t>Significance of Time Series Analysis</a:t>
            </a:r>
            <a:endParaRPr lang="en-IE" sz="4000"/>
          </a:p>
        </p:txBody>
      </p:sp>
      <p:graphicFrame>
        <p:nvGraphicFramePr>
          <p:cNvPr id="5" name="Content Placeholder 2">
            <a:extLst>
              <a:ext uri="{FF2B5EF4-FFF2-40B4-BE49-F238E27FC236}">
                <a16:creationId xmlns:a16="http://schemas.microsoft.com/office/drawing/2014/main" id="{890385FC-BA81-6A97-C509-14E55D603E8D}"/>
              </a:ext>
            </a:extLst>
          </p:cNvPr>
          <p:cNvGraphicFramePr>
            <a:graphicFrameLocks noGrp="1"/>
          </p:cNvGraphicFramePr>
          <p:nvPr>
            <p:ph idx="1"/>
            <p:extLst>
              <p:ext uri="{D42A27DB-BD31-4B8C-83A1-F6EECF244321}">
                <p14:modId xmlns:p14="http://schemas.microsoft.com/office/powerpoint/2010/main" val="2128843056"/>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9218265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4" name="Picture 13">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2AA3955C-9AE7-DDB7-3BB4-F8E1485CD894}"/>
              </a:ext>
            </a:extLst>
          </p:cNvPr>
          <p:cNvSpPr>
            <a:spLocks noGrp="1"/>
          </p:cNvSpPr>
          <p:nvPr>
            <p:ph type="title"/>
          </p:nvPr>
        </p:nvSpPr>
        <p:spPr>
          <a:xfrm>
            <a:off x="838201" y="559813"/>
            <a:ext cx="3352799" cy="5577934"/>
          </a:xfrm>
        </p:spPr>
        <p:txBody>
          <a:bodyPr>
            <a:normAutofit/>
          </a:bodyPr>
          <a:lstStyle/>
          <a:p>
            <a:r>
              <a:rPr kumimoji="0" lang="en-US" altLang="en-US" sz="4000" b="0" i="0" u="none" strike="noStrike" cap="none" normalizeH="0" baseline="0">
                <a:ln>
                  <a:noFill/>
                </a:ln>
                <a:effectLst/>
                <a:latin typeface="Söhne"/>
              </a:rPr>
              <a:t>Significance of Time Series Analysis</a:t>
            </a:r>
            <a:endParaRPr lang="en-IE" sz="4000"/>
          </a:p>
        </p:txBody>
      </p:sp>
      <p:graphicFrame>
        <p:nvGraphicFramePr>
          <p:cNvPr id="5" name="Content Placeholder 2">
            <a:extLst>
              <a:ext uri="{FF2B5EF4-FFF2-40B4-BE49-F238E27FC236}">
                <a16:creationId xmlns:a16="http://schemas.microsoft.com/office/drawing/2014/main" id="{45BA4F61-95D2-7346-2AA5-9BB9F38512E9}"/>
              </a:ext>
            </a:extLst>
          </p:cNvPr>
          <p:cNvGraphicFramePr>
            <a:graphicFrameLocks noGrp="1"/>
          </p:cNvGraphicFramePr>
          <p:nvPr>
            <p:ph idx="1"/>
            <p:extLst>
              <p:ext uri="{D42A27DB-BD31-4B8C-83A1-F6EECF244321}">
                <p14:modId xmlns:p14="http://schemas.microsoft.com/office/powerpoint/2010/main" val="2272449289"/>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4338854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4" name="Picture 13">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8255A2AC-A75D-0561-F883-D7B00134B5CD}"/>
              </a:ext>
            </a:extLst>
          </p:cNvPr>
          <p:cNvSpPr>
            <a:spLocks noGrp="1"/>
          </p:cNvSpPr>
          <p:nvPr>
            <p:ph type="title"/>
          </p:nvPr>
        </p:nvSpPr>
        <p:spPr>
          <a:xfrm>
            <a:off x="838201" y="559813"/>
            <a:ext cx="3352799" cy="5577934"/>
          </a:xfrm>
        </p:spPr>
        <p:txBody>
          <a:bodyPr>
            <a:normAutofit/>
          </a:bodyPr>
          <a:lstStyle/>
          <a:p>
            <a:r>
              <a:rPr kumimoji="0" lang="en-US" altLang="en-US" sz="4000" b="0" i="0" u="none" strike="noStrike" cap="none" normalizeH="0" baseline="0">
                <a:ln>
                  <a:noFill/>
                </a:ln>
                <a:effectLst/>
                <a:latin typeface="Söhne"/>
              </a:rPr>
              <a:t>Significance of Time Series Analysis</a:t>
            </a:r>
            <a:endParaRPr lang="en-IE" sz="4000"/>
          </a:p>
        </p:txBody>
      </p:sp>
      <p:graphicFrame>
        <p:nvGraphicFramePr>
          <p:cNvPr id="5" name="Content Placeholder 2">
            <a:extLst>
              <a:ext uri="{FF2B5EF4-FFF2-40B4-BE49-F238E27FC236}">
                <a16:creationId xmlns:a16="http://schemas.microsoft.com/office/drawing/2014/main" id="{05AE2953-B1E4-5B99-5DF0-63435C8573A6}"/>
              </a:ext>
            </a:extLst>
          </p:cNvPr>
          <p:cNvGraphicFramePr>
            <a:graphicFrameLocks noGrp="1"/>
          </p:cNvGraphicFramePr>
          <p:nvPr>
            <p:ph idx="1"/>
            <p:extLst>
              <p:ext uri="{D42A27DB-BD31-4B8C-83A1-F6EECF244321}">
                <p14:modId xmlns:p14="http://schemas.microsoft.com/office/powerpoint/2010/main" val="3864589345"/>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651803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4" name="Picture 13">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5D529A58-E6DD-6A21-9982-DF4F10BCEDC4}"/>
              </a:ext>
            </a:extLst>
          </p:cNvPr>
          <p:cNvSpPr>
            <a:spLocks noGrp="1"/>
          </p:cNvSpPr>
          <p:nvPr>
            <p:ph type="title"/>
          </p:nvPr>
        </p:nvSpPr>
        <p:spPr>
          <a:xfrm>
            <a:off x="838201" y="559813"/>
            <a:ext cx="3352799" cy="5577934"/>
          </a:xfrm>
        </p:spPr>
        <p:txBody>
          <a:bodyPr>
            <a:normAutofit/>
          </a:bodyPr>
          <a:lstStyle/>
          <a:p>
            <a:r>
              <a:rPr kumimoji="0" lang="en-US" altLang="en-US" sz="4000" b="0" i="0" u="none" strike="noStrike" cap="none" normalizeH="0" baseline="0">
                <a:ln>
                  <a:noFill/>
                </a:ln>
                <a:effectLst/>
                <a:latin typeface="Söhne"/>
              </a:rPr>
              <a:t>Significance of Time Series Analysis</a:t>
            </a:r>
            <a:endParaRPr lang="en-IE" sz="4000"/>
          </a:p>
        </p:txBody>
      </p:sp>
      <p:graphicFrame>
        <p:nvGraphicFramePr>
          <p:cNvPr id="5" name="Content Placeholder 2">
            <a:extLst>
              <a:ext uri="{FF2B5EF4-FFF2-40B4-BE49-F238E27FC236}">
                <a16:creationId xmlns:a16="http://schemas.microsoft.com/office/drawing/2014/main" id="{39403008-7A58-DDBF-87A5-1A85F14ADE82}"/>
              </a:ext>
            </a:extLst>
          </p:cNvPr>
          <p:cNvGraphicFramePr>
            <a:graphicFrameLocks noGrp="1"/>
          </p:cNvGraphicFramePr>
          <p:nvPr>
            <p:ph idx="1"/>
            <p:extLst>
              <p:ext uri="{D42A27DB-BD31-4B8C-83A1-F6EECF244321}">
                <p14:modId xmlns:p14="http://schemas.microsoft.com/office/powerpoint/2010/main" val="1244219374"/>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1556440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7C76A2-EFBB-A962-00DE-CF4246BD2A5D}"/>
              </a:ext>
            </a:extLst>
          </p:cNvPr>
          <p:cNvSpPr>
            <a:spLocks noGrp="1"/>
          </p:cNvSpPr>
          <p:nvPr>
            <p:ph type="title"/>
          </p:nvPr>
        </p:nvSpPr>
        <p:spPr>
          <a:xfrm>
            <a:off x="1143318" y="914400"/>
            <a:ext cx="4952681" cy="5105400"/>
          </a:xfrm>
        </p:spPr>
        <p:txBody>
          <a:bodyPr anchor="ctr">
            <a:normAutofit/>
          </a:bodyPr>
          <a:lstStyle/>
          <a:p>
            <a:r>
              <a:rPr kumimoji="0" lang="en-US" altLang="en-US" b="0" i="0" u="none" strike="noStrike" cap="none" normalizeH="0" baseline="0">
                <a:ln>
                  <a:noFill/>
                </a:ln>
                <a:effectLst/>
                <a:latin typeface="Söhne"/>
              </a:rPr>
              <a:t>Significance of Time Series Analysis</a:t>
            </a:r>
            <a:endParaRPr lang="en-IE" dirty="0"/>
          </a:p>
        </p:txBody>
      </p:sp>
      <p:sp>
        <p:nvSpPr>
          <p:cNvPr id="3" name="Content Placeholder 2">
            <a:extLst>
              <a:ext uri="{FF2B5EF4-FFF2-40B4-BE49-F238E27FC236}">
                <a16:creationId xmlns:a16="http://schemas.microsoft.com/office/drawing/2014/main" id="{7C62A45F-E2F3-F63B-A176-5F10FA07E265}"/>
              </a:ext>
            </a:extLst>
          </p:cNvPr>
          <p:cNvSpPr>
            <a:spLocks noGrp="1"/>
          </p:cNvSpPr>
          <p:nvPr>
            <p:ph idx="1"/>
          </p:nvPr>
        </p:nvSpPr>
        <p:spPr>
          <a:xfrm>
            <a:off x="6324601" y="914400"/>
            <a:ext cx="4800600" cy="5105400"/>
          </a:xfrm>
        </p:spPr>
        <p:txBody>
          <a:bodyPr anchor="ctr">
            <a:normAutofit/>
          </a:bodyPr>
          <a:lstStyle/>
          <a:p>
            <a:r>
              <a:rPr lang="en-GB" sz="1800" b="0" i="0">
                <a:effectLst/>
                <a:latin typeface="Söhne"/>
              </a:rPr>
              <a:t>In essence, Time Series Analysis is a fundamental tool for understanding, predicting, and </a:t>
            </a:r>
            <a:r>
              <a:rPr lang="en-GB" sz="1800">
                <a:latin typeface="Söhne"/>
              </a:rPr>
              <a:t>optimising </a:t>
            </a:r>
            <a:r>
              <a:rPr lang="en-GB" sz="1800" b="0" i="0">
                <a:effectLst/>
                <a:latin typeface="Söhne"/>
              </a:rPr>
              <a:t>processes and systems across a wide range of domains. Its significance continues to grow as organizations seek data-driven insights to gain a competitive edge and make well-informed decisions.</a:t>
            </a:r>
            <a:endParaRPr lang="en-IE" sz="1800"/>
          </a:p>
        </p:txBody>
      </p:sp>
    </p:spTree>
    <p:extLst>
      <p:ext uri="{BB962C8B-B14F-4D97-AF65-F5344CB8AC3E}">
        <p14:creationId xmlns:p14="http://schemas.microsoft.com/office/powerpoint/2010/main" val="14505333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1D0452-5876-195D-D7D9-009951813599}"/>
              </a:ext>
            </a:extLst>
          </p:cNvPr>
          <p:cNvSpPr>
            <a:spLocks noGrp="1"/>
          </p:cNvSpPr>
          <p:nvPr>
            <p:ph type="title"/>
          </p:nvPr>
        </p:nvSpPr>
        <p:spPr>
          <a:xfrm>
            <a:off x="1143318" y="914400"/>
            <a:ext cx="4952681" cy="5105400"/>
          </a:xfrm>
        </p:spPr>
        <p:txBody>
          <a:bodyPr anchor="ctr">
            <a:normAutofit/>
          </a:bodyPr>
          <a:lstStyle/>
          <a:p>
            <a:r>
              <a:rPr lang="en-GB" dirty="0"/>
              <a:t>YouTube / Extra Resources</a:t>
            </a:r>
            <a:endParaRPr lang="en-IE" dirty="0"/>
          </a:p>
        </p:txBody>
      </p:sp>
      <p:sp>
        <p:nvSpPr>
          <p:cNvPr id="3" name="Content Placeholder 2">
            <a:extLst>
              <a:ext uri="{FF2B5EF4-FFF2-40B4-BE49-F238E27FC236}">
                <a16:creationId xmlns:a16="http://schemas.microsoft.com/office/drawing/2014/main" id="{A934EFFD-7358-284A-5953-B16C118FCB4C}"/>
              </a:ext>
            </a:extLst>
          </p:cNvPr>
          <p:cNvSpPr>
            <a:spLocks noGrp="1"/>
          </p:cNvSpPr>
          <p:nvPr>
            <p:ph idx="1"/>
          </p:nvPr>
        </p:nvSpPr>
        <p:spPr>
          <a:xfrm>
            <a:off x="6324601" y="914400"/>
            <a:ext cx="4800600" cy="5105400"/>
          </a:xfrm>
        </p:spPr>
        <p:txBody>
          <a:bodyPr anchor="ctr">
            <a:normAutofit/>
          </a:bodyPr>
          <a:lstStyle/>
          <a:p>
            <a:r>
              <a:rPr lang="en-IE" sz="1800">
                <a:hlinkClick r:id="rId3"/>
              </a:rPr>
              <a:t>https://www.youtube.com/watch?v=GE3JOFwTWVM</a:t>
            </a:r>
            <a:endParaRPr lang="en-IE" sz="1800"/>
          </a:p>
          <a:p>
            <a:r>
              <a:rPr lang="en-IE" sz="1800">
                <a:hlinkClick r:id="rId4"/>
              </a:rPr>
              <a:t>https://www.sigmacomputing.com/resources/learn/what-is-time-series-analysis#:~:text=Time%20series%20analysis%20is%20a,forecasting%20based%20on%20historical%20data</a:t>
            </a:r>
            <a:r>
              <a:rPr lang="en-IE" sz="1800"/>
              <a:t>.</a:t>
            </a:r>
          </a:p>
          <a:p>
            <a:r>
              <a:rPr lang="en-IE" sz="1800">
                <a:hlinkClick r:id="rId5"/>
              </a:rPr>
              <a:t>https://www.investopedia.com/terms/t/timeseries.asp</a:t>
            </a:r>
            <a:endParaRPr lang="en-IE" sz="1800"/>
          </a:p>
          <a:p>
            <a:r>
              <a:rPr lang="en-IE" sz="1800">
                <a:hlinkClick r:id="rId6"/>
              </a:rPr>
              <a:t>https://www.dummies.com/article/technology/information-technology/data-science/big-data/time-series-analysis-in-statistical-analysis-of-big-data-141222/</a:t>
            </a:r>
            <a:endParaRPr lang="en-IE" sz="1800"/>
          </a:p>
          <a:p>
            <a:endParaRPr lang="en-IE" sz="1800"/>
          </a:p>
        </p:txBody>
      </p:sp>
    </p:spTree>
    <p:extLst>
      <p:ext uri="{BB962C8B-B14F-4D97-AF65-F5344CB8AC3E}">
        <p14:creationId xmlns:p14="http://schemas.microsoft.com/office/powerpoint/2010/main" val="1604821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4" name="Group 13">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5" name="Picture 14">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6" name="Picture 15">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4" name="Rectangle 1">
            <a:extLst>
              <a:ext uri="{FF2B5EF4-FFF2-40B4-BE49-F238E27FC236}">
                <a16:creationId xmlns:a16="http://schemas.microsoft.com/office/drawing/2014/main" id="{448A0CA9-31EC-3F55-7051-7B260355843A}"/>
              </a:ext>
            </a:extLst>
          </p:cNvPr>
          <p:cNvSpPr>
            <a:spLocks noGrp="1" noChangeArrowheads="1"/>
          </p:cNvSpPr>
          <p:nvPr>
            <p:ph type="title"/>
          </p:nvPr>
        </p:nvSpPr>
        <p:spPr bwMode="auto">
          <a:xfrm>
            <a:off x="838201" y="559813"/>
            <a:ext cx="3352799" cy="557793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spcBef>
                <a:spcPct val="0"/>
              </a:spcBef>
              <a:spcAft>
                <a:spcPct val="0"/>
              </a:spcAft>
              <a:buClrTx/>
              <a:buSzTx/>
              <a:buFontTx/>
              <a:buNone/>
              <a:tabLst/>
            </a:pPr>
            <a:r>
              <a:rPr kumimoji="0" lang="en-US" altLang="en-US" sz="4000" b="0" i="0" u="none" strike="noStrike" cap="none" normalizeH="0" baseline="0" dirty="0">
                <a:ln>
                  <a:noFill/>
                </a:ln>
                <a:effectLst/>
                <a:latin typeface="Söhne"/>
              </a:rPr>
              <a:t>Objectives of Time Series Forecasting </a:t>
            </a:r>
          </a:p>
          <a:p>
            <a:pPr marL="0" marR="0" lvl="0" indent="0" defTabSz="914400" rtl="0" eaLnBrk="0" fontAlgn="base" latinLnBrk="0" hangingPunct="0">
              <a:spcBef>
                <a:spcPct val="0"/>
              </a:spcBef>
              <a:spcAft>
                <a:spcPct val="0"/>
              </a:spcAft>
              <a:buClrTx/>
              <a:buSzTx/>
              <a:buFontTx/>
              <a:buNone/>
              <a:tabLst/>
            </a:pPr>
            <a:br>
              <a:rPr kumimoji="0" lang="en-US" altLang="en-US" sz="4000" b="0" i="0" u="none" strike="noStrike" cap="none" normalizeH="0" baseline="0" dirty="0">
                <a:ln>
                  <a:noFill/>
                </a:ln>
                <a:effectLst/>
                <a:latin typeface="Söhne"/>
              </a:rPr>
            </a:br>
            <a:endParaRPr kumimoji="0" lang="en-US" altLang="en-US" sz="4000" b="0" i="0" u="none" strike="noStrike" cap="none" normalizeH="0" baseline="0" dirty="0">
              <a:ln>
                <a:noFill/>
              </a:ln>
              <a:effectLst/>
              <a:latin typeface="Arial" panose="020B0604020202020204" pitchFamily="34" charset="0"/>
            </a:endParaRPr>
          </a:p>
        </p:txBody>
      </p:sp>
      <p:graphicFrame>
        <p:nvGraphicFramePr>
          <p:cNvPr id="6" name="Content Placeholder 2">
            <a:extLst>
              <a:ext uri="{FF2B5EF4-FFF2-40B4-BE49-F238E27FC236}">
                <a16:creationId xmlns:a16="http://schemas.microsoft.com/office/drawing/2014/main" id="{BD300DB1-6966-F4E4-CB13-50B158DC8686}"/>
              </a:ext>
            </a:extLst>
          </p:cNvPr>
          <p:cNvGraphicFramePr>
            <a:graphicFrameLocks noGrp="1"/>
          </p:cNvGraphicFramePr>
          <p:nvPr>
            <p:ph idx="1"/>
            <p:extLst>
              <p:ext uri="{D42A27DB-BD31-4B8C-83A1-F6EECF244321}">
                <p14:modId xmlns:p14="http://schemas.microsoft.com/office/powerpoint/2010/main" val="1035121608"/>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092402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4" name="Picture 13">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77C8F272-5D93-1F5F-BF22-F0D82A39CBCC}"/>
              </a:ext>
            </a:extLst>
          </p:cNvPr>
          <p:cNvSpPr>
            <a:spLocks noGrp="1"/>
          </p:cNvSpPr>
          <p:nvPr>
            <p:ph type="title"/>
          </p:nvPr>
        </p:nvSpPr>
        <p:spPr>
          <a:xfrm>
            <a:off x="838201" y="559813"/>
            <a:ext cx="3352799" cy="5577934"/>
          </a:xfrm>
        </p:spPr>
        <p:txBody>
          <a:bodyPr>
            <a:normAutofit/>
          </a:bodyPr>
          <a:lstStyle/>
          <a:p>
            <a:r>
              <a:rPr kumimoji="0" lang="en-US" altLang="en-US" sz="4000" b="0" i="0" u="none" strike="noStrike" cap="none" normalizeH="0" baseline="0">
                <a:ln>
                  <a:noFill/>
                </a:ln>
                <a:effectLst/>
                <a:latin typeface="Söhne"/>
              </a:rPr>
              <a:t>Objectives of Time Series Forecasting </a:t>
            </a:r>
            <a:endParaRPr lang="en-IE" sz="4000"/>
          </a:p>
        </p:txBody>
      </p:sp>
      <p:graphicFrame>
        <p:nvGraphicFramePr>
          <p:cNvPr id="5" name="Content Placeholder 2">
            <a:extLst>
              <a:ext uri="{FF2B5EF4-FFF2-40B4-BE49-F238E27FC236}">
                <a16:creationId xmlns:a16="http://schemas.microsoft.com/office/drawing/2014/main" id="{5ADA7F0F-C680-4D15-C3D1-132FB8E54244}"/>
              </a:ext>
            </a:extLst>
          </p:cNvPr>
          <p:cNvGraphicFramePr>
            <a:graphicFrameLocks noGrp="1"/>
          </p:cNvGraphicFramePr>
          <p:nvPr>
            <p:ph idx="1"/>
            <p:extLst>
              <p:ext uri="{D42A27DB-BD31-4B8C-83A1-F6EECF244321}">
                <p14:modId xmlns:p14="http://schemas.microsoft.com/office/powerpoint/2010/main" val="539894515"/>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859382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4" name="Picture 13">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397F894D-327C-2268-A624-945A6043223F}"/>
              </a:ext>
            </a:extLst>
          </p:cNvPr>
          <p:cNvSpPr>
            <a:spLocks noGrp="1"/>
          </p:cNvSpPr>
          <p:nvPr>
            <p:ph type="title"/>
          </p:nvPr>
        </p:nvSpPr>
        <p:spPr>
          <a:xfrm>
            <a:off x="838201" y="559813"/>
            <a:ext cx="3352799" cy="5577934"/>
          </a:xfrm>
        </p:spPr>
        <p:txBody>
          <a:bodyPr>
            <a:normAutofit/>
          </a:bodyPr>
          <a:lstStyle/>
          <a:p>
            <a:r>
              <a:rPr kumimoji="0" lang="en-US" altLang="en-US" sz="4000" b="0" i="0" u="none" strike="noStrike" cap="none" normalizeH="0" baseline="0">
                <a:ln>
                  <a:noFill/>
                </a:ln>
                <a:effectLst/>
                <a:latin typeface="Söhne"/>
              </a:rPr>
              <a:t>Objectives of Time Series Forecasting </a:t>
            </a:r>
            <a:endParaRPr lang="en-IE" sz="4000"/>
          </a:p>
        </p:txBody>
      </p:sp>
      <p:graphicFrame>
        <p:nvGraphicFramePr>
          <p:cNvPr id="5" name="Content Placeholder 2">
            <a:extLst>
              <a:ext uri="{FF2B5EF4-FFF2-40B4-BE49-F238E27FC236}">
                <a16:creationId xmlns:a16="http://schemas.microsoft.com/office/drawing/2014/main" id="{A8A9F33B-C9B3-6D46-E01C-9333D7B7E2B2}"/>
              </a:ext>
            </a:extLst>
          </p:cNvPr>
          <p:cNvGraphicFramePr>
            <a:graphicFrameLocks noGrp="1"/>
          </p:cNvGraphicFramePr>
          <p:nvPr>
            <p:ph idx="1"/>
            <p:extLst>
              <p:ext uri="{D42A27DB-BD31-4B8C-83A1-F6EECF244321}">
                <p14:modId xmlns:p14="http://schemas.microsoft.com/office/powerpoint/2010/main" val="4130652091"/>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310663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4" name="Picture 13">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245A7CC7-15FB-C177-8FF6-68F7CACDDCD8}"/>
              </a:ext>
            </a:extLst>
          </p:cNvPr>
          <p:cNvSpPr>
            <a:spLocks noGrp="1"/>
          </p:cNvSpPr>
          <p:nvPr>
            <p:ph type="title"/>
          </p:nvPr>
        </p:nvSpPr>
        <p:spPr>
          <a:xfrm>
            <a:off x="838201" y="559813"/>
            <a:ext cx="3352799" cy="5577934"/>
          </a:xfrm>
        </p:spPr>
        <p:txBody>
          <a:bodyPr>
            <a:normAutofit/>
          </a:bodyPr>
          <a:lstStyle/>
          <a:p>
            <a:r>
              <a:rPr kumimoji="0" lang="en-US" altLang="en-US" sz="4000" b="0" i="0" u="none" strike="noStrike" cap="none" normalizeH="0" baseline="0">
                <a:ln>
                  <a:noFill/>
                </a:ln>
                <a:effectLst/>
                <a:latin typeface="Söhne"/>
              </a:rPr>
              <a:t>Objectives of Time Series Forecasting </a:t>
            </a:r>
            <a:endParaRPr lang="en-IE" sz="4000"/>
          </a:p>
        </p:txBody>
      </p:sp>
      <p:graphicFrame>
        <p:nvGraphicFramePr>
          <p:cNvPr id="5" name="Content Placeholder 2">
            <a:extLst>
              <a:ext uri="{FF2B5EF4-FFF2-40B4-BE49-F238E27FC236}">
                <a16:creationId xmlns:a16="http://schemas.microsoft.com/office/drawing/2014/main" id="{AA8C38BE-4645-EB18-36D3-9099759281E8}"/>
              </a:ext>
            </a:extLst>
          </p:cNvPr>
          <p:cNvGraphicFramePr>
            <a:graphicFrameLocks noGrp="1"/>
          </p:cNvGraphicFramePr>
          <p:nvPr>
            <p:ph idx="1"/>
            <p:extLst>
              <p:ext uri="{D42A27DB-BD31-4B8C-83A1-F6EECF244321}">
                <p14:modId xmlns:p14="http://schemas.microsoft.com/office/powerpoint/2010/main" val="2210680847"/>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95359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4" name="Picture 13">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9500242E-290A-C776-83EA-F341118D303A}"/>
              </a:ext>
            </a:extLst>
          </p:cNvPr>
          <p:cNvSpPr>
            <a:spLocks noGrp="1"/>
          </p:cNvSpPr>
          <p:nvPr>
            <p:ph type="title"/>
          </p:nvPr>
        </p:nvSpPr>
        <p:spPr>
          <a:xfrm>
            <a:off x="838201" y="559813"/>
            <a:ext cx="3352799" cy="5577934"/>
          </a:xfrm>
        </p:spPr>
        <p:txBody>
          <a:bodyPr>
            <a:normAutofit/>
          </a:bodyPr>
          <a:lstStyle/>
          <a:p>
            <a:r>
              <a:rPr kumimoji="0" lang="en-US" altLang="en-US" sz="4000" b="0" i="0" u="none" strike="noStrike" cap="none" normalizeH="0" baseline="0">
                <a:ln>
                  <a:noFill/>
                </a:ln>
                <a:effectLst/>
                <a:latin typeface="Söhne"/>
              </a:rPr>
              <a:t>Objectives of Time Series Forecasting </a:t>
            </a:r>
            <a:endParaRPr lang="en-IE" sz="4000"/>
          </a:p>
        </p:txBody>
      </p:sp>
      <p:graphicFrame>
        <p:nvGraphicFramePr>
          <p:cNvPr id="5" name="Content Placeholder 2">
            <a:extLst>
              <a:ext uri="{FF2B5EF4-FFF2-40B4-BE49-F238E27FC236}">
                <a16:creationId xmlns:a16="http://schemas.microsoft.com/office/drawing/2014/main" id="{C90D5B06-50DB-676A-4DD9-0F61CA411DD6}"/>
              </a:ext>
            </a:extLst>
          </p:cNvPr>
          <p:cNvGraphicFramePr>
            <a:graphicFrameLocks noGrp="1"/>
          </p:cNvGraphicFramePr>
          <p:nvPr>
            <p:ph idx="1"/>
            <p:extLst>
              <p:ext uri="{D42A27DB-BD31-4B8C-83A1-F6EECF244321}">
                <p14:modId xmlns:p14="http://schemas.microsoft.com/office/powerpoint/2010/main" val="852055294"/>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762884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3E6B0B-6D96-29EB-788C-061D25B7D29A}"/>
              </a:ext>
            </a:extLst>
          </p:cNvPr>
          <p:cNvSpPr>
            <a:spLocks noGrp="1"/>
          </p:cNvSpPr>
          <p:nvPr>
            <p:ph type="title"/>
          </p:nvPr>
        </p:nvSpPr>
        <p:spPr>
          <a:xfrm>
            <a:off x="1143318" y="914400"/>
            <a:ext cx="4952681" cy="5105400"/>
          </a:xfrm>
        </p:spPr>
        <p:txBody>
          <a:bodyPr anchor="ctr">
            <a:normAutofit/>
          </a:bodyPr>
          <a:lstStyle/>
          <a:p>
            <a:r>
              <a:rPr kumimoji="0" lang="en-US" altLang="en-US" b="0" i="0" u="none" strike="noStrike" cap="none" normalizeH="0" baseline="0">
                <a:ln>
                  <a:noFill/>
                </a:ln>
                <a:effectLst/>
                <a:latin typeface="Söhne"/>
              </a:rPr>
              <a:t>Objectives of Time Series Forecasting </a:t>
            </a:r>
            <a:endParaRPr lang="en-IE" dirty="0"/>
          </a:p>
        </p:txBody>
      </p:sp>
      <p:sp>
        <p:nvSpPr>
          <p:cNvPr id="3" name="Content Placeholder 2">
            <a:extLst>
              <a:ext uri="{FF2B5EF4-FFF2-40B4-BE49-F238E27FC236}">
                <a16:creationId xmlns:a16="http://schemas.microsoft.com/office/drawing/2014/main" id="{9F48C0BC-1F36-4274-5CE0-3DD7D8AF6732}"/>
              </a:ext>
            </a:extLst>
          </p:cNvPr>
          <p:cNvSpPr>
            <a:spLocks noGrp="1"/>
          </p:cNvSpPr>
          <p:nvPr>
            <p:ph idx="1"/>
          </p:nvPr>
        </p:nvSpPr>
        <p:spPr>
          <a:xfrm>
            <a:off x="6324601" y="914400"/>
            <a:ext cx="4800600" cy="5105400"/>
          </a:xfrm>
        </p:spPr>
        <p:txBody>
          <a:bodyPr anchor="ctr">
            <a:normAutofit/>
          </a:bodyPr>
          <a:lstStyle/>
          <a:p>
            <a:r>
              <a:rPr lang="en-GB" sz="1800" b="0" i="0">
                <a:effectLst/>
                <a:latin typeface="Söhne"/>
              </a:rPr>
              <a:t>In summary, the primary objectives of time series forecasting are to predict future values, understand patterns, validate models, assess risks, allocate resources efficiently, support decision-making, track performance, inform policies, analyse markets, and optimize resource utilization. These objectives are essential in various industries and domains where historical data has a time component.</a:t>
            </a:r>
            <a:endParaRPr lang="en-IE" sz="1800"/>
          </a:p>
        </p:txBody>
      </p:sp>
    </p:spTree>
    <p:extLst>
      <p:ext uri="{BB962C8B-B14F-4D97-AF65-F5344CB8AC3E}">
        <p14:creationId xmlns:p14="http://schemas.microsoft.com/office/powerpoint/2010/main" val="9157577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2267D5-6D9E-45BF-43AF-0D63F81ABD0F}"/>
              </a:ext>
            </a:extLst>
          </p:cNvPr>
          <p:cNvSpPr>
            <a:spLocks noGrp="1"/>
          </p:cNvSpPr>
          <p:nvPr>
            <p:ph type="title"/>
          </p:nvPr>
        </p:nvSpPr>
        <p:spPr>
          <a:xfrm>
            <a:off x="1143318" y="914400"/>
            <a:ext cx="4952681" cy="5105400"/>
          </a:xfrm>
        </p:spPr>
        <p:txBody>
          <a:bodyPr anchor="ctr">
            <a:normAutofit/>
          </a:bodyPr>
          <a:lstStyle/>
          <a:p>
            <a:r>
              <a:rPr lang="en-GB" dirty="0"/>
              <a:t>Extra Resources 	</a:t>
            </a:r>
            <a:endParaRPr lang="en-IE" dirty="0"/>
          </a:p>
        </p:txBody>
      </p:sp>
      <p:sp>
        <p:nvSpPr>
          <p:cNvPr id="3" name="Content Placeholder 2">
            <a:extLst>
              <a:ext uri="{FF2B5EF4-FFF2-40B4-BE49-F238E27FC236}">
                <a16:creationId xmlns:a16="http://schemas.microsoft.com/office/drawing/2014/main" id="{5B81EC33-A9BE-940A-AE2A-C7601E1D9902}"/>
              </a:ext>
            </a:extLst>
          </p:cNvPr>
          <p:cNvSpPr>
            <a:spLocks noGrp="1"/>
          </p:cNvSpPr>
          <p:nvPr>
            <p:ph idx="1"/>
          </p:nvPr>
        </p:nvSpPr>
        <p:spPr>
          <a:xfrm>
            <a:off x="6324601" y="914400"/>
            <a:ext cx="4800600" cy="5105400"/>
          </a:xfrm>
        </p:spPr>
        <p:txBody>
          <a:bodyPr anchor="ctr">
            <a:normAutofit/>
          </a:bodyPr>
          <a:lstStyle/>
          <a:p>
            <a:r>
              <a:rPr lang="en-IE" sz="1800">
                <a:hlinkClick r:id="rId3"/>
              </a:rPr>
              <a:t>https://knowledge.dataiku.com/latest/ml-analytics/time-series/concept-objectives.html</a:t>
            </a:r>
            <a:endParaRPr lang="en-IE" sz="1800"/>
          </a:p>
          <a:p>
            <a:r>
              <a:rPr lang="en-IE" sz="1800">
                <a:hlinkClick r:id="rId4"/>
              </a:rPr>
              <a:t>https://www.expressanalytics.com/blog/time-series-analysis/</a:t>
            </a:r>
            <a:endParaRPr lang="en-IE" sz="1800"/>
          </a:p>
          <a:p>
            <a:r>
              <a:rPr lang="en-IE" sz="1800">
                <a:hlinkClick r:id="rId5"/>
              </a:rPr>
              <a:t>https://www.datacamp.com/tutorial/tutorial-time-series-forecasting</a:t>
            </a:r>
            <a:endParaRPr lang="en-IE" sz="1800"/>
          </a:p>
          <a:p>
            <a:endParaRPr lang="en-IE" sz="1800"/>
          </a:p>
        </p:txBody>
      </p:sp>
    </p:spTree>
    <p:extLst>
      <p:ext uri="{BB962C8B-B14F-4D97-AF65-F5344CB8AC3E}">
        <p14:creationId xmlns:p14="http://schemas.microsoft.com/office/powerpoint/2010/main" val="30173725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20" name="Picture 19">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7" name="Rectangle 16">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BF1AD776-80F1-BB63-A6C2-15108F031257}"/>
              </a:ext>
            </a:extLst>
          </p:cNvPr>
          <p:cNvSpPr>
            <a:spLocks noGrp="1" noChangeArrowheads="1"/>
          </p:cNvSpPr>
          <p:nvPr>
            <p:ph type="title"/>
          </p:nvPr>
        </p:nvSpPr>
        <p:spPr bwMode="auto">
          <a:xfrm>
            <a:off x="1143318" y="914400"/>
            <a:ext cx="4952681" cy="5105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spcBef>
                <a:spcPct val="0"/>
              </a:spcBef>
              <a:spcAft>
                <a:spcPct val="0"/>
              </a:spcAft>
              <a:buClrTx/>
              <a:buSzTx/>
              <a:buFontTx/>
              <a:buNone/>
              <a:tabLst/>
            </a:pPr>
            <a:r>
              <a:rPr kumimoji="0" lang="en-US" altLang="en-US" b="0" i="0" u="none" strike="noStrike" cap="none" normalizeH="0" baseline="0">
                <a:ln>
                  <a:noFill/>
                </a:ln>
                <a:effectLst/>
                <a:latin typeface="Söhne"/>
              </a:rPr>
              <a:t>Definition of Time Series Data</a:t>
            </a:r>
          </a:p>
          <a:p>
            <a:pPr marL="0" marR="0" lvl="0" indent="0" defTabSz="914400" rtl="0" eaLnBrk="0" fontAlgn="base" latinLnBrk="0" hangingPunct="0">
              <a:spcBef>
                <a:spcPct val="0"/>
              </a:spcBef>
              <a:spcAft>
                <a:spcPct val="0"/>
              </a:spcAft>
              <a:buClrTx/>
              <a:buSzTx/>
              <a:buFontTx/>
              <a:buNone/>
              <a:tabLst/>
            </a:pPr>
            <a:br>
              <a:rPr kumimoji="0" lang="en-US" altLang="en-US" b="0" i="0" u="none" strike="noStrike" cap="none" normalizeH="0" baseline="0">
                <a:ln>
                  <a:noFill/>
                </a:ln>
                <a:effectLst/>
                <a:latin typeface="Söhne"/>
              </a:rPr>
            </a:br>
            <a:endParaRPr kumimoji="0" lang="en-US" altLang="en-US" b="0" i="0" u="none" strike="noStrike" cap="none" normalizeH="0" baseline="0">
              <a:ln>
                <a:noFill/>
              </a:ln>
              <a:effectLst/>
              <a:latin typeface="Arial" panose="020B0604020202020204" pitchFamily="34" charset="0"/>
            </a:endParaRPr>
          </a:p>
        </p:txBody>
      </p:sp>
      <p:sp>
        <p:nvSpPr>
          <p:cNvPr id="3" name="Content Placeholder 2">
            <a:extLst>
              <a:ext uri="{FF2B5EF4-FFF2-40B4-BE49-F238E27FC236}">
                <a16:creationId xmlns:a16="http://schemas.microsoft.com/office/drawing/2014/main" id="{97BEF7B9-EDA8-4C92-E3B0-46BF42564CE6}"/>
              </a:ext>
            </a:extLst>
          </p:cNvPr>
          <p:cNvSpPr>
            <a:spLocks noGrp="1"/>
          </p:cNvSpPr>
          <p:nvPr>
            <p:ph idx="1"/>
          </p:nvPr>
        </p:nvSpPr>
        <p:spPr>
          <a:xfrm>
            <a:off x="6324601" y="914400"/>
            <a:ext cx="4800600" cy="5105400"/>
          </a:xfrm>
        </p:spPr>
        <p:txBody>
          <a:bodyPr anchor="ctr">
            <a:normAutofit/>
          </a:bodyPr>
          <a:lstStyle/>
          <a:p>
            <a:r>
              <a:rPr lang="en-GB" sz="1800" b="0" i="0">
                <a:effectLst/>
                <a:latin typeface="Söhne"/>
              </a:rPr>
              <a:t>Time series data refers to a sequence of data points collected, recorded, or measured at successive, equally spaced time intervals. In time series data, each data point corresponds to a specific point in time, making it a valuable resource for understanding how a particular variable or phenomenon changes over time. This type of data is commonly used in various fields, such as economics, finance, weather forecasting, epidemiology, and many other domains where observations or measurements are made over regular time intervals.</a:t>
            </a:r>
          </a:p>
          <a:p>
            <a:r>
              <a:rPr lang="en-GB" sz="1800" b="0" i="0">
                <a:effectLst/>
                <a:latin typeface="Söhne"/>
              </a:rPr>
              <a:t>Characteristics of time series data typically include:</a:t>
            </a:r>
          </a:p>
          <a:p>
            <a:endParaRPr lang="en-IE" sz="1800"/>
          </a:p>
        </p:txBody>
      </p:sp>
    </p:spTree>
    <p:extLst>
      <p:ext uri="{BB962C8B-B14F-4D97-AF65-F5344CB8AC3E}">
        <p14:creationId xmlns:p14="http://schemas.microsoft.com/office/powerpoint/2010/main" val="39999722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7" name="Picture 16">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F74A2E-F59F-1B56-3183-D2C8DA13756A}"/>
              </a:ext>
            </a:extLst>
          </p:cNvPr>
          <p:cNvSpPr>
            <a:spLocks noGrp="1"/>
          </p:cNvSpPr>
          <p:nvPr>
            <p:ph type="title"/>
          </p:nvPr>
        </p:nvSpPr>
        <p:spPr>
          <a:xfrm>
            <a:off x="1143318" y="914400"/>
            <a:ext cx="4952681" cy="5105400"/>
          </a:xfrm>
        </p:spPr>
        <p:txBody>
          <a:bodyPr anchor="ctr">
            <a:normAutofit/>
          </a:bodyPr>
          <a:lstStyle/>
          <a:p>
            <a:r>
              <a:rPr kumimoji="0" lang="en-US" altLang="en-US" b="0" i="0" u="none" strike="noStrike" cap="none" normalizeH="0" baseline="0">
                <a:ln>
                  <a:noFill/>
                </a:ln>
                <a:effectLst/>
                <a:latin typeface="Söhne"/>
              </a:rPr>
              <a:t>Definition of Time Series Data</a:t>
            </a:r>
            <a:endParaRPr lang="en-IE" dirty="0"/>
          </a:p>
        </p:txBody>
      </p:sp>
      <p:sp>
        <p:nvSpPr>
          <p:cNvPr id="3" name="Content Placeholder 2">
            <a:extLst>
              <a:ext uri="{FF2B5EF4-FFF2-40B4-BE49-F238E27FC236}">
                <a16:creationId xmlns:a16="http://schemas.microsoft.com/office/drawing/2014/main" id="{BDF1A6CB-77A0-8F7A-C56D-5B5F98893951}"/>
              </a:ext>
            </a:extLst>
          </p:cNvPr>
          <p:cNvSpPr>
            <a:spLocks noGrp="1"/>
          </p:cNvSpPr>
          <p:nvPr>
            <p:ph idx="1"/>
          </p:nvPr>
        </p:nvSpPr>
        <p:spPr>
          <a:xfrm>
            <a:off x="6324601" y="914400"/>
            <a:ext cx="4800600" cy="5105400"/>
          </a:xfrm>
        </p:spPr>
        <p:txBody>
          <a:bodyPr anchor="ctr">
            <a:normAutofit/>
          </a:bodyPr>
          <a:lstStyle/>
          <a:p>
            <a:pPr>
              <a:buFont typeface="+mj-lt"/>
              <a:buAutoNum type="arabicPeriod"/>
            </a:pPr>
            <a:r>
              <a:rPr lang="en-GB" sz="1800" b="1" i="0">
                <a:effectLst/>
                <a:latin typeface="Söhne"/>
              </a:rPr>
              <a:t>Time Order</a:t>
            </a:r>
            <a:r>
              <a:rPr lang="en-GB" sz="1800" b="0" i="0">
                <a:effectLst/>
                <a:latin typeface="Söhne"/>
              </a:rPr>
              <a:t>: Data points are arranged chronologically, with each observation occurring after the previous one.</a:t>
            </a:r>
          </a:p>
          <a:p>
            <a:pPr>
              <a:buFont typeface="+mj-lt"/>
              <a:buAutoNum type="arabicPeriod"/>
            </a:pPr>
            <a:r>
              <a:rPr lang="en-GB" sz="1800" b="1" i="0">
                <a:effectLst/>
                <a:latin typeface="Söhne"/>
              </a:rPr>
              <a:t>Equally Spaced Intervals</a:t>
            </a:r>
            <a:r>
              <a:rPr lang="en-GB" sz="1800" b="0" i="0">
                <a:effectLst/>
                <a:latin typeface="Söhne"/>
              </a:rPr>
              <a:t>: The time intervals between data points are usually constant. Common examples include daily stock prices, hourly temperature readings, or monthly sales figures.</a:t>
            </a:r>
          </a:p>
          <a:p>
            <a:pPr>
              <a:buFont typeface="+mj-lt"/>
              <a:buAutoNum type="arabicPeriod"/>
            </a:pPr>
            <a:r>
              <a:rPr lang="en-GB" sz="1800" b="1" i="0">
                <a:effectLst/>
                <a:latin typeface="Söhne"/>
              </a:rPr>
              <a:t>Temporal Dependencies</a:t>
            </a:r>
            <a:r>
              <a:rPr lang="en-GB" sz="1800" b="0" i="0">
                <a:effectLst/>
                <a:latin typeface="Söhne"/>
              </a:rPr>
              <a:t>: Data points in time series are often correlated with previous or future observations. This autocorrelation makes time series data unique compared to other types of data.</a:t>
            </a:r>
          </a:p>
          <a:p>
            <a:endParaRPr lang="en-IE" sz="1800"/>
          </a:p>
        </p:txBody>
      </p:sp>
    </p:spTree>
    <p:extLst>
      <p:ext uri="{BB962C8B-B14F-4D97-AF65-F5344CB8AC3E}">
        <p14:creationId xmlns:p14="http://schemas.microsoft.com/office/powerpoint/2010/main" val="29297742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0454D1-FF68-B843-9F42-B4B029A0113A}"/>
              </a:ext>
            </a:extLst>
          </p:cNvPr>
          <p:cNvSpPr>
            <a:spLocks noGrp="1"/>
          </p:cNvSpPr>
          <p:nvPr>
            <p:ph type="title"/>
          </p:nvPr>
        </p:nvSpPr>
        <p:spPr>
          <a:xfrm>
            <a:off x="1143318" y="914400"/>
            <a:ext cx="4952681" cy="5105400"/>
          </a:xfrm>
        </p:spPr>
        <p:txBody>
          <a:bodyPr anchor="ctr">
            <a:normAutofit/>
          </a:bodyPr>
          <a:lstStyle/>
          <a:p>
            <a:r>
              <a:rPr kumimoji="0" lang="en-US" altLang="en-US" b="0" i="0" u="none" strike="noStrike" cap="none" normalizeH="0" baseline="0">
                <a:ln>
                  <a:noFill/>
                </a:ln>
                <a:effectLst/>
                <a:latin typeface="Söhne"/>
              </a:rPr>
              <a:t>Definition of Time Series Data</a:t>
            </a:r>
            <a:endParaRPr lang="en-IE" dirty="0"/>
          </a:p>
        </p:txBody>
      </p:sp>
      <p:sp>
        <p:nvSpPr>
          <p:cNvPr id="3" name="Content Placeholder 2">
            <a:extLst>
              <a:ext uri="{FF2B5EF4-FFF2-40B4-BE49-F238E27FC236}">
                <a16:creationId xmlns:a16="http://schemas.microsoft.com/office/drawing/2014/main" id="{C2F742FA-77D2-B11F-5F8C-0071152FACE1}"/>
              </a:ext>
            </a:extLst>
          </p:cNvPr>
          <p:cNvSpPr>
            <a:spLocks noGrp="1"/>
          </p:cNvSpPr>
          <p:nvPr>
            <p:ph idx="1"/>
          </p:nvPr>
        </p:nvSpPr>
        <p:spPr>
          <a:xfrm>
            <a:off x="6324601" y="914400"/>
            <a:ext cx="4800600" cy="5105400"/>
          </a:xfrm>
        </p:spPr>
        <p:txBody>
          <a:bodyPr anchor="ctr">
            <a:normAutofit/>
          </a:bodyPr>
          <a:lstStyle/>
          <a:p>
            <a:pPr>
              <a:buFont typeface="+mj-lt"/>
              <a:buAutoNum type="arabicPeriod"/>
            </a:pPr>
            <a:r>
              <a:rPr lang="en-GB" sz="1800" b="1" i="0">
                <a:effectLst/>
                <a:latin typeface="Söhne"/>
              </a:rPr>
              <a:t>Trends and Seasonality</a:t>
            </a:r>
            <a:r>
              <a:rPr lang="en-GB" sz="1800" b="0" i="0">
                <a:effectLst/>
                <a:latin typeface="Söhne"/>
              </a:rPr>
              <a:t>: Time series data may exhibit long-term trends, seasonal patterns (regular, repeating fluctuations), and irregular components (noise or random variations).</a:t>
            </a:r>
          </a:p>
          <a:p>
            <a:pPr>
              <a:buFont typeface="+mj-lt"/>
              <a:buAutoNum type="arabicPeriod"/>
            </a:pPr>
            <a:r>
              <a:rPr lang="en-GB" sz="1800" b="1" i="0">
                <a:effectLst/>
                <a:latin typeface="Söhne"/>
              </a:rPr>
              <a:t>Data Points</a:t>
            </a:r>
            <a:r>
              <a:rPr lang="en-GB" sz="1800" b="0" i="0">
                <a:effectLst/>
                <a:latin typeface="Söhne"/>
              </a:rPr>
              <a:t>: Each data point contains two main components: the value of the variable being measured and the corresponding timestamp.</a:t>
            </a:r>
          </a:p>
          <a:p>
            <a:endParaRPr lang="en-IE" sz="1800"/>
          </a:p>
        </p:txBody>
      </p:sp>
    </p:spTree>
    <p:extLst>
      <p:ext uri="{BB962C8B-B14F-4D97-AF65-F5344CB8AC3E}">
        <p14:creationId xmlns:p14="http://schemas.microsoft.com/office/powerpoint/2010/main" val="37781292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E90735E0-CE0A-4DAB-A8DA-5FC6739BFB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0"/>
            <a:ext cx="7724071" cy="6858000"/>
            <a:chOff x="4464881" y="0"/>
            <a:chExt cx="7724071" cy="6858000"/>
          </a:xfrm>
        </p:grpSpPr>
        <p:pic>
          <p:nvPicPr>
            <p:cNvPr id="13" name="Picture 12">
              <a:extLst>
                <a:ext uri="{FF2B5EF4-FFF2-40B4-BE49-F238E27FC236}">
                  <a16:creationId xmlns:a16="http://schemas.microsoft.com/office/drawing/2014/main" id="{997EB623-F40E-4D11-8B7D-2C6C93477B5E}"/>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14" name="Picture 13">
              <a:extLst>
                <a:ext uri="{FF2B5EF4-FFF2-40B4-BE49-F238E27FC236}">
                  <a16:creationId xmlns:a16="http://schemas.microsoft.com/office/drawing/2014/main" id="{09E03346-FEF6-4EAC-BEF4-22AF5A5DA324}"/>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duotone>
                <a:schemeClr val="accent6">
                  <a:shade val="45000"/>
                  <a:satMod val="135000"/>
                </a:schemeClr>
                <a:prstClr val="white"/>
              </a:duotone>
              <a:alphaModFix amt="7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16" name="Rectangle 15">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7F8D07-EDAE-8B59-0956-1D759F403CB2}"/>
              </a:ext>
            </a:extLst>
          </p:cNvPr>
          <p:cNvSpPr>
            <a:spLocks noGrp="1"/>
          </p:cNvSpPr>
          <p:nvPr>
            <p:ph type="title"/>
          </p:nvPr>
        </p:nvSpPr>
        <p:spPr>
          <a:xfrm>
            <a:off x="1143318" y="914400"/>
            <a:ext cx="4952681" cy="5105400"/>
          </a:xfrm>
        </p:spPr>
        <p:txBody>
          <a:bodyPr anchor="ctr">
            <a:normAutofit/>
          </a:bodyPr>
          <a:lstStyle/>
          <a:p>
            <a:r>
              <a:rPr kumimoji="0" lang="en-US" altLang="en-US" b="0" i="0" u="none" strike="noStrike" cap="none" normalizeH="0" baseline="0">
                <a:ln>
                  <a:noFill/>
                </a:ln>
                <a:effectLst/>
                <a:latin typeface="Söhne"/>
              </a:rPr>
              <a:t>Definition of Time Series Data</a:t>
            </a:r>
            <a:endParaRPr lang="en-IE" dirty="0"/>
          </a:p>
        </p:txBody>
      </p:sp>
      <p:sp>
        <p:nvSpPr>
          <p:cNvPr id="3" name="Content Placeholder 2">
            <a:extLst>
              <a:ext uri="{FF2B5EF4-FFF2-40B4-BE49-F238E27FC236}">
                <a16:creationId xmlns:a16="http://schemas.microsoft.com/office/drawing/2014/main" id="{986D3215-9DB6-4AEF-5C7B-B6D2E116EDDC}"/>
              </a:ext>
            </a:extLst>
          </p:cNvPr>
          <p:cNvSpPr>
            <a:spLocks noGrp="1"/>
          </p:cNvSpPr>
          <p:nvPr>
            <p:ph idx="1"/>
          </p:nvPr>
        </p:nvSpPr>
        <p:spPr>
          <a:xfrm>
            <a:off x="6324601" y="914400"/>
            <a:ext cx="4648200" cy="5105400"/>
          </a:xfrm>
        </p:spPr>
        <p:txBody>
          <a:bodyPr anchor="ctr">
            <a:normAutofit/>
          </a:bodyPr>
          <a:lstStyle/>
          <a:p>
            <a:r>
              <a:rPr lang="en-GB" sz="1800" b="0" i="0">
                <a:effectLst/>
                <a:latin typeface="Söhne"/>
              </a:rPr>
              <a:t>Understanding time series data is essential for various analytical tasks, including forecasting future values, identifying patterns and trends, and making data-driven decisions based on historical observations. Time series analysis and modelling techniques are used to uncover valuable insights from this type of data.</a:t>
            </a:r>
            <a:endParaRPr lang="en-IE" sz="1800"/>
          </a:p>
        </p:txBody>
      </p:sp>
    </p:spTree>
    <p:extLst>
      <p:ext uri="{BB962C8B-B14F-4D97-AF65-F5344CB8AC3E}">
        <p14:creationId xmlns:p14="http://schemas.microsoft.com/office/powerpoint/2010/main" val="12584287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4" name="Group 13">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5" name="Picture 14">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6" name="Picture 15">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4" name="Rectangle 1">
            <a:extLst>
              <a:ext uri="{FF2B5EF4-FFF2-40B4-BE49-F238E27FC236}">
                <a16:creationId xmlns:a16="http://schemas.microsoft.com/office/drawing/2014/main" id="{7AF8FD09-0581-F3DA-E2B8-0AC581F9DB6C}"/>
              </a:ext>
            </a:extLst>
          </p:cNvPr>
          <p:cNvSpPr>
            <a:spLocks noGrp="1" noChangeArrowheads="1"/>
          </p:cNvSpPr>
          <p:nvPr>
            <p:ph type="title"/>
          </p:nvPr>
        </p:nvSpPr>
        <p:spPr bwMode="auto">
          <a:xfrm>
            <a:off x="838201" y="559813"/>
            <a:ext cx="3352799" cy="557793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spcBef>
                <a:spcPct val="0"/>
              </a:spcBef>
              <a:spcAft>
                <a:spcPct val="0"/>
              </a:spcAft>
              <a:buClrTx/>
              <a:buSzTx/>
              <a:buFontTx/>
              <a:buNone/>
              <a:tabLst/>
            </a:pPr>
            <a:r>
              <a:rPr kumimoji="0" lang="en-US" altLang="en-US" sz="4000" b="0" i="0" u="none" strike="noStrike" cap="none" normalizeH="0" baseline="0">
                <a:ln>
                  <a:noFill/>
                </a:ln>
                <a:effectLst/>
                <a:latin typeface="Söhne"/>
              </a:rPr>
              <a:t>Characteristics of Time Series Data </a:t>
            </a:r>
          </a:p>
          <a:p>
            <a:pPr marL="0" marR="0" lvl="0" indent="0" defTabSz="914400" rtl="0" eaLnBrk="0" fontAlgn="base" latinLnBrk="0" hangingPunct="0">
              <a:spcBef>
                <a:spcPct val="0"/>
              </a:spcBef>
              <a:spcAft>
                <a:spcPct val="0"/>
              </a:spcAft>
              <a:buClrTx/>
              <a:buSzTx/>
              <a:buFontTx/>
              <a:buNone/>
              <a:tabLst/>
            </a:pPr>
            <a:br>
              <a:rPr kumimoji="0" lang="en-US" altLang="en-US" sz="4000" b="0" i="0" u="none" strike="noStrike" cap="none" normalizeH="0" baseline="0">
                <a:ln>
                  <a:noFill/>
                </a:ln>
                <a:effectLst/>
                <a:latin typeface="Söhne"/>
              </a:rPr>
            </a:br>
            <a:endParaRPr kumimoji="0" lang="en-US" altLang="en-US" sz="4000" b="0" i="0" u="none" strike="noStrike" cap="none" normalizeH="0" baseline="0">
              <a:ln>
                <a:noFill/>
              </a:ln>
              <a:effectLst/>
              <a:latin typeface="Arial" panose="020B0604020202020204" pitchFamily="34" charset="0"/>
            </a:endParaRPr>
          </a:p>
        </p:txBody>
      </p:sp>
      <p:graphicFrame>
        <p:nvGraphicFramePr>
          <p:cNvPr id="6" name="Content Placeholder 2">
            <a:extLst>
              <a:ext uri="{FF2B5EF4-FFF2-40B4-BE49-F238E27FC236}">
                <a16:creationId xmlns:a16="http://schemas.microsoft.com/office/drawing/2014/main" id="{79019BFE-BE9B-0D36-7C7A-324AB2E9C375}"/>
              </a:ext>
            </a:extLst>
          </p:cNvPr>
          <p:cNvGraphicFramePr>
            <a:graphicFrameLocks noGrp="1"/>
          </p:cNvGraphicFramePr>
          <p:nvPr>
            <p:ph idx="1"/>
            <p:extLst>
              <p:ext uri="{D42A27DB-BD31-4B8C-83A1-F6EECF244321}">
                <p14:modId xmlns:p14="http://schemas.microsoft.com/office/powerpoint/2010/main" val="750054027"/>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869395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4" name="Picture 13">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B67A46D5-29B4-1D3E-A4C5-8AAAA7D5B036}"/>
              </a:ext>
            </a:extLst>
          </p:cNvPr>
          <p:cNvSpPr>
            <a:spLocks noGrp="1"/>
          </p:cNvSpPr>
          <p:nvPr>
            <p:ph type="title"/>
          </p:nvPr>
        </p:nvSpPr>
        <p:spPr>
          <a:xfrm>
            <a:off x="838201" y="559813"/>
            <a:ext cx="3352799" cy="5577934"/>
          </a:xfrm>
        </p:spPr>
        <p:txBody>
          <a:bodyPr>
            <a:normAutofit/>
          </a:bodyPr>
          <a:lstStyle/>
          <a:p>
            <a:r>
              <a:rPr kumimoji="0" lang="en-US" altLang="en-US" sz="4000" b="0" i="0" u="none" strike="noStrike" cap="none" normalizeH="0" baseline="0">
                <a:ln>
                  <a:noFill/>
                </a:ln>
                <a:effectLst/>
                <a:latin typeface="Söhne"/>
              </a:rPr>
              <a:t>Characteristics of Time Series Data </a:t>
            </a:r>
            <a:endParaRPr lang="en-IE" sz="4000"/>
          </a:p>
        </p:txBody>
      </p:sp>
      <p:graphicFrame>
        <p:nvGraphicFramePr>
          <p:cNvPr id="5" name="Content Placeholder 2">
            <a:extLst>
              <a:ext uri="{FF2B5EF4-FFF2-40B4-BE49-F238E27FC236}">
                <a16:creationId xmlns:a16="http://schemas.microsoft.com/office/drawing/2014/main" id="{A592D0C7-56B5-43D9-2742-A5624E135FCE}"/>
              </a:ext>
            </a:extLst>
          </p:cNvPr>
          <p:cNvGraphicFramePr>
            <a:graphicFrameLocks noGrp="1"/>
          </p:cNvGraphicFramePr>
          <p:nvPr>
            <p:ph idx="1"/>
            <p:extLst>
              <p:ext uri="{D42A27DB-BD31-4B8C-83A1-F6EECF244321}">
                <p14:modId xmlns:p14="http://schemas.microsoft.com/office/powerpoint/2010/main" val="1393258849"/>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247866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4" name="Picture 13">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041CFB21-C965-3DDB-ADE7-22833AF5DD7F}"/>
              </a:ext>
            </a:extLst>
          </p:cNvPr>
          <p:cNvSpPr>
            <a:spLocks noGrp="1"/>
          </p:cNvSpPr>
          <p:nvPr>
            <p:ph type="title"/>
          </p:nvPr>
        </p:nvSpPr>
        <p:spPr>
          <a:xfrm>
            <a:off x="838201" y="559813"/>
            <a:ext cx="3352799" cy="5577934"/>
          </a:xfrm>
        </p:spPr>
        <p:txBody>
          <a:bodyPr>
            <a:normAutofit/>
          </a:bodyPr>
          <a:lstStyle/>
          <a:p>
            <a:r>
              <a:rPr kumimoji="0" lang="en-US" altLang="en-US" sz="4000" b="0" i="0" u="none" strike="noStrike" cap="none" normalizeH="0" baseline="0">
                <a:ln>
                  <a:noFill/>
                </a:ln>
                <a:effectLst/>
                <a:latin typeface="Söhne"/>
              </a:rPr>
              <a:t>Characteristics of Time Series Data </a:t>
            </a:r>
            <a:endParaRPr lang="en-IE" sz="4000"/>
          </a:p>
        </p:txBody>
      </p:sp>
      <p:graphicFrame>
        <p:nvGraphicFramePr>
          <p:cNvPr id="5" name="Content Placeholder 2">
            <a:extLst>
              <a:ext uri="{FF2B5EF4-FFF2-40B4-BE49-F238E27FC236}">
                <a16:creationId xmlns:a16="http://schemas.microsoft.com/office/drawing/2014/main" id="{AB3A819C-A434-63FD-917B-4C95BCDF4C07}"/>
              </a:ext>
            </a:extLst>
          </p:cNvPr>
          <p:cNvGraphicFramePr>
            <a:graphicFrameLocks noGrp="1"/>
          </p:cNvGraphicFramePr>
          <p:nvPr>
            <p:ph idx="1"/>
            <p:extLst>
              <p:ext uri="{D42A27DB-BD31-4B8C-83A1-F6EECF244321}">
                <p14:modId xmlns:p14="http://schemas.microsoft.com/office/powerpoint/2010/main" val="3307045356"/>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08768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4" name="Picture 13">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5659F22C-E6AC-81B7-2F1F-18F52504ED55}"/>
              </a:ext>
            </a:extLst>
          </p:cNvPr>
          <p:cNvSpPr>
            <a:spLocks noGrp="1"/>
          </p:cNvSpPr>
          <p:nvPr>
            <p:ph type="title"/>
          </p:nvPr>
        </p:nvSpPr>
        <p:spPr>
          <a:xfrm>
            <a:off x="838201" y="559813"/>
            <a:ext cx="3352799" cy="5577934"/>
          </a:xfrm>
        </p:spPr>
        <p:txBody>
          <a:bodyPr>
            <a:normAutofit/>
          </a:bodyPr>
          <a:lstStyle/>
          <a:p>
            <a:r>
              <a:rPr kumimoji="0" lang="en-US" altLang="en-US" sz="4000" b="0" i="0" u="none" strike="noStrike" cap="none" normalizeH="0" baseline="0">
                <a:ln>
                  <a:noFill/>
                </a:ln>
                <a:effectLst/>
                <a:latin typeface="Söhne"/>
              </a:rPr>
              <a:t>Characteristics of Time Series Data </a:t>
            </a:r>
            <a:endParaRPr lang="en-IE" sz="4000"/>
          </a:p>
        </p:txBody>
      </p:sp>
      <p:graphicFrame>
        <p:nvGraphicFramePr>
          <p:cNvPr id="5" name="Content Placeholder 2">
            <a:extLst>
              <a:ext uri="{FF2B5EF4-FFF2-40B4-BE49-F238E27FC236}">
                <a16:creationId xmlns:a16="http://schemas.microsoft.com/office/drawing/2014/main" id="{AF086504-A892-8DCE-14B7-EBD14806EA71}"/>
              </a:ext>
            </a:extLst>
          </p:cNvPr>
          <p:cNvGraphicFramePr>
            <a:graphicFrameLocks noGrp="1"/>
          </p:cNvGraphicFramePr>
          <p:nvPr>
            <p:ph idx="1"/>
            <p:extLst>
              <p:ext uri="{D42A27DB-BD31-4B8C-83A1-F6EECF244321}">
                <p14:modId xmlns:p14="http://schemas.microsoft.com/office/powerpoint/2010/main" val="651923835"/>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454018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4FB2F27-3F7D-440E-A905-86607A926A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AF678C14-A033-4139-BCA9-8382B03964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C2D5331B-6E57-4C50-8FBB-4317812889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C323C66D-9FA6-FA9F-29E9-3D57C7FC239A}"/>
              </a:ext>
            </a:extLst>
          </p:cNvPr>
          <p:cNvSpPr>
            <a:spLocks noGrp="1"/>
          </p:cNvSpPr>
          <p:nvPr>
            <p:ph type="title"/>
          </p:nvPr>
        </p:nvSpPr>
        <p:spPr>
          <a:xfrm>
            <a:off x="6400800" y="461339"/>
            <a:ext cx="5332506" cy="2831136"/>
          </a:xfrm>
        </p:spPr>
        <p:txBody>
          <a:bodyPr>
            <a:normAutofit/>
          </a:bodyPr>
          <a:lstStyle/>
          <a:p>
            <a:r>
              <a:rPr kumimoji="0" lang="en-US" altLang="en-US" b="0" i="0" u="none" strike="noStrike" cap="none" normalizeH="0" baseline="0">
                <a:ln>
                  <a:noFill/>
                </a:ln>
                <a:solidFill>
                  <a:srgbClr val="FFFFFF"/>
                </a:solidFill>
                <a:effectLst/>
                <a:latin typeface="Söhne"/>
              </a:rPr>
              <a:t>Characteristics of Time Series Data </a:t>
            </a:r>
            <a:endParaRPr lang="en-IE">
              <a:solidFill>
                <a:srgbClr val="FFFFFF"/>
              </a:solidFill>
            </a:endParaRPr>
          </a:p>
        </p:txBody>
      </p:sp>
      <p:pic>
        <p:nvPicPr>
          <p:cNvPr id="5" name="Picture 4" descr="Graph on document with pen">
            <a:extLst>
              <a:ext uri="{FF2B5EF4-FFF2-40B4-BE49-F238E27FC236}">
                <a16:creationId xmlns:a16="http://schemas.microsoft.com/office/drawing/2014/main" id="{CED1A3E7-414E-9FCC-E6F4-5EDAC63C8D7E}"/>
              </a:ext>
            </a:extLst>
          </p:cNvPr>
          <p:cNvPicPr>
            <a:picLocks noChangeAspect="1"/>
          </p:cNvPicPr>
          <p:nvPr/>
        </p:nvPicPr>
        <p:blipFill rotWithShape="1">
          <a:blip r:embed="rId2"/>
          <a:srcRect l="27730" r="14007" b="-1"/>
          <a:stretch/>
        </p:blipFill>
        <p:spPr>
          <a:xfrm>
            <a:off x="-1" y="10"/>
            <a:ext cx="5985983" cy="6857990"/>
          </a:xfrm>
          <a:prstGeom prst="rect">
            <a:avLst/>
          </a:prstGeom>
        </p:spPr>
      </p:pic>
      <p:grpSp>
        <p:nvGrpSpPr>
          <p:cNvPr id="15" name="Group 14">
            <a:extLst>
              <a:ext uri="{FF2B5EF4-FFF2-40B4-BE49-F238E27FC236}">
                <a16:creationId xmlns:a16="http://schemas.microsoft.com/office/drawing/2014/main" id="{E4A40E9D-B0FA-4A78-B58C-87A64C4FD5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8727783" y="5080"/>
            <a:ext cx="3464215" cy="4598234"/>
            <a:chOff x="8059620" y="41922"/>
            <a:chExt cx="3997615" cy="6816077"/>
          </a:xfrm>
        </p:grpSpPr>
        <p:pic>
          <p:nvPicPr>
            <p:cNvPr id="16" name="Picture 15">
              <a:extLst>
                <a:ext uri="{FF2B5EF4-FFF2-40B4-BE49-F238E27FC236}">
                  <a16:creationId xmlns:a16="http://schemas.microsoft.com/office/drawing/2014/main" id="{5CEBF341-3BD6-4B3B-9B47-1FCC74EB708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alphaModFix amt="5000"/>
              <a:extLst>
                <a:ext uri="{28A0092B-C50C-407E-A947-70E740481C1C}">
                  <a14:useLocalDpi xmlns:a14="http://schemas.microsoft.com/office/drawing/2010/main" val="0"/>
                </a:ext>
              </a:extLst>
            </a:blip>
            <a:srcRect l="22818" b="17291"/>
            <a:stretch/>
          </p:blipFill>
          <p:spPr>
            <a:xfrm flipH="1">
              <a:off x="8059620" y="1345934"/>
              <a:ext cx="3997615" cy="5512065"/>
            </a:xfrm>
            <a:prstGeom prst="rect">
              <a:avLst/>
            </a:prstGeom>
          </p:spPr>
        </p:pic>
        <p:pic>
          <p:nvPicPr>
            <p:cNvPr id="17" name="Picture 16">
              <a:extLst>
                <a:ext uri="{FF2B5EF4-FFF2-40B4-BE49-F238E27FC236}">
                  <a16:creationId xmlns:a16="http://schemas.microsoft.com/office/drawing/2014/main" id="{3078DAA6-6247-4C19-B6CD-81D79702EC37}"/>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alphaModFix amt="5000"/>
              <a:extLst>
                <a:ext uri="{28A0092B-C50C-407E-A947-70E740481C1C}">
                  <a14:useLocalDpi xmlns:a14="http://schemas.microsoft.com/office/drawing/2010/main" val="0"/>
                </a:ext>
              </a:extLst>
            </a:blip>
            <a:srcRect r="40690"/>
            <a:stretch/>
          </p:blipFill>
          <p:spPr>
            <a:xfrm>
              <a:off x="8915400" y="41922"/>
              <a:ext cx="3141835" cy="6816077"/>
            </a:xfrm>
            <a:prstGeom prst="rect">
              <a:avLst/>
            </a:prstGeom>
          </p:spPr>
        </p:pic>
      </p:grpSp>
      <p:sp>
        <p:nvSpPr>
          <p:cNvPr id="3" name="Content Placeholder 2">
            <a:extLst>
              <a:ext uri="{FF2B5EF4-FFF2-40B4-BE49-F238E27FC236}">
                <a16:creationId xmlns:a16="http://schemas.microsoft.com/office/drawing/2014/main" id="{A2FABB0E-394E-EBAD-4732-2027D789D659}"/>
              </a:ext>
            </a:extLst>
          </p:cNvPr>
          <p:cNvSpPr>
            <a:spLocks noGrp="1"/>
          </p:cNvSpPr>
          <p:nvPr>
            <p:ph idx="1"/>
          </p:nvPr>
        </p:nvSpPr>
        <p:spPr>
          <a:xfrm>
            <a:off x="6400812" y="3429000"/>
            <a:ext cx="5332164" cy="2585613"/>
          </a:xfrm>
        </p:spPr>
        <p:txBody>
          <a:bodyPr>
            <a:normAutofit/>
          </a:bodyPr>
          <a:lstStyle/>
          <a:p>
            <a:r>
              <a:rPr lang="en-GB" sz="1800" b="0" i="0">
                <a:solidFill>
                  <a:srgbClr val="FFFFFF"/>
                </a:solidFill>
                <a:effectLst/>
                <a:latin typeface="Söhne"/>
              </a:rPr>
              <a:t>Understanding these characteristics is essential for conducting time series analysis and modeling. Various statistical and machine learning techniques are employed to extract valuable information, identify patterns, and make forecasts based on the specific characteristics of the time series data.</a:t>
            </a:r>
            <a:endParaRPr lang="en-IE" sz="1800">
              <a:solidFill>
                <a:srgbClr val="FFFFFF"/>
              </a:solidFill>
            </a:endParaRPr>
          </a:p>
        </p:txBody>
      </p:sp>
    </p:spTree>
    <p:extLst>
      <p:ext uri="{BB962C8B-B14F-4D97-AF65-F5344CB8AC3E}">
        <p14:creationId xmlns:p14="http://schemas.microsoft.com/office/powerpoint/2010/main" val="37631123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20" name="Rectangle 19">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21" name="Group 20">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4" name="Picture 13">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22" name="Picture 21">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6ECC26CB-516D-2CF7-9A02-7CA7C371677F}"/>
              </a:ext>
            </a:extLst>
          </p:cNvPr>
          <p:cNvSpPr>
            <a:spLocks noGrp="1"/>
          </p:cNvSpPr>
          <p:nvPr>
            <p:ph type="title"/>
          </p:nvPr>
        </p:nvSpPr>
        <p:spPr>
          <a:xfrm>
            <a:off x="838201" y="559813"/>
            <a:ext cx="3352799" cy="5577934"/>
          </a:xfrm>
        </p:spPr>
        <p:txBody>
          <a:bodyPr>
            <a:normAutofit/>
          </a:bodyPr>
          <a:lstStyle/>
          <a:p>
            <a:r>
              <a:rPr lang="en-GB" sz="4000" b="0" i="0">
                <a:effectLst/>
                <a:latin typeface="Söhne"/>
              </a:rPr>
              <a:t>Types of Time Series Data (e.g., univariate and multivariate)</a:t>
            </a:r>
            <a:br>
              <a:rPr lang="en-GB" sz="4000" b="0" i="0">
                <a:effectLst/>
                <a:latin typeface="Söhne"/>
              </a:rPr>
            </a:br>
            <a:br>
              <a:rPr lang="en-GB" sz="4000"/>
            </a:br>
            <a:endParaRPr lang="en-IE" sz="4000"/>
          </a:p>
        </p:txBody>
      </p:sp>
      <p:graphicFrame>
        <p:nvGraphicFramePr>
          <p:cNvPr id="23" name="Content Placeholder 2">
            <a:extLst>
              <a:ext uri="{FF2B5EF4-FFF2-40B4-BE49-F238E27FC236}">
                <a16:creationId xmlns:a16="http://schemas.microsoft.com/office/drawing/2014/main" id="{CC0E1704-7B10-88BB-976B-3A2331AEECC7}"/>
              </a:ext>
            </a:extLst>
          </p:cNvPr>
          <p:cNvGraphicFramePr>
            <a:graphicFrameLocks noGrp="1"/>
          </p:cNvGraphicFramePr>
          <p:nvPr>
            <p:ph idx="1"/>
            <p:extLst>
              <p:ext uri="{D42A27DB-BD31-4B8C-83A1-F6EECF244321}">
                <p14:modId xmlns:p14="http://schemas.microsoft.com/office/powerpoint/2010/main" val="4186455725"/>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781880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4" name="Picture 13">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87AE6602-D4A2-78B6-10D4-76AC57A5C19B}"/>
              </a:ext>
            </a:extLst>
          </p:cNvPr>
          <p:cNvSpPr>
            <a:spLocks noGrp="1"/>
          </p:cNvSpPr>
          <p:nvPr>
            <p:ph type="title"/>
          </p:nvPr>
        </p:nvSpPr>
        <p:spPr>
          <a:xfrm>
            <a:off x="838201" y="559813"/>
            <a:ext cx="3352799" cy="5577934"/>
          </a:xfrm>
        </p:spPr>
        <p:txBody>
          <a:bodyPr>
            <a:normAutofit/>
          </a:bodyPr>
          <a:lstStyle/>
          <a:p>
            <a:r>
              <a:rPr lang="en-IE" sz="4000" b="1" i="0">
                <a:effectLst/>
                <a:latin typeface="Söhne"/>
              </a:rPr>
              <a:t>Univariate Time Series Data</a:t>
            </a:r>
            <a:r>
              <a:rPr lang="en-IE" sz="4000" b="0" i="0">
                <a:effectLst/>
                <a:latin typeface="Söhne"/>
              </a:rPr>
              <a:t>:</a:t>
            </a:r>
            <a:br>
              <a:rPr lang="en-IE" sz="4000" b="0" i="0">
                <a:effectLst/>
                <a:latin typeface="Söhne"/>
              </a:rPr>
            </a:br>
            <a:br>
              <a:rPr lang="en-IE" sz="4000" b="0" i="0">
                <a:effectLst/>
                <a:latin typeface="Söhne"/>
              </a:rPr>
            </a:br>
            <a:endParaRPr lang="en-IE" sz="4000"/>
          </a:p>
        </p:txBody>
      </p:sp>
      <p:graphicFrame>
        <p:nvGraphicFramePr>
          <p:cNvPr id="5" name="Content Placeholder 2">
            <a:extLst>
              <a:ext uri="{FF2B5EF4-FFF2-40B4-BE49-F238E27FC236}">
                <a16:creationId xmlns:a16="http://schemas.microsoft.com/office/drawing/2014/main" id="{1BC9B9A2-227C-1AE6-3ED9-7ABC7DB1256E}"/>
              </a:ext>
            </a:extLst>
          </p:cNvPr>
          <p:cNvGraphicFramePr>
            <a:graphicFrameLocks noGrp="1"/>
          </p:cNvGraphicFramePr>
          <p:nvPr>
            <p:ph idx="1"/>
            <p:extLst>
              <p:ext uri="{D42A27DB-BD31-4B8C-83A1-F6EECF244321}">
                <p14:modId xmlns:p14="http://schemas.microsoft.com/office/powerpoint/2010/main" val="365623561"/>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551123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4" name="Picture 13">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A202C34F-F410-D906-6234-4980BEC55629}"/>
              </a:ext>
            </a:extLst>
          </p:cNvPr>
          <p:cNvSpPr>
            <a:spLocks noGrp="1"/>
          </p:cNvSpPr>
          <p:nvPr>
            <p:ph type="title"/>
          </p:nvPr>
        </p:nvSpPr>
        <p:spPr>
          <a:xfrm>
            <a:off x="838201" y="559813"/>
            <a:ext cx="3352799" cy="5577934"/>
          </a:xfrm>
        </p:spPr>
        <p:txBody>
          <a:bodyPr>
            <a:normAutofit/>
          </a:bodyPr>
          <a:lstStyle/>
          <a:p>
            <a:r>
              <a:rPr lang="en-IE" sz="4000" b="1" i="0">
                <a:effectLst/>
                <a:latin typeface="Söhne"/>
              </a:rPr>
              <a:t>Multivariate Time Series Data</a:t>
            </a:r>
            <a:r>
              <a:rPr lang="en-IE" sz="4000" b="0" i="0">
                <a:effectLst/>
                <a:latin typeface="Söhne"/>
              </a:rPr>
              <a:t>:</a:t>
            </a:r>
            <a:endParaRPr lang="en-IE" sz="4000"/>
          </a:p>
        </p:txBody>
      </p:sp>
      <p:graphicFrame>
        <p:nvGraphicFramePr>
          <p:cNvPr id="5" name="Content Placeholder 2">
            <a:extLst>
              <a:ext uri="{FF2B5EF4-FFF2-40B4-BE49-F238E27FC236}">
                <a16:creationId xmlns:a16="http://schemas.microsoft.com/office/drawing/2014/main" id="{2A99656E-2D82-E7C4-4AE7-67A125E832C4}"/>
              </a:ext>
            </a:extLst>
          </p:cNvPr>
          <p:cNvGraphicFramePr>
            <a:graphicFrameLocks noGrp="1"/>
          </p:cNvGraphicFramePr>
          <p:nvPr>
            <p:ph idx="1"/>
            <p:extLst>
              <p:ext uri="{D42A27DB-BD31-4B8C-83A1-F6EECF244321}">
                <p14:modId xmlns:p14="http://schemas.microsoft.com/office/powerpoint/2010/main" val="4262484410"/>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599431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4FB2F27-3F7D-440E-A905-86607A926A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AF678C14-A033-4139-BCA9-8382B03964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C2D5331B-6E57-4C50-8FBB-4317812889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EFD89BA1-1FD1-177C-FE5C-EF0251D4B441}"/>
              </a:ext>
            </a:extLst>
          </p:cNvPr>
          <p:cNvSpPr>
            <a:spLocks noGrp="1"/>
          </p:cNvSpPr>
          <p:nvPr>
            <p:ph type="title"/>
          </p:nvPr>
        </p:nvSpPr>
        <p:spPr>
          <a:xfrm>
            <a:off x="6400800" y="461339"/>
            <a:ext cx="5332506" cy="2831136"/>
          </a:xfrm>
        </p:spPr>
        <p:txBody>
          <a:bodyPr>
            <a:normAutofit/>
          </a:bodyPr>
          <a:lstStyle/>
          <a:p>
            <a:r>
              <a:rPr lang="en-IE" b="1" i="0" dirty="0">
                <a:solidFill>
                  <a:srgbClr val="FFFFFF"/>
                </a:solidFill>
                <a:effectLst/>
                <a:latin typeface="Söhne"/>
              </a:rPr>
              <a:t>Multivariate Time Series Data</a:t>
            </a:r>
            <a:r>
              <a:rPr lang="en-IE" b="0" i="0" dirty="0">
                <a:solidFill>
                  <a:srgbClr val="FFFFFF"/>
                </a:solidFill>
                <a:effectLst/>
                <a:latin typeface="Söhne"/>
              </a:rPr>
              <a:t>:</a:t>
            </a:r>
            <a:endParaRPr lang="en-IE" dirty="0">
              <a:solidFill>
                <a:srgbClr val="FFFFFF"/>
              </a:solidFill>
            </a:endParaRPr>
          </a:p>
        </p:txBody>
      </p:sp>
      <p:pic>
        <p:nvPicPr>
          <p:cNvPr id="5" name="Picture 4" descr="Graph on document with pen">
            <a:extLst>
              <a:ext uri="{FF2B5EF4-FFF2-40B4-BE49-F238E27FC236}">
                <a16:creationId xmlns:a16="http://schemas.microsoft.com/office/drawing/2014/main" id="{02981C8C-CF0F-DF48-72EA-FD6B37D52DA0}"/>
              </a:ext>
            </a:extLst>
          </p:cNvPr>
          <p:cNvPicPr>
            <a:picLocks noChangeAspect="1"/>
          </p:cNvPicPr>
          <p:nvPr/>
        </p:nvPicPr>
        <p:blipFill rotWithShape="1">
          <a:blip r:embed="rId2"/>
          <a:srcRect l="27730" r="14007" b="-1"/>
          <a:stretch/>
        </p:blipFill>
        <p:spPr>
          <a:xfrm>
            <a:off x="-1" y="10"/>
            <a:ext cx="5985983" cy="6857990"/>
          </a:xfrm>
          <a:prstGeom prst="rect">
            <a:avLst/>
          </a:prstGeom>
        </p:spPr>
      </p:pic>
      <p:grpSp>
        <p:nvGrpSpPr>
          <p:cNvPr id="15" name="Group 14">
            <a:extLst>
              <a:ext uri="{FF2B5EF4-FFF2-40B4-BE49-F238E27FC236}">
                <a16:creationId xmlns:a16="http://schemas.microsoft.com/office/drawing/2014/main" id="{E4A40E9D-B0FA-4A78-B58C-87A64C4FD5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8727783" y="5080"/>
            <a:ext cx="3464215" cy="4598234"/>
            <a:chOff x="8059620" y="41922"/>
            <a:chExt cx="3997615" cy="6816077"/>
          </a:xfrm>
        </p:grpSpPr>
        <p:pic>
          <p:nvPicPr>
            <p:cNvPr id="16" name="Picture 15">
              <a:extLst>
                <a:ext uri="{FF2B5EF4-FFF2-40B4-BE49-F238E27FC236}">
                  <a16:creationId xmlns:a16="http://schemas.microsoft.com/office/drawing/2014/main" id="{5CEBF341-3BD6-4B3B-9B47-1FCC74EB708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alphaModFix amt="5000"/>
              <a:extLst>
                <a:ext uri="{28A0092B-C50C-407E-A947-70E740481C1C}">
                  <a14:useLocalDpi xmlns:a14="http://schemas.microsoft.com/office/drawing/2010/main" val="0"/>
                </a:ext>
              </a:extLst>
            </a:blip>
            <a:srcRect l="22818" b="17291"/>
            <a:stretch/>
          </p:blipFill>
          <p:spPr>
            <a:xfrm flipH="1">
              <a:off x="8059620" y="1345934"/>
              <a:ext cx="3997615" cy="5512065"/>
            </a:xfrm>
            <a:prstGeom prst="rect">
              <a:avLst/>
            </a:prstGeom>
          </p:spPr>
        </p:pic>
        <p:pic>
          <p:nvPicPr>
            <p:cNvPr id="17" name="Picture 16">
              <a:extLst>
                <a:ext uri="{FF2B5EF4-FFF2-40B4-BE49-F238E27FC236}">
                  <a16:creationId xmlns:a16="http://schemas.microsoft.com/office/drawing/2014/main" id="{3078DAA6-6247-4C19-B6CD-81D79702EC37}"/>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alphaModFix amt="5000"/>
              <a:extLst>
                <a:ext uri="{28A0092B-C50C-407E-A947-70E740481C1C}">
                  <a14:useLocalDpi xmlns:a14="http://schemas.microsoft.com/office/drawing/2010/main" val="0"/>
                </a:ext>
              </a:extLst>
            </a:blip>
            <a:srcRect r="40690"/>
            <a:stretch/>
          </p:blipFill>
          <p:spPr>
            <a:xfrm>
              <a:off x="8915400" y="41922"/>
              <a:ext cx="3141835" cy="6816077"/>
            </a:xfrm>
            <a:prstGeom prst="rect">
              <a:avLst/>
            </a:prstGeom>
          </p:spPr>
        </p:pic>
      </p:grpSp>
      <p:sp>
        <p:nvSpPr>
          <p:cNvPr id="3" name="Content Placeholder 2">
            <a:extLst>
              <a:ext uri="{FF2B5EF4-FFF2-40B4-BE49-F238E27FC236}">
                <a16:creationId xmlns:a16="http://schemas.microsoft.com/office/drawing/2014/main" id="{361DA5BA-EFAD-1416-01EA-18F432AC217F}"/>
              </a:ext>
            </a:extLst>
          </p:cNvPr>
          <p:cNvSpPr>
            <a:spLocks noGrp="1"/>
          </p:cNvSpPr>
          <p:nvPr>
            <p:ph idx="1"/>
          </p:nvPr>
        </p:nvSpPr>
        <p:spPr>
          <a:xfrm>
            <a:off x="6400812" y="3429000"/>
            <a:ext cx="5332164" cy="2585613"/>
          </a:xfrm>
        </p:spPr>
        <p:txBody>
          <a:bodyPr>
            <a:normAutofit/>
          </a:bodyPr>
          <a:lstStyle/>
          <a:p>
            <a:pPr>
              <a:lnSpc>
                <a:spcPct val="100000"/>
              </a:lnSpc>
            </a:pPr>
            <a:r>
              <a:rPr lang="en-GB" sz="1500" b="0" i="0">
                <a:solidFill>
                  <a:srgbClr val="FFFFFF"/>
                </a:solidFill>
                <a:effectLst/>
                <a:latin typeface="Söhne"/>
              </a:rPr>
              <a:t>Multivariate time series data is particularly useful for understanding how different variables are related and how changes in one variable may impact others. Analysing and modeling multivariate time series data often involve advanced statistical techniques and machine learning algorithms to capture the complex dependencies and interactions among the variables. These techniques can help in forecasting, anomaly detection, and understanding causal relationships between the variables in the dataset.</a:t>
            </a:r>
            <a:endParaRPr lang="en-IE" sz="1500">
              <a:solidFill>
                <a:srgbClr val="FFFFFF"/>
              </a:solidFill>
            </a:endParaRPr>
          </a:p>
        </p:txBody>
      </p:sp>
    </p:spTree>
    <p:extLst>
      <p:ext uri="{BB962C8B-B14F-4D97-AF65-F5344CB8AC3E}">
        <p14:creationId xmlns:p14="http://schemas.microsoft.com/office/powerpoint/2010/main" val="11951881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4" name="Rectangle 23">
            <a:extLst>
              <a:ext uri="{FF2B5EF4-FFF2-40B4-BE49-F238E27FC236}">
                <a16:creationId xmlns:a16="http://schemas.microsoft.com/office/drawing/2014/main" id="{FBC8BBE5-981E-4B0B-9654-32B5668BF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26" name="Group 25">
            <a:extLst>
              <a:ext uri="{FF2B5EF4-FFF2-40B4-BE49-F238E27FC236}">
                <a16:creationId xmlns:a16="http://schemas.microsoft.com/office/drawing/2014/main" id="{8ED5E97A-D21B-4AA4-83CF-DA3A380E30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0"/>
            <a:ext cx="7724071" cy="6858000"/>
            <a:chOff x="4464881" y="0"/>
            <a:chExt cx="7724071" cy="6858000"/>
          </a:xfrm>
        </p:grpSpPr>
        <p:pic>
          <p:nvPicPr>
            <p:cNvPr id="27" name="Picture 26">
              <a:extLst>
                <a:ext uri="{FF2B5EF4-FFF2-40B4-BE49-F238E27FC236}">
                  <a16:creationId xmlns:a16="http://schemas.microsoft.com/office/drawing/2014/main" id="{8AF5706D-4464-450F-93F4-853EDF68CE4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28" name="Picture 27">
              <a:extLst>
                <a:ext uri="{FF2B5EF4-FFF2-40B4-BE49-F238E27FC236}">
                  <a16:creationId xmlns:a16="http://schemas.microsoft.com/office/drawing/2014/main" id="{3E0FB244-C158-43A9-AD7A-05DC5BBF6D3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duotone>
                <a:schemeClr val="accent6">
                  <a:shade val="45000"/>
                  <a:satMod val="135000"/>
                </a:schemeClr>
                <a:prstClr val="white"/>
              </a:duotone>
              <a:alphaModFix amt="7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2" name="Title 1">
            <a:extLst>
              <a:ext uri="{FF2B5EF4-FFF2-40B4-BE49-F238E27FC236}">
                <a16:creationId xmlns:a16="http://schemas.microsoft.com/office/drawing/2014/main" id="{F4B687FF-53CE-4E9D-4380-B9F731D0CCDB}"/>
              </a:ext>
            </a:extLst>
          </p:cNvPr>
          <p:cNvSpPr>
            <a:spLocks noGrp="1"/>
          </p:cNvSpPr>
          <p:nvPr>
            <p:ph type="title"/>
          </p:nvPr>
        </p:nvSpPr>
        <p:spPr>
          <a:xfrm>
            <a:off x="838200" y="586992"/>
            <a:ext cx="5638800" cy="2461008"/>
          </a:xfrm>
        </p:spPr>
        <p:txBody>
          <a:bodyPr>
            <a:normAutofit/>
          </a:bodyPr>
          <a:lstStyle/>
          <a:p>
            <a:r>
              <a:rPr lang="en-IE" b="0" i="0" dirty="0">
                <a:effectLst/>
                <a:latin typeface="Söhne"/>
              </a:rPr>
              <a:t>Time Series Components</a:t>
            </a:r>
            <a:endParaRPr lang="en-IE" dirty="0"/>
          </a:p>
        </p:txBody>
      </p:sp>
      <p:sp>
        <p:nvSpPr>
          <p:cNvPr id="3" name="Content Placeholder 2">
            <a:extLst>
              <a:ext uri="{FF2B5EF4-FFF2-40B4-BE49-F238E27FC236}">
                <a16:creationId xmlns:a16="http://schemas.microsoft.com/office/drawing/2014/main" id="{8A80B269-639B-D1B3-5014-A18D1D9A169B}"/>
              </a:ext>
            </a:extLst>
          </p:cNvPr>
          <p:cNvSpPr>
            <a:spLocks noGrp="1"/>
          </p:cNvSpPr>
          <p:nvPr>
            <p:ph idx="1"/>
          </p:nvPr>
        </p:nvSpPr>
        <p:spPr>
          <a:xfrm>
            <a:off x="838200" y="3124200"/>
            <a:ext cx="5638437" cy="3156166"/>
          </a:xfrm>
        </p:spPr>
        <p:txBody>
          <a:bodyPr anchor="ctr">
            <a:normAutofit/>
          </a:bodyPr>
          <a:lstStyle/>
          <a:p>
            <a:pPr>
              <a:lnSpc>
                <a:spcPct val="100000"/>
              </a:lnSpc>
            </a:pPr>
            <a:r>
              <a:rPr lang="en-GB" sz="1300" b="0" i="0">
                <a:effectLst/>
                <a:latin typeface="Söhne"/>
              </a:rPr>
              <a:t>Time series data can typically be decomposed into several key components, which are essential for understanding and analysing its behaviour. The main components of time series data are:</a:t>
            </a:r>
          </a:p>
          <a:p>
            <a:pPr>
              <a:lnSpc>
                <a:spcPct val="100000"/>
              </a:lnSpc>
            </a:pPr>
            <a:r>
              <a:rPr lang="en-GB" sz="1300" b="1" i="0">
                <a:effectLst/>
                <a:latin typeface="Söhne"/>
              </a:rPr>
              <a:t>Trend Component</a:t>
            </a:r>
            <a:r>
              <a:rPr lang="en-GB" sz="1300" b="0" i="0">
                <a:effectLst/>
                <a:latin typeface="Söhne"/>
              </a:rPr>
              <a:t>:</a:t>
            </a:r>
          </a:p>
          <a:p>
            <a:pPr>
              <a:lnSpc>
                <a:spcPct val="100000"/>
              </a:lnSpc>
              <a:buFont typeface="Arial" panose="020B0604020202020204" pitchFamily="34" charset="0"/>
              <a:buChar char="•"/>
            </a:pPr>
            <a:r>
              <a:rPr lang="en-GB" sz="1300" b="0" i="0">
                <a:effectLst/>
                <a:latin typeface="Söhne"/>
              </a:rPr>
              <a:t>The trend component represents the long-term movement or direction in the time series data. It shows whether the data is generally increasing, decreasing, or staying relatively constant over time.</a:t>
            </a:r>
          </a:p>
          <a:p>
            <a:pPr>
              <a:lnSpc>
                <a:spcPct val="100000"/>
              </a:lnSpc>
              <a:buFont typeface="Arial" panose="020B0604020202020204" pitchFamily="34" charset="0"/>
              <a:buChar char="•"/>
            </a:pPr>
            <a:r>
              <a:rPr lang="en-GB" sz="1300" b="0" i="0">
                <a:effectLst/>
                <a:latin typeface="Söhne"/>
              </a:rPr>
              <a:t>A rising trend indicates that the variable is generally increasing over time, while a falling trend suggests a decreasing pattern. A stable trend implies that the variable's behaviour is relatively constant.</a:t>
            </a:r>
          </a:p>
          <a:p>
            <a:pPr>
              <a:lnSpc>
                <a:spcPct val="100000"/>
              </a:lnSpc>
              <a:buFont typeface="Arial" panose="020B0604020202020204" pitchFamily="34" charset="0"/>
              <a:buChar char="•"/>
            </a:pPr>
            <a:r>
              <a:rPr lang="en-GB" sz="1300" b="0" i="0">
                <a:effectLst/>
                <a:latin typeface="Söhne"/>
              </a:rPr>
              <a:t>Identifying the trend can provide valuable insights into the overall direction of the data, which is useful for forecasting and decision-making.</a:t>
            </a:r>
          </a:p>
          <a:p>
            <a:pPr>
              <a:lnSpc>
                <a:spcPct val="100000"/>
              </a:lnSpc>
            </a:pPr>
            <a:endParaRPr lang="en-IE" sz="1300"/>
          </a:p>
        </p:txBody>
      </p:sp>
      <p:pic>
        <p:nvPicPr>
          <p:cNvPr id="5" name="Picture 4" descr="Graph on document with pen">
            <a:extLst>
              <a:ext uri="{FF2B5EF4-FFF2-40B4-BE49-F238E27FC236}">
                <a16:creationId xmlns:a16="http://schemas.microsoft.com/office/drawing/2014/main" id="{7BCCE645-2ED4-F838-32FD-C4F7429FCAFF}"/>
              </a:ext>
            </a:extLst>
          </p:cNvPr>
          <p:cNvPicPr>
            <a:picLocks noChangeAspect="1"/>
          </p:cNvPicPr>
          <p:nvPr/>
        </p:nvPicPr>
        <p:blipFill rotWithShape="1">
          <a:blip r:embed="rId4"/>
          <a:srcRect l="30834" r="17278" b="-2"/>
          <a:stretch/>
        </p:blipFill>
        <p:spPr>
          <a:xfrm>
            <a:off x="6861048" y="1"/>
            <a:ext cx="5330952" cy="6858000"/>
          </a:xfrm>
          <a:prstGeom prst="rect">
            <a:avLst/>
          </a:prstGeom>
        </p:spPr>
      </p:pic>
    </p:spTree>
    <p:extLst>
      <p:ext uri="{BB962C8B-B14F-4D97-AF65-F5344CB8AC3E}">
        <p14:creationId xmlns:p14="http://schemas.microsoft.com/office/powerpoint/2010/main" val="257603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4" name="Picture 13">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A308A8CD-F97D-D8AD-9EF6-C0B5698D176A}"/>
              </a:ext>
            </a:extLst>
          </p:cNvPr>
          <p:cNvSpPr>
            <a:spLocks noGrp="1"/>
          </p:cNvSpPr>
          <p:nvPr>
            <p:ph type="title"/>
          </p:nvPr>
        </p:nvSpPr>
        <p:spPr>
          <a:xfrm>
            <a:off x="838201" y="559813"/>
            <a:ext cx="3352799" cy="5577934"/>
          </a:xfrm>
        </p:spPr>
        <p:txBody>
          <a:bodyPr>
            <a:normAutofit/>
          </a:bodyPr>
          <a:lstStyle/>
          <a:p>
            <a:r>
              <a:rPr lang="en-IE" sz="4000" b="0" i="0" dirty="0">
                <a:effectLst/>
                <a:latin typeface="Söhne"/>
              </a:rPr>
              <a:t>Time Series Components</a:t>
            </a:r>
            <a:endParaRPr lang="en-IE" sz="4000" dirty="0"/>
          </a:p>
        </p:txBody>
      </p:sp>
      <p:graphicFrame>
        <p:nvGraphicFramePr>
          <p:cNvPr id="5" name="Content Placeholder 2">
            <a:extLst>
              <a:ext uri="{FF2B5EF4-FFF2-40B4-BE49-F238E27FC236}">
                <a16:creationId xmlns:a16="http://schemas.microsoft.com/office/drawing/2014/main" id="{64DEC7ED-BED1-BFAC-C8B1-9A36CB60125A}"/>
              </a:ext>
            </a:extLst>
          </p:cNvPr>
          <p:cNvGraphicFramePr>
            <a:graphicFrameLocks noGrp="1"/>
          </p:cNvGraphicFramePr>
          <p:nvPr>
            <p:ph idx="1"/>
            <p:extLst>
              <p:ext uri="{D42A27DB-BD31-4B8C-83A1-F6EECF244321}">
                <p14:modId xmlns:p14="http://schemas.microsoft.com/office/powerpoint/2010/main" val="847363588"/>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957017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4" name="Picture 13">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59EAD698-2E04-DFD3-F45E-809F3632FEA1}"/>
              </a:ext>
            </a:extLst>
          </p:cNvPr>
          <p:cNvSpPr>
            <a:spLocks noGrp="1"/>
          </p:cNvSpPr>
          <p:nvPr>
            <p:ph type="title"/>
          </p:nvPr>
        </p:nvSpPr>
        <p:spPr>
          <a:xfrm>
            <a:off x="838201" y="559813"/>
            <a:ext cx="3352799" cy="5577934"/>
          </a:xfrm>
        </p:spPr>
        <p:txBody>
          <a:bodyPr>
            <a:normAutofit/>
          </a:bodyPr>
          <a:lstStyle/>
          <a:p>
            <a:r>
              <a:rPr lang="en-IE" sz="4000" b="0" i="0" dirty="0">
                <a:effectLst/>
                <a:latin typeface="Söhne"/>
              </a:rPr>
              <a:t>Time Series Components</a:t>
            </a:r>
            <a:endParaRPr lang="en-IE" sz="4000" dirty="0"/>
          </a:p>
        </p:txBody>
      </p:sp>
      <p:graphicFrame>
        <p:nvGraphicFramePr>
          <p:cNvPr id="5" name="Content Placeholder 2">
            <a:extLst>
              <a:ext uri="{FF2B5EF4-FFF2-40B4-BE49-F238E27FC236}">
                <a16:creationId xmlns:a16="http://schemas.microsoft.com/office/drawing/2014/main" id="{38A83AC8-4E34-6E16-ED40-39BBD8D1737A}"/>
              </a:ext>
            </a:extLst>
          </p:cNvPr>
          <p:cNvGraphicFramePr>
            <a:graphicFrameLocks noGrp="1"/>
          </p:cNvGraphicFramePr>
          <p:nvPr>
            <p:ph idx="1"/>
            <p:extLst>
              <p:ext uri="{D42A27DB-BD31-4B8C-83A1-F6EECF244321}">
                <p14:modId xmlns:p14="http://schemas.microsoft.com/office/powerpoint/2010/main" val="3995273338"/>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640741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4" name="Picture 13">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58D961B8-3422-4E6C-02BB-D70CEA2BA959}"/>
              </a:ext>
            </a:extLst>
          </p:cNvPr>
          <p:cNvSpPr>
            <a:spLocks noGrp="1"/>
          </p:cNvSpPr>
          <p:nvPr>
            <p:ph type="title"/>
          </p:nvPr>
        </p:nvSpPr>
        <p:spPr>
          <a:xfrm>
            <a:off x="838201" y="559813"/>
            <a:ext cx="3352799" cy="5577934"/>
          </a:xfrm>
        </p:spPr>
        <p:txBody>
          <a:bodyPr>
            <a:normAutofit/>
          </a:bodyPr>
          <a:lstStyle/>
          <a:p>
            <a:r>
              <a:rPr lang="en-IE" sz="4000" b="0" i="0" dirty="0">
                <a:effectLst/>
                <a:latin typeface="Söhne"/>
              </a:rPr>
              <a:t>Time Series Components</a:t>
            </a:r>
            <a:endParaRPr lang="en-IE" sz="4000" dirty="0"/>
          </a:p>
        </p:txBody>
      </p:sp>
      <p:graphicFrame>
        <p:nvGraphicFramePr>
          <p:cNvPr id="5" name="Content Placeholder 2">
            <a:extLst>
              <a:ext uri="{FF2B5EF4-FFF2-40B4-BE49-F238E27FC236}">
                <a16:creationId xmlns:a16="http://schemas.microsoft.com/office/drawing/2014/main" id="{2D7C40E8-2566-A556-3AB1-E29E5EE84E68}"/>
              </a:ext>
            </a:extLst>
          </p:cNvPr>
          <p:cNvGraphicFramePr>
            <a:graphicFrameLocks noGrp="1"/>
          </p:cNvGraphicFramePr>
          <p:nvPr>
            <p:ph idx="1"/>
            <p:extLst>
              <p:ext uri="{D42A27DB-BD31-4B8C-83A1-F6EECF244321}">
                <p14:modId xmlns:p14="http://schemas.microsoft.com/office/powerpoint/2010/main" val="1063415160"/>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030212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A17975-2354-0077-96A1-D70B98DA298F}"/>
              </a:ext>
            </a:extLst>
          </p:cNvPr>
          <p:cNvSpPr>
            <a:spLocks noGrp="1"/>
          </p:cNvSpPr>
          <p:nvPr>
            <p:ph type="title"/>
          </p:nvPr>
        </p:nvSpPr>
        <p:spPr>
          <a:xfrm>
            <a:off x="1143318" y="914400"/>
            <a:ext cx="4952681" cy="5105400"/>
          </a:xfrm>
        </p:spPr>
        <p:txBody>
          <a:bodyPr anchor="ctr">
            <a:normAutofit/>
          </a:bodyPr>
          <a:lstStyle/>
          <a:p>
            <a:r>
              <a:rPr lang="en-IE" b="0" i="0" dirty="0">
                <a:effectLst/>
                <a:latin typeface="Söhne"/>
              </a:rPr>
              <a:t>Time Series Components</a:t>
            </a:r>
            <a:endParaRPr lang="en-IE" dirty="0"/>
          </a:p>
        </p:txBody>
      </p:sp>
      <p:sp>
        <p:nvSpPr>
          <p:cNvPr id="3" name="Content Placeholder 2">
            <a:extLst>
              <a:ext uri="{FF2B5EF4-FFF2-40B4-BE49-F238E27FC236}">
                <a16:creationId xmlns:a16="http://schemas.microsoft.com/office/drawing/2014/main" id="{8AB7296B-A60B-D440-C0F9-3F4343AC23AC}"/>
              </a:ext>
            </a:extLst>
          </p:cNvPr>
          <p:cNvSpPr>
            <a:spLocks noGrp="1"/>
          </p:cNvSpPr>
          <p:nvPr>
            <p:ph idx="1"/>
          </p:nvPr>
        </p:nvSpPr>
        <p:spPr>
          <a:xfrm>
            <a:off x="6324601" y="914400"/>
            <a:ext cx="4800600" cy="5105400"/>
          </a:xfrm>
        </p:spPr>
        <p:txBody>
          <a:bodyPr anchor="ctr">
            <a:normAutofit/>
          </a:bodyPr>
          <a:lstStyle/>
          <a:p>
            <a:r>
              <a:rPr lang="en-GB" sz="1800" b="0" i="0">
                <a:effectLst/>
                <a:latin typeface="Söhne"/>
              </a:rPr>
              <a:t>By decomposing time series data into these components, analysts can gain a better understanding of the underlying patterns and relationships in the data. This knowledge is essential for building accurate forecasting models and making informed decisions based on time series analysis.</a:t>
            </a:r>
            <a:endParaRPr lang="en-IE" sz="1800"/>
          </a:p>
        </p:txBody>
      </p:sp>
    </p:spTree>
    <p:extLst>
      <p:ext uri="{BB962C8B-B14F-4D97-AF65-F5344CB8AC3E}">
        <p14:creationId xmlns:p14="http://schemas.microsoft.com/office/powerpoint/2010/main" val="727880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4" name="Picture 13">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7" name="Rectangle 16">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BD59A478-E36A-18BF-4ADB-8BA396CB1AEE}"/>
              </a:ext>
            </a:extLst>
          </p:cNvPr>
          <p:cNvSpPr>
            <a:spLocks noGrp="1" noChangeArrowheads="1"/>
          </p:cNvSpPr>
          <p:nvPr>
            <p:ph type="title"/>
          </p:nvPr>
        </p:nvSpPr>
        <p:spPr bwMode="auto">
          <a:xfrm>
            <a:off x="1143318" y="914400"/>
            <a:ext cx="4952681" cy="5105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spcBef>
                <a:spcPct val="0"/>
              </a:spcBef>
              <a:spcAft>
                <a:spcPct val="0"/>
              </a:spcAft>
              <a:buClrTx/>
              <a:buSzTx/>
              <a:buFontTx/>
              <a:buNone/>
              <a:tabLst/>
            </a:pPr>
            <a:r>
              <a:rPr kumimoji="0" lang="en-US" altLang="en-US" b="0" i="0" u="none" strike="noStrike" cap="none" normalizeH="0" baseline="0">
                <a:ln>
                  <a:noFill/>
                </a:ln>
                <a:effectLst/>
                <a:latin typeface="Söhne"/>
              </a:rPr>
              <a:t>Trend Analysis: Identifying long-term trends in time series data</a:t>
            </a:r>
          </a:p>
          <a:p>
            <a:pPr marL="0" marR="0" lvl="0" indent="0" defTabSz="914400" rtl="0" eaLnBrk="0" fontAlgn="base" latinLnBrk="0" hangingPunct="0">
              <a:spcBef>
                <a:spcPct val="0"/>
              </a:spcBef>
              <a:spcAft>
                <a:spcPct val="0"/>
              </a:spcAft>
              <a:buClrTx/>
              <a:buSzTx/>
              <a:buFontTx/>
              <a:buNone/>
              <a:tabLst/>
            </a:pPr>
            <a:br>
              <a:rPr kumimoji="0" lang="en-US" altLang="en-US" b="0" i="0" u="none" strike="noStrike" cap="none" normalizeH="0" baseline="0">
                <a:ln>
                  <a:noFill/>
                </a:ln>
                <a:effectLst/>
                <a:latin typeface="Söhne"/>
              </a:rPr>
            </a:br>
            <a:endParaRPr kumimoji="0" lang="en-US" altLang="en-US" b="0" i="0" u="none" strike="noStrike" cap="none" normalizeH="0" baseline="0">
              <a:ln>
                <a:noFill/>
              </a:ln>
              <a:effectLst/>
              <a:latin typeface="Arial" panose="020B0604020202020204" pitchFamily="34" charset="0"/>
            </a:endParaRPr>
          </a:p>
        </p:txBody>
      </p:sp>
      <p:sp>
        <p:nvSpPr>
          <p:cNvPr id="3" name="Content Placeholder 2">
            <a:extLst>
              <a:ext uri="{FF2B5EF4-FFF2-40B4-BE49-F238E27FC236}">
                <a16:creationId xmlns:a16="http://schemas.microsoft.com/office/drawing/2014/main" id="{F273539F-D6C8-F4C3-8C33-8E0E7AD00A77}"/>
              </a:ext>
            </a:extLst>
          </p:cNvPr>
          <p:cNvSpPr>
            <a:spLocks noGrp="1"/>
          </p:cNvSpPr>
          <p:nvPr>
            <p:ph idx="1"/>
          </p:nvPr>
        </p:nvSpPr>
        <p:spPr>
          <a:xfrm>
            <a:off x="6324601" y="914400"/>
            <a:ext cx="4800600" cy="5105400"/>
          </a:xfrm>
        </p:spPr>
        <p:txBody>
          <a:bodyPr anchor="ctr">
            <a:normAutofit/>
          </a:bodyPr>
          <a:lstStyle/>
          <a:p>
            <a:r>
              <a:rPr lang="en-GB" sz="1800" b="0" i="0">
                <a:effectLst/>
                <a:latin typeface="Söhne"/>
              </a:rPr>
              <a:t>Trend analysis in time series data involves the identification and examination of long-term patterns or trends. These trends indicate the overall direction or movement in the data over an extended period. Analysing trends is important because it can reveal valuable insights about the data's behaviour and help in making informed decisions. Here's a more detailed explanation of trend analysis:</a:t>
            </a:r>
            <a:endParaRPr lang="en-IE" sz="1800"/>
          </a:p>
        </p:txBody>
      </p:sp>
    </p:spTree>
    <p:extLst>
      <p:ext uri="{BB962C8B-B14F-4D97-AF65-F5344CB8AC3E}">
        <p14:creationId xmlns:p14="http://schemas.microsoft.com/office/powerpoint/2010/main" val="21329457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24" name="Rectangle 23">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26" name="Group 25">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27" name="Picture 26">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28" name="Picture 27">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0ACB4B8C-426E-0508-C4AE-4463EC6CAB94}"/>
              </a:ext>
            </a:extLst>
          </p:cNvPr>
          <p:cNvSpPr>
            <a:spLocks noGrp="1"/>
          </p:cNvSpPr>
          <p:nvPr>
            <p:ph type="title"/>
          </p:nvPr>
        </p:nvSpPr>
        <p:spPr>
          <a:xfrm>
            <a:off x="838201" y="559813"/>
            <a:ext cx="3352799" cy="5577934"/>
          </a:xfrm>
        </p:spPr>
        <p:txBody>
          <a:bodyPr>
            <a:normAutofit/>
          </a:bodyPr>
          <a:lstStyle/>
          <a:p>
            <a:r>
              <a:rPr kumimoji="0" lang="en-US" altLang="en-US" sz="4000" b="0" i="0" u="none" strike="noStrike" cap="none" normalizeH="0" baseline="0">
                <a:ln>
                  <a:noFill/>
                </a:ln>
                <a:effectLst/>
                <a:latin typeface="Söhne"/>
              </a:rPr>
              <a:t>Trend Analysis: Identifying long-term trends in time series data</a:t>
            </a:r>
            <a:endParaRPr lang="en-IE" sz="4000"/>
          </a:p>
        </p:txBody>
      </p:sp>
      <p:graphicFrame>
        <p:nvGraphicFramePr>
          <p:cNvPr id="18" name="Content Placeholder 2">
            <a:extLst>
              <a:ext uri="{FF2B5EF4-FFF2-40B4-BE49-F238E27FC236}">
                <a16:creationId xmlns:a16="http://schemas.microsoft.com/office/drawing/2014/main" id="{39CC65AA-EF91-1CB6-14B3-312E290A2503}"/>
              </a:ext>
            </a:extLst>
          </p:cNvPr>
          <p:cNvGraphicFramePr>
            <a:graphicFrameLocks noGrp="1"/>
          </p:cNvGraphicFramePr>
          <p:nvPr>
            <p:ph idx="1"/>
            <p:extLst>
              <p:ext uri="{D42A27DB-BD31-4B8C-83A1-F6EECF244321}">
                <p14:modId xmlns:p14="http://schemas.microsoft.com/office/powerpoint/2010/main" val="572066523"/>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937488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4" name="Picture 13">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BAF095C5-6102-4BA2-3453-359A662BDEDD}"/>
              </a:ext>
            </a:extLst>
          </p:cNvPr>
          <p:cNvSpPr>
            <a:spLocks noGrp="1"/>
          </p:cNvSpPr>
          <p:nvPr>
            <p:ph type="title"/>
          </p:nvPr>
        </p:nvSpPr>
        <p:spPr>
          <a:xfrm>
            <a:off x="838201" y="559813"/>
            <a:ext cx="3352799" cy="5577934"/>
          </a:xfrm>
        </p:spPr>
        <p:txBody>
          <a:bodyPr>
            <a:normAutofit/>
          </a:bodyPr>
          <a:lstStyle/>
          <a:p>
            <a:r>
              <a:rPr kumimoji="0" lang="en-US" altLang="en-US" sz="4000" b="0" i="0" u="none" strike="noStrike" cap="none" normalizeH="0" baseline="0">
                <a:ln>
                  <a:noFill/>
                </a:ln>
                <a:effectLst/>
                <a:latin typeface="Söhne"/>
              </a:rPr>
              <a:t>Trend Analysis: Identifying long-term trends in time series data</a:t>
            </a:r>
            <a:endParaRPr lang="en-IE" sz="4000"/>
          </a:p>
        </p:txBody>
      </p:sp>
      <p:graphicFrame>
        <p:nvGraphicFramePr>
          <p:cNvPr id="5" name="Content Placeholder 2">
            <a:extLst>
              <a:ext uri="{FF2B5EF4-FFF2-40B4-BE49-F238E27FC236}">
                <a16:creationId xmlns:a16="http://schemas.microsoft.com/office/drawing/2014/main" id="{47239081-A9CC-4B4B-8D3B-2780A3D18E16}"/>
              </a:ext>
            </a:extLst>
          </p:cNvPr>
          <p:cNvGraphicFramePr>
            <a:graphicFrameLocks noGrp="1"/>
          </p:cNvGraphicFramePr>
          <p:nvPr>
            <p:ph idx="1"/>
            <p:extLst>
              <p:ext uri="{D42A27DB-BD31-4B8C-83A1-F6EECF244321}">
                <p14:modId xmlns:p14="http://schemas.microsoft.com/office/powerpoint/2010/main" val="3975171627"/>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751558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4" name="Picture 13">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6CF7D18C-10C1-1D9F-0B29-E88C3F475753}"/>
              </a:ext>
            </a:extLst>
          </p:cNvPr>
          <p:cNvSpPr>
            <a:spLocks noGrp="1"/>
          </p:cNvSpPr>
          <p:nvPr>
            <p:ph type="title"/>
          </p:nvPr>
        </p:nvSpPr>
        <p:spPr>
          <a:xfrm>
            <a:off x="838201" y="559813"/>
            <a:ext cx="3352799" cy="5577934"/>
          </a:xfrm>
        </p:spPr>
        <p:txBody>
          <a:bodyPr>
            <a:normAutofit/>
          </a:bodyPr>
          <a:lstStyle/>
          <a:p>
            <a:r>
              <a:rPr lang="en-GB" sz="4000" b="1" i="0" dirty="0">
                <a:effectLst/>
                <a:latin typeface="Söhne"/>
              </a:rPr>
              <a:t>Key Steps in Trend Analysis:</a:t>
            </a:r>
            <a:endParaRPr lang="en-IE" sz="4000" dirty="0"/>
          </a:p>
        </p:txBody>
      </p:sp>
      <p:graphicFrame>
        <p:nvGraphicFramePr>
          <p:cNvPr id="5" name="Content Placeholder 2">
            <a:extLst>
              <a:ext uri="{FF2B5EF4-FFF2-40B4-BE49-F238E27FC236}">
                <a16:creationId xmlns:a16="http://schemas.microsoft.com/office/drawing/2014/main" id="{DA2E13E5-78AE-E478-53FB-6CA1E1D2F1FD}"/>
              </a:ext>
            </a:extLst>
          </p:cNvPr>
          <p:cNvGraphicFramePr>
            <a:graphicFrameLocks noGrp="1"/>
          </p:cNvGraphicFramePr>
          <p:nvPr>
            <p:ph idx="1"/>
            <p:extLst>
              <p:ext uri="{D42A27DB-BD31-4B8C-83A1-F6EECF244321}">
                <p14:modId xmlns:p14="http://schemas.microsoft.com/office/powerpoint/2010/main" val="2952118620"/>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202314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29" name="Rectangle 28">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30" name="Group 29">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25" name="Picture 24">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26" name="Picture 25">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59E1E619-D5C1-4784-72E6-914C92D644BE}"/>
              </a:ext>
            </a:extLst>
          </p:cNvPr>
          <p:cNvSpPr>
            <a:spLocks noGrp="1"/>
          </p:cNvSpPr>
          <p:nvPr>
            <p:ph type="title"/>
          </p:nvPr>
        </p:nvSpPr>
        <p:spPr>
          <a:xfrm>
            <a:off x="838201" y="559813"/>
            <a:ext cx="3352799" cy="5577934"/>
          </a:xfrm>
        </p:spPr>
        <p:txBody>
          <a:bodyPr>
            <a:normAutofit/>
          </a:bodyPr>
          <a:lstStyle/>
          <a:p>
            <a:r>
              <a:rPr lang="en-GB" sz="4000" b="1" i="0" dirty="0">
                <a:effectLst/>
                <a:latin typeface="Söhne"/>
              </a:rPr>
              <a:t>Key Steps in Trend Analysis:</a:t>
            </a:r>
            <a:endParaRPr lang="en-IE" sz="4000" dirty="0"/>
          </a:p>
        </p:txBody>
      </p:sp>
      <p:graphicFrame>
        <p:nvGraphicFramePr>
          <p:cNvPr id="5" name="Content Placeholder 2">
            <a:extLst>
              <a:ext uri="{FF2B5EF4-FFF2-40B4-BE49-F238E27FC236}">
                <a16:creationId xmlns:a16="http://schemas.microsoft.com/office/drawing/2014/main" id="{C3FCA2D8-6E2C-3D17-311F-4223DE0B3362}"/>
              </a:ext>
            </a:extLst>
          </p:cNvPr>
          <p:cNvGraphicFramePr>
            <a:graphicFrameLocks noGrp="1"/>
          </p:cNvGraphicFramePr>
          <p:nvPr>
            <p:ph idx="1"/>
            <p:extLst>
              <p:ext uri="{D42A27DB-BD31-4B8C-83A1-F6EECF244321}">
                <p14:modId xmlns:p14="http://schemas.microsoft.com/office/powerpoint/2010/main" val="4291767101"/>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925693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4" name="Picture 13">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D557EB1A-0F2F-45AB-196A-040CC953C29C}"/>
              </a:ext>
            </a:extLst>
          </p:cNvPr>
          <p:cNvSpPr>
            <a:spLocks noGrp="1"/>
          </p:cNvSpPr>
          <p:nvPr>
            <p:ph type="title"/>
          </p:nvPr>
        </p:nvSpPr>
        <p:spPr>
          <a:xfrm>
            <a:off x="838201" y="559813"/>
            <a:ext cx="3352799" cy="5577934"/>
          </a:xfrm>
        </p:spPr>
        <p:txBody>
          <a:bodyPr>
            <a:normAutofit/>
          </a:bodyPr>
          <a:lstStyle/>
          <a:p>
            <a:r>
              <a:rPr lang="en-IE" sz="4000" b="1" i="0">
                <a:effectLst/>
                <a:latin typeface="Söhne"/>
              </a:rPr>
              <a:t>Applications of Trend Analysis:</a:t>
            </a:r>
            <a:br>
              <a:rPr lang="en-IE" sz="4000" b="0" i="0">
                <a:effectLst/>
                <a:latin typeface="Söhne"/>
              </a:rPr>
            </a:br>
            <a:br>
              <a:rPr lang="en-IE" sz="4000" b="0" i="0">
                <a:effectLst/>
                <a:latin typeface="Söhne"/>
              </a:rPr>
            </a:br>
            <a:endParaRPr lang="en-IE" sz="4000"/>
          </a:p>
        </p:txBody>
      </p:sp>
      <p:graphicFrame>
        <p:nvGraphicFramePr>
          <p:cNvPr id="5" name="Content Placeholder 2">
            <a:extLst>
              <a:ext uri="{FF2B5EF4-FFF2-40B4-BE49-F238E27FC236}">
                <a16:creationId xmlns:a16="http://schemas.microsoft.com/office/drawing/2014/main" id="{1C70DC2F-9F25-9859-FB63-7043DF4EBF22}"/>
              </a:ext>
            </a:extLst>
          </p:cNvPr>
          <p:cNvGraphicFramePr>
            <a:graphicFrameLocks noGrp="1"/>
          </p:cNvGraphicFramePr>
          <p:nvPr>
            <p:ph idx="1"/>
            <p:extLst>
              <p:ext uri="{D42A27DB-BD31-4B8C-83A1-F6EECF244321}">
                <p14:modId xmlns:p14="http://schemas.microsoft.com/office/powerpoint/2010/main" val="3356812955"/>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40440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5A710F-C08F-7718-8987-D6926F4DF064}"/>
              </a:ext>
            </a:extLst>
          </p:cNvPr>
          <p:cNvSpPr>
            <a:spLocks noGrp="1"/>
          </p:cNvSpPr>
          <p:nvPr>
            <p:ph type="title"/>
          </p:nvPr>
        </p:nvSpPr>
        <p:spPr>
          <a:xfrm>
            <a:off x="1143318" y="914400"/>
            <a:ext cx="4952681" cy="5105400"/>
          </a:xfrm>
        </p:spPr>
        <p:txBody>
          <a:bodyPr anchor="ctr">
            <a:normAutofit/>
          </a:bodyPr>
          <a:lstStyle/>
          <a:p>
            <a:r>
              <a:rPr lang="en-IE" b="1" i="0">
                <a:effectLst/>
                <a:latin typeface="Söhne"/>
              </a:rPr>
              <a:t>Trend Analysis:</a:t>
            </a:r>
            <a:br>
              <a:rPr lang="en-IE" b="0" i="0">
                <a:effectLst/>
                <a:latin typeface="Söhne"/>
              </a:rPr>
            </a:br>
            <a:br>
              <a:rPr lang="en-IE" b="0" i="0">
                <a:effectLst/>
                <a:latin typeface="Söhne"/>
              </a:rPr>
            </a:br>
            <a:endParaRPr lang="en-IE" dirty="0"/>
          </a:p>
        </p:txBody>
      </p:sp>
      <p:sp>
        <p:nvSpPr>
          <p:cNvPr id="3" name="Content Placeholder 2">
            <a:extLst>
              <a:ext uri="{FF2B5EF4-FFF2-40B4-BE49-F238E27FC236}">
                <a16:creationId xmlns:a16="http://schemas.microsoft.com/office/drawing/2014/main" id="{94EAB6BA-A1F3-F401-8275-25F217A5D74C}"/>
              </a:ext>
            </a:extLst>
          </p:cNvPr>
          <p:cNvSpPr>
            <a:spLocks noGrp="1"/>
          </p:cNvSpPr>
          <p:nvPr>
            <p:ph idx="1"/>
          </p:nvPr>
        </p:nvSpPr>
        <p:spPr>
          <a:xfrm>
            <a:off x="6324601" y="914400"/>
            <a:ext cx="4800600" cy="5105400"/>
          </a:xfrm>
        </p:spPr>
        <p:txBody>
          <a:bodyPr anchor="ctr">
            <a:normAutofit/>
          </a:bodyPr>
          <a:lstStyle/>
          <a:p>
            <a:r>
              <a:rPr lang="en-GB" sz="1800" b="0" i="0">
                <a:effectLst/>
                <a:latin typeface="Söhne"/>
              </a:rPr>
              <a:t>Trend analysis plays a fundamental role in time series forecasting and decision-making by providing insights into the data's long-term behaviour and direction. It helps analysts and decision-makers understand whether specific actions or strategies are needed in response to changing trends.</a:t>
            </a:r>
            <a:endParaRPr lang="en-IE" sz="1800"/>
          </a:p>
        </p:txBody>
      </p:sp>
    </p:spTree>
    <p:extLst>
      <p:ext uri="{BB962C8B-B14F-4D97-AF65-F5344CB8AC3E}">
        <p14:creationId xmlns:p14="http://schemas.microsoft.com/office/powerpoint/2010/main" val="17874533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4" name="Picture 13">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7" name="Rectangle 16">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7038F5AE-92E2-1FDA-EABB-4764368CB23F}"/>
              </a:ext>
            </a:extLst>
          </p:cNvPr>
          <p:cNvSpPr>
            <a:spLocks noGrp="1" noChangeArrowheads="1"/>
          </p:cNvSpPr>
          <p:nvPr>
            <p:ph type="title"/>
          </p:nvPr>
        </p:nvSpPr>
        <p:spPr bwMode="auto">
          <a:xfrm>
            <a:off x="1143318" y="914400"/>
            <a:ext cx="4952681" cy="5105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spcBef>
                <a:spcPct val="0"/>
              </a:spcBef>
              <a:spcAft>
                <a:spcPct val="0"/>
              </a:spcAft>
              <a:buClrTx/>
              <a:buSzTx/>
              <a:buFontTx/>
              <a:buNone/>
              <a:tabLst/>
            </a:pPr>
            <a:r>
              <a:rPr kumimoji="0" lang="en-US" altLang="en-US" b="0" i="0" u="none" strike="noStrike" cap="none" normalizeH="0" baseline="0">
                <a:ln>
                  <a:noFill/>
                </a:ln>
                <a:effectLst/>
                <a:latin typeface="Söhne"/>
              </a:rPr>
              <a:t>Seasonal Patterns: Recognizing recurring patterns over specific time intervals</a:t>
            </a:r>
          </a:p>
          <a:p>
            <a:pPr marL="0" marR="0" lvl="0" indent="0" defTabSz="914400" rtl="0" eaLnBrk="0" fontAlgn="base" latinLnBrk="0" hangingPunct="0">
              <a:spcBef>
                <a:spcPct val="0"/>
              </a:spcBef>
              <a:spcAft>
                <a:spcPct val="0"/>
              </a:spcAft>
              <a:buClrTx/>
              <a:buSzTx/>
              <a:buFontTx/>
              <a:buNone/>
              <a:tabLst/>
            </a:pPr>
            <a:br>
              <a:rPr kumimoji="0" lang="en-US" altLang="en-US" b="0" i="0" u="none" strike="noStrike" cap="none" normalizeH="0" baseline="0">
                <a:ln>
                  <a:noFill/>
                </a:ln>
                <a:effectLst/>
                <a:latin typeface="Söhne"/>
              </a:rPr>
            </a:br>
            <a:endParaRPr kumimoji="0" lang="en-US" altLang="en-US" b="0" i="0" u="none" strike="noStrike" cap="none" normalizeH="0" baseline="0">
              <a:ln>
                <a:noFill/>
              </a:ln>
              <a:effectLst/>
            </a:endParaRPr>
          </a:p>
        </p:txBody>
      </p:sp>
      <p:sp>
        <p:nvSpPr>
          <p:cNvPr id="3" name="Content Placeholder 2">
            <a:extLst>
              <a:ext uri="{FF2B5EF4-FFF2-40B4-BE49-F238E27FC236}">
                <a16:creationId xmlns:a16="http://schemas.microsoft.com/office/drawing/2014/main" id="{E1A0CBF5-529C-32CF-1CFA-C4B824E2467B}"/>
              </a:ext>
            </a:extLst>
          </p:cNvPr>
          <p:cNvSpPr>
            <a:spLocks noGrp="1"/>
          </p:cNvSpPr>
          <p:nvPr>
            <p:ph idx="1"/>
          </p:nvPr>
        </p:nvSpPr>
        <p:spPr>
          <a:xfrm>
            <a:off x="6324601" y="914400"/>
            <a:ext cx="4800600" cy="5105400"/>
          </a:xfrm>
        </p:spPr>
        <p:txBody>
          <a:bodyPr anchor="ctr">
            <a:normAutofit/>
          </a:bodyPr>
          <a:lstStyle/>
          <a:p>
            <a:r>
              <a:rPr lang="en-GB" sz="1800" b="0" i="0">
                <a:effectLst/>
                <a:latin typeface="Söhne"/>
              </a:rPr>
              <a:t>Seasonal patterns in time series data refer to repetitive fluctuations or variations that occur at regular intervals, often corresponding to specific seasons or time of the year. These patterns can help identify regular, cyclical trends in the data. Here's a more detailed explanation of seasonal patterns:</a:t>
            </a:r>
            <a:endParaRPr lang="en-IE" sz="1800"/>
          </a:p>
        </p:txBody>
      </p:sp>
    </p:spTree>
    <p:extLst>
      <p:ext uri="{BB962C8B-B14F-4D97-AF65-F5344CB8AC3E}">
        <p14:creationId xmlns:p14="http://schemas.microsoft.com/office/powerpoint/2010/main" val="41897586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147DFC-A9F9-ABA4-C134-C138F06B1609}"/>
              </a:ext>
            </a:extLst>
          </p:cNvPr>
          <p:cNvSpPr>
            <a:spLocks noGrp="1"/>
          </p:cNvSpPr>
          <p:nvPr>
            <p:ph type="title"/>
          </p:nvPr>
        </p:nvSpPr>
        <p:spPr>
          <a:xfrm>
            <a:off x="1143318" y="914400"/>
            <a:ext cx="4952681" cy="5105400"/>
          </a:xfrm>
        </p:spPr>
        <p:txBody>
          <a:bodyPr anchor="ctr">
            <a:normAutofit/>
          </a:bodyPr>
          <a:lstStyle/>
          <a:p>
            <a:r>
              <a:rPr kumimoji="0" lang="en-US" altLang="en-US" b="0" i="0" u="none" strike="noStrike" cap="none" normalizeH="0" baseline="0" dirty="0">
                <a:ln>
                  <a:noFill/>
                </a:ln>
                <a:effectLst/>
                <a:latin typeface="Söhne"/>
              </a:rPr>
              <a:t>Seasonal Patterns: </a:t>
            </a:r>
            <a:r>
              <a:rPr kumimoji="0" lang="en-US" altLang="en-US" b="0" i="0" u="none" strike="noStrike" cap="none" normalizeH="0" baseline="0" dirty="0" err="1">
                <a:ln>
                  <a:noFill/>
                </a:ln>
                <a:effectLst/>
                <a:latin typeface="Söhne"/>
              </a:rPr>
              <a:t>Recognising</a:t>
            </a:r>
            <a:r>
              <a:rPr kumimoji="0" lang="en-US" altLang="en-US" b="0" i="0" u="none" strike="noStrike" cap="none" normalizeH="0" baseline="0" dirty="0">
                <a:ln>
                  <a:noFill/>
                </a:ln>
                <a:effectLst/>
                <a:latin typeface="Söhne"/>
              </a:rPr>
              <a:t> recurring patterns over specific time intervals</a:t>
            </a:r>
            <a:endParaRPr lang="en-IE" dirty="0"/>
          </a:p>
        </p:txBody>
      </p:sp>
      <p:sp>
        <p:nvSpPr>
          <p:cNvPr id="3" name="Content Placeholder 2">
            <a:extLst>
              <a:ext uri="{FF2B5EF4-FFF2-40B4-BE49-F238E27FC236}">
                <a16:creationId xmlns:a16="http://schemas.microsoft.com/office/drawing/2014/main" id="{E17005D5-E85B-67F2-96EF-A19CD8EBE8EA}"/>
              </a:ext>
            </a:extLst>
          </p:cNvPr>
          <p:cNvSpPr>
            <a:spLocks noGrp="1"/>
          </p:cNvSpPr>
          <p:nvPr>
            <p:ph idx="1"/>
          </p:nvPr>
        </p:nvSpPr>
        <p:spPr>
          <a:xfrm>
            <a:off x="6324601" y="914400"/>
            <a:ext cx="4800600" cy="5105400"/>
          </a:xfrm>
        </p:spPr>
        <p:txBody>
          <a:bodyPr anchor="ctr">
            <a:normAutofit/>
          </a:bodyPr>
          <a:lstStyle/>
          <a:p>
            <a:pPr>
              <a:lnSpc>
                <a:spcPct val="100000"/>
              </a:lnSpc>
              <a:buFont typeface="Arial" panose="020B0604020202020204" pitchFamily="34" charset="0"/>
              <a:buChar char="•"/>
            </a:pPr>
            <a:r>
              <a:rPr lang="en-GB" sz="1500" b="0" i="0" dirty="0">
                <a:effectLst/>
                <a:latin typeface="Söhne"/>
              </a:rPr>
              <a:t>Seasonal patterns are repetitive fluctuations observed in time series data at fixed, known intervals. These intervals are typically related to specific seasons, months, weeks, or other regular time units. The patterns suggest that data values follow a predictable cycle over time.</a:t>
            </a:r>
          </a:p>
          <a:p>
            <a:pPr>
              <a:lnSpc>
                <a:spcPct val="100000"/>
              </a:lnSpc>
            </a:pPr>
            <a:r>
              <a:rPr lang="en-GB" sz="1500" b="1" i="0" dirty="0">
                <a:effectLst/>
                <a:latin typeface="Söhne"/>
              </a:rPr>
              <a:t>Characteristics of Seasonal Patterns:</a:t>
            </a:r>
            <a:endParaRPr lang="en-GB" sz="1500" b="0" i="0" dirty="0">
              <a:effectLst/>
              <a:latin typeface="Söhne"/>
            </a:endParaRPr>
          </a:p>
          <a:p>
            <a:pPr>
              <a:lnSpc>
                <a:spcPct val="100000"/>
              </a:lnSpc>
              <a:buFont typeface="Arial" panose="020B0604020202020204" pitchFamily="34" charset="0"/>
              <a:buChar char="•"/>
            </a:pPr>
            <a:r>
              <a:rPr lang="en-GB" sz="1500" b="0" i="0" dirty="0">
                <a:effectLst/>
                <a:latin typeface="Söhne"/>
              </a:rPr>
              <a:t>Seasonal patterns exhibit the following characteristics:</a:t>
            </a:r>
          </a:p>
          <a:p>
            <a:pPr marL="742950" lvl="1" indent="-285750">
              <a:lnSpc>
                <a:spcPct val="100000"/>
              </a:lnSpc>
              <a:buFont typeface="Arial" panose="020B0604020202020204" pitchFamily="34" charset="0"/>
              <a:buChar char="•"/>
            </a:pPr>
            <a:r>
              <a:rPr lang="en-GB" sz="1500" b="0" i="0" dirty="0">
                <a:effectLst/>
                <a:latin typeface="Söhne"/>
              </a:rPr>
              <a:t>Regular Recurrence: The patterns repeat at fixed intervals, such as annually, quarterly, monthly, weekly, or daily.</a:t>
            </a:r>
          </a:p>
          <a:p>
            <a:pPr marL="742950" lvl="1" indent="-285750">
              <a:lnSpc>
                <a:spcPct val="100000"/>
              </a:lnSpc>
              <a:buFont typeface="Arial" panose="020B0604020202020204" pitchFamily="34" charset="0"/>
              <a:buChar char="•"/>
            </a:pPr>
            <a:r>
              <a:rPr lang="en-GB" sz="1500" b="0" i="0" dirty="0">
                <a:effectLst/>
                <a:latin typeface="Söhne"/>
              </a:rPr>
              <a:t>Consistency: The magnitude and direction of the fluctuations are relatively consistent from one cycle to the next.</a:t>
            </a:r>
          </a:p>
          <a:p>
            <a:pPr marL="742950" lvl="1" indent="-285750">
              <a:lnSpc>
                <a:spcPct val="100000"/>
              </a:lnSpc>
              <a:buFont typeface="Arial" panose="020B0604020202020204" pitchFamily="34" charset="0"/>
              <a:buChar char="•"/>
            </a:pPr>
            <a:r>
              <a:rPr lang="en-GB" sz="1500" b="0" i="0" dirty="0">
                <a:effectLst/>
                <a:latin typeface="Söhne"/>
              </a:rPr>
              <a:t>Predictable Timing: The timing of seasonal peaks and troughs is known or expected.</a:t>
            </a:r>
          </a:p>
          <a:p>
            <a:pPr marL="742950" lvl="1" indent="-285750">
              <a:lnSpc>
                <a:spcPct val="100000"/>
              </a:lnSpc>
              <a:buFont typeface="Arial" panose="020B0604020202020204" pitchFamily="34" charset="0"/>
              <a:buChar char="•"/>
            </a:pPr>
            <a:r>
              <a:rPr lang="en-GB" sz="1500" b="0" i="0" dirty="0">
                <a:effectLst/>
                <a:latin typeface="Söhne"/>
              </a:rPr>
              <a:t>Associated with External Factors: Seasonal patterns often result from external factors like weather, holidays, or cultural events.</a:t>
            </a:r>
          </a:p>
          <a:p>
            <a:pPr>
              <a:lnSpc>
                <a:spcPct val="100000"/>
              </a:lnSpc>
            </a:pPr>
            <a:endParaRPr lang="en-IE" sz="1500" dirty="0"/>
          </a:p>
        </p:txBody>
      </p:sp>
    </p:spTree>
    <p:extLst>
      <p:ext uri="{BB962C8B-B14F-4D97-AF65-F5344CB8AC3E}">
        <p14:creationId xmlns:p14="http://schemas.microsoft.com/office/powerpoint/2010/main" val="22931428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37FBBF-F9A5-207B-2333-C03D04DED7B5}"/>
              </a:ext>
            </a:extLst>
          </p:cNvPr>
          <p:cNvSpPr>
            <a:spLocks noGrp="1"/>
          </p:cNvSpPr>
          <p:nvPr>
            <p:ph type="title"/>
          </p:nvPr>
        </p:nvSpPr>
        <p:spPr>
          <a:xfrm>
            <a:off x="1143318" y="914400"/>
            <a:ext cx="4952681" cy="5105400"/>
          </a:xfrm>
        </p:spPr>
        <p:txBody>
          <a:bodyPr anchor="ctr">
            <a:normAutofit/>
          </a:bodyPr>
          <a:lstStyle/>
          <a:p>
            <a:r>
              <a:rPr lang="en-GB" b="1" i="0" dirty="0">
                <a:effectLst/>
                <a:latin typeface="Söhne"/>
              </a:rPr>
              <a:t>Objectives of Recognising Seasonal Patterns:</a:t>
            </a:r>
            <a:br>
              <a:rPr lang="en-GB" b="0" i="0" dirty="0">
                <a:effectLst/>
                <a:latin typeface="Söhne"/>
              </a:rPr>
            </a:br>
            <a:br>
              <a:rPr lang="en-GB" b="0" i="0" dirty="0">
                <a:effectLst/>
                <a:latin typeface="Söhne"/>
              </a:rPr>
            </a:br>
            <a:endParaRPr lang="en-IE" dirty="0"/>
          </a:p>
        </p:txBody>
      </p:sp>
      <p:sp>
        <p:nvSpPr>
          <p:cNvPr id="3" name="Content Placeholder 2">
            <a:extLst>
              <a:ext uri="{FF2B5EF4-FFF2-40B4-BE49-F238E27FC236}">
                <a16:creationId xmlns:a16="http://schemas.microsoft.com/office/drawing/2014/main" id="{7F56E849-C60B-6E7D-A656-2692A142CFC7}"/>
              </a:ext>
            </a:extLst>
          </p:cNvPr>
          <p:cNvSpPr>
            <a:spLocks noGrp="1"/>
          </p:cNvSpPr>
          <p:nvPr>
            <p:ph idx="1"/>
          </p:nvPr>
        </p:nvSpPr>
        <p:spPr>
          <a:xfrm>
            <a:off x="6324601" y="914400"/>
            <a:ext cx="4800600" cy="5105400"/>
          </a:xfrm>
        </p:spPr>
        <p:txBody>
          <a:bodyPr anchor="ctr">
            <a:normAutofit/>
          </a:bodyPr>
          <a:lstStyle/>
          <a:p>
            <a:r>
              <a:rPr lang="en-GB" sz="1800" b="1" i="0">
                <a:effectLst/>
                <a:latin typeface="Söhne"/>
              </a:rPr>
              <a:t>Objectives of Recognizing Seasonal Patterns:</a:t>
            </a:r>
            <a:endParaRPr lang="en-GB" sz="1800" b="0" i="0">
              <a:effectLst/>
              <a:latin typeface="Söhne"/>
            </a:endParaRPr>
          </a:p>
          <a:p>
            <a:pPr>
              <a:buFont typeface="Arial" panose="020B0604020202020204" pitchFamily="34" charset="0"/>
              <a:buChar char="•"/>
            </a:pPr>
            <a:r>
              <a:rPr lang="en-GB" sz="1800" b="0" i="0">
                <a:effectLst/>
                <a:latin typeface="Söhne"/>
              </a:rPr>
              <a:t>The objectives of recognizing seasonal patterns include:</a:t>
            </a:r>
          </a:p>
          <a:p>
            <a:pPr marL="742950" lvl="1" indent="-285750">
              <a:buFont typeface="Arial" panose="020B0604020202020204" pitchFamily="34" charset="0"/>
              <a:buChar char="•"/>
            </a:pPr>
            <a:r>
              <a:rPr lang="en-GB" sz="1800" b="0" i="0">
                <a:effectLst/>
                <a:latin typeface="Söhne"/>
              </a:rPr>
              <a:t>Identifying recurring seasonal variations in the data.</a:t>
            </a:r>
          </a:p>
          <a:p>
            <a:pPr marL="742950" lvl="1" indent="-285750">
              <a:buFont typeface="Arial" panose="020B0604020202020204" pitchFamily="34" charset="0"/>
              <a:buChar char="•"/>
            </a:pPr>
            <a:r>
              <a:rPr lang="en-GB" sz="1800" b="0" i="0">
                <a:effectLst/>
                <a:latin typeface="Söhne"/>
              </a:rPr>
              <a:t>Quantifying the amplitude or strength of these seasonal variations.</a:t>
            </a:r>
          </a:p>
          <a:p>
            <a:pPr marL="742950" lvl="1" indent="-285750">
              <a:buFont typeface="Arial" panose="020B0604020202020204" pitchFamily="34" charset="0"/>
              <a:buChar char="•"/>
            </a:pPr>
            <a:r>
              <a:rPr lang="en-GB" sz="1800" b="0" i="0">
                <a:effectLst/>
                <a:latin typeface="Söhne"/>
              </a:rPr>
              <a:t>Understanding the impact of seasonal patterns on data analysis and decision-making.</a:t>
            </a:r>
          </a:p>
          <a:p>
            <a:pPr marL="742950" lvl="1" indent="-285750">
              <a:buFont typeface="Arial" panose="020B0604020202020204" pitchFamily="34" charset="0"/>
              <a:buChar char="•"/>
            </a:pPr>
            <a:r>
              <a:rPr lang="en-GB" sz="1800" b="0" i="0">
                <a:effectLst/>
                <a:latin typeface="Söhne"/>
              </a:rPr>
              <a:t>Seasonal adjustment: This involves removing the seasonal component to obtain a seasonally adjusted time series, which can reveal underlying trends and irregular components.</a:t>
            </a:r>
          </a:p>
          <a:p>
            <a:endParaRPr lang="en-IE" sz="1800"/>
          </a:p>
        </p:txBody>
      </p:sp>
    </p:spTree>
    <p:extLst>
      <p:ext uri="{BB962C8B-B14F-4D97-AF65-F5344CB8AC3E}">
        <p14:creationId xmlns:p14="http://schemas.microsoft.com/office/powerpoint/2010/main" val="23808995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868B63-DD4C-B55E-3209-41FF0C26B6EF}"/>
              </a:ext>
            </a:extLst>
          </p:cNvPr>
          <p:cNvSpPr>
            <a:spLocks noGrp="1"/>
          </p:cNvSpPr>
          <p:nvPr>
            <p:ph type="title"/>
          </p:nvPr>
        </p:nvSpPr>
        <p:spPr>
          <a:xfrm>
            <a:off x="1143318" y="914400"/>
            <a:ext cx="4952681" cy="5105400"/>
          </a:xfrm>
        </p:spPr>
        <p:txBody>
          <a:bodyPr anchor="ctr">
            <a:normAutofit/>
          </a:bodyPr>
          <a:lstStyle/>
          <a:p>
            <a:r>
              <a:rPr lang="en-GB" b="1" i="0" dirty="0">
                <a:effectLst/>
                <a:latin typeface="Söhne"/>
              </a:rPr>
              <a:t>Key Steps in Recognising Seasonal Patterns:</a:t>
            </a:r>
            <a:br>
              <a:rPr lang="en-GB" b="0" i="0" dirty="0">
                <a:effectLst/>
                <a:latin typeface="Söhne"/>
              </a:rPr>
            </a:br>
            <a:br>
              <a:rPr lang="en-GB" b="0" i="0" dirty="0">
                <a:effectLst/>
                <a:latin typeface="Söhne"/>
              </a:rPr>
            </a:br>
            <a:endParaRPr lang="en-IE" dirty="0"/>
          </a:p>
        </p:txBody>
      </p:sp>
      <p:sp>
        <p:nvSpPr>
          <p:cNvPr id="3" name="Content Placeholder 2">
            <a:extLst>
              <a:ext uri="{FF2B5EF4-FFF2-40B4-BE49-F238E27FC236}">
                <a16:creationId xmlns:a16="http://schemas.microsoft.com/office/drawing/2014/main" id="{E5308B83-5CED-9A84-D505-70A75BCE92E6}"/>
              </a:ext>
            </a:extLst>
          </p:cNvPr>
          <p:cNvSpPr>
            <a:spLocks noGrp="1"/>
          </p:cNvSpPr>
          <p:nvPr>
            <p:ph idx="1"/>
          </p:nvPr>
        </p:nvSpPr>
        <p:spPr>
          <a:xfrm>
            <a:off x="6324601" y="914400"/>
            <a:ext cx="4800600" cy="5105400"/>
          </a:xfrm>
        </p:spPr>
        <p:txBody>
          <a:bodyPr anchor="ctr">
            <a:normAutofit/>
          </a:bodyPr>
          <a:lstStyle/>
          <a:p>
            <a:pPr>
              <a:lnSpc>
                <a:spcPct val="100000"/>
              </a:lnSpc>
              <a:buFont typeface="+mj-lt"/>
              <a:buAutoNum type="arabicPeriod"/>
            </a:pPr>
            <a:r>
              <a:rPr lang="en-GB" sz="1500" b="1" i="0">
                <a:effectLst/>
                <a:latin typeface="Söhne"/>
              </a:rPr>
              <a:t>Data Visualization:</a:t>
            </a:r>
            <a:r>
              <a:rPr lang="en-GB" sz="1500" b="0" i="0">
                <a:effectLst/>
                <a:latin typeface="Söhne"/>
              </a:rPr>
              <a:t> Begin by visualizing the time series data using line plots or seasonal subseries plots. This can help you detect any recurring patterns.</a:t>
            </a:r>
          </a:p>
          <a:p>
            <a:pPr>
              <a:lnSpc>
                <a:spcPct val="100000"/>
              </a:lnSpc>
              <a:buFont typeface="+mj-lt"/>
              <a:buAutoNum type="arabicPeriod"/>
            </a:pPr>
            <a:r>
              <a:rPr lang="en-GB" sz="1500" b="1" i="0">
                <a:effectLst/>
                <a:latin typeface="Söhne"/>
              </a:rPr>
              <a:t>Decomposition:</a:t>
            </a:r>
            <a:r>
              <a:rPr lang="en-GB" sz="1500" b="0" i="0">
                <a:effectLst/>
                <a:latin typeface="Söhne"/>
              </a:rPr>
              <a:t> Use time series decomposition techniques to separate the data into its components, including the seasonal component. Common decomposition methods include additive or multiplicative decomposition.</a:t>
            </a:r>
          </a:p>
          <a:p>
            <a:pPr>
              <a:lnSpc>
                <a:spcPct val="100000"/>
              </a:lnSpc>
              <a:buFont typeface="+mj-lt"/>
              <a:buAutoNum type="arabicPeriod"/>
            </a:pPr>
            <a:r>
              <a:rPr lang="en-GB" sz="1500" b="1" i="0">
                <a:effectLst/>
                <a:latin typeface="Söhne"/>
              </a:rPr>
              <a:t>Seasonal Index Calculation:</a:t>
            </a:r>
            <a:r>
              <a:rPr lang="en-GB" sz="1500" b="0" i="0">
                <a:effectLst/>
                <a:latin typeface="Söhne"/>
              </a:rPr>
              <a:t> Calculate seasonal indices to quantify the seasonal effect at each time interval within a season. These indices represent how much the data typically varies from the average during each season.</a:t>
            </a:r>
          </a:p>
          <a:p>
            <a:pPr>
              <a:lnSpc>
                <a:spcPct val="100000"/>
              </a:lnSpc>
              <a:buFont typeface="+mj-lt"/>
              <a:buAutoNum type="arabicPeriod"/>
            </a:pPr>
            <a:r>
              <a:rPr lang="en-GB" sz="1500" b="1" i="0">
                <a:effectLst/>
                <a:latin typeface="Söhne"/>
              </a:rPr>
              <a:t>Interpretation:</a:t>
            </a:r>
            <a:r>
              <a:rPr lang="en-GB" sz="1500" b="0" i="0">
                <a:effectLst/>
                <a:latin typeface="Söhne"/>
              </a:rPr>
              <a:t> Interpret the results and assess the significance of seasonal patterns. Understand the implications of these patterns for forecasting and decision-making.</a:t>
            </a:r>
          </a:p>
          <a:p>
            <a:pPr>
              <a:lnSpc>
                <a:spcPct val="100000"/>
              </a:lnSpc>
            </a:pPr>
            <a:endParaRPr lang="en-IE" sz="1500"/>
          </a:p>
        </p:txBody>
      </p:sp>
    </p:spTree>
    <p:extLst>
      <p:ext uri="{BB962C8B-B14F-4D97-AF65-F5344CB8AC3E}">
        <p14:creationId xmlns:p14="http://schemas.microsoft.com/office/powerpoint/2010/main" val="4425642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1F6F68-9E8C-A33C-4819-80A93D95DCEC}"/>
              </a:ext>
            </a:extLst>
          </p:cNvPr>
          <p:cNvSpPr>
            <a:spLocks noGrp="1"/>
          </p:cNvSpPr>
          <p:nvPr>
            <p:ph type="title"/>
          </p:nvPr>
        </p:nvSpPr>
        <p:spPr>
          <a:xfrm>
            <a:off x="1143318" y="914400"/>
            <a:ext cx="4952681" cy="5105400"/>
          </a:xfrm>
        </p:spPr>
        <p:txBody>
          <a:bodyPr anchor="ctr">
            <a:normAutofit/>
          </a:bodyPr>
          <a:lstStyle/>
          <a:p>
            <a:r>
              <a:rPr lang="en-IE" b="1" i="0">
                <a:effectLst/>
                <a:latin typeface="Söhne"/>
              </a:rPr>
              <a:t>Applications of Seasonal Patterns:</a:t>
            </a:r>
            <a:br>
              <a:rPr lang="en-IE" b="0" i="0">
                <a:effectLst/>
                <a:latin typeface="Söhne"/>
              </a:rPr>
            </a:br>
            <a:br>
              <a:rPr lang="en-IE" b="0" i="0">
                <a:effectLst/>
                <a:latin typeface="Söhne"/>
              </a:rPr>
            </a:br>
            <a:endParaRPr lang="en-IE" dirty="0"/>
          </a:p>
        </p:txBody>
      </p:sp>
      <p:sp>
        <p:nvSpPr>
          <p:cNvPr id="3" name="Content Placeholder 2">
            <a:extLst>
              <a:ext uri="{FF2B5EF4-FFF2-40B4-BE49-F238E27FC236}">
                <a16:creationId xmlns:a16="http://schemas.microsoft.com/office/drawing/2014/main" id="{DCD0D4C2-AA2F-3375-882D-E884176AAB4F}"/>
              </a:ext>
            </a:extLst>
          </p:cNvPr>
          <p:cNvSpPr>
            <a:spLocks noGrp="1"/>
          </p:cNvSpPr>
          <p:nvPr>
            <p:ph idx="1"/>
          </p:nvPr>
        </p:nvSpPr>
        <p:spPr>
          <a:xfrm>
            <a:off x="6324601" y="914400"/>
            <a:ext cx="4800600" cy="5105400"/>
          </a:xfrm>
        </p:spPr>
        <p:txBody>
          <a:bodyPr anchor="ctr">
            <a:normAutofit/>
          </a:bodyPr>
          <a:lstStyle/>
          <a:p>
            <a:pPr>
              <a:buFont typeface="Arial" panose="020B0604020202020204" pitchFamily="34" charset="0"/>
              <a:buChar char="•"/>
            </a:pPr>
            <a:r>
              <a:rPr lang="en-GB" sz="1800" b="0" i="0" dirty="0">
                <a:effectLst/>
                <a:latin typeface="Söhne"/>
              </a:rPr>
              <a:t>Seasonal patterns are prevalent in various fields and have applications in: Retail: Analysing sales data to understand consumer buying </a:t>
            </a:r>
            <a:r>
              <a:rPr lang="en-GB" sz="1800" b="0" i="0" dirty="0" err="1">
                <a:effectLst/>
                <a:latin typeface="Söhne"/>
              </a:rPr>
              <a:t>behavior</a:t>
            </a:r>
            <a:r>
              <a:rPr lang="en-GB" sz="1800" b="0" i="0" dirty="0">
                <a:effectLst/>
                <a:latin typeface="Söhne"/>
              </a:rPr>
              <a:t> during different seasons or holidays.</a:t>
            </a:r>
          </a:p>
          <a:p>
            <a:pPr>
              <a:buFont typeface="Arial" panose="020B0604020202020204" pitchFamily="34" charset="0"/>
              <a:buChar char="•"/>
            </a:pPr>
            <a:r>
              <a:rPr lang="en-GB" sz="1800" b="0" i="0" dirty="0">
                <a:effectLst/>
                <a:latin typeface="Söhne"/>
              </a:rPr>
              <a:t>Tourism: Examining tourism data to identify peak travel seasons.</a:t>
            </a:r>
          </a:p>
          <a:p>
            <a:pPr>
              <a:buFont typeface="Arial" panose="020B0604020202020204" pitchFamily="34" charset="0"/>
              <a:buChar char="•"/>
            </a:pPr>
            <a:r>
              <a:rPr lang="en-GB" sz="1800" b="0" i="0" dirty="0">
                <a:effectLst/>
                <a:latin typeface="Söhne"/>
              </a:rPr>
              <a:t>Agriculture: Monitoring crop yields and agricultural production throughout the year.</a:t>
            </a:r>
          </a:p>
          <a:p>
            <a:pPr>
              <a:buFont typeface="Arial" panose="020B0604020202020204" pitchFamily="34" charset="0"/>
              <a:buChar char="•"/>
            </a:pPr>
            <a:r>
              <a:rPr lang="en-GB" sz="1800" b="0" i="0" dirty="0">
                <a:effectLst/>
                <a:latin typeface="Söhne"/>
              </a:rPr>
              <a:t>Energy: Analysing energy consumption patterns, such as increased electricity use during hot summers or cold winters.</a:t>
            </a:r>
          </a:p>
          <a:p>
            <a:pPr>
              <a:buFont typeface="Arial" panose="020B0604020202020204" pitchFamily="34" charset="0"/>
              <a:buChar char="•"/>
            </a:pPr>
            <a:endParaRPr lang="en-GB" sz="1800" dirty="0">
              <a:latin typeface="Söhne"/>
            </a:endParaRPr>
          </a:p>
          <a:p>
            <a:pPr>
              <a:buFont typeface="Arial" panose="020B0604020202020204" pitchFamily="34" charset="0"/>
              <a:buChar char="•"/>
            </a:pPr>
            <a:endParaRPr lang="en-GB" sz="1800" b="0" i="0" dirty="0">
              <a:effectLst/>
              <a:latin typeface="Söhne"/>
            </a:endParaRPr>
          </a:p>
          <a:p>
            <a:endParaRPr lang="en-IE" sz="1800" dirty="0"/>
          </a:p>
        </p:txBody>
      </p:sp>
    </p:spTree>
    <p:extLst>
      <p:ext uri="{BB962C8B-B14F-4D97-AF65-F5344CB8AC3E}">
        <p14:creationId xmlns:p14="http://schemas.microsoft.com/office/powerpoint/2010/main" val="84701606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566614-C1E9-0693-9FD7-B92AF7B88120}"/>
              </a:ext>
            </a:extLst>
          </p:cNvPr>
          <p:cNvSpPr>
            <a:spLocks noGrp="1"/>
          </p:cNvSpPr>
          <p:nvPr>
            <p:ph type="title"/>
          </p:nvPr>
        </p:nvSpPr>
        <p:spPr>
          <a:xfrm>
            <a:off x="1143318" y="914400"/>
            <a:ext cx="4952681" cy="5105400"/>
          </a:xfrm>
        </p:spPr>
        <p:txBody>
          <a:bodyPr anchor="ctr">
            <a:normAutofit/>
          </a:bodyPr>
          <a:lstStyle/>
          <a:p>
            <a:r>
              <a:rPr lang="en-IE" b="1" i="0">
                <a:effectLst/>
                <a:latin typeface="Söhne"/>
              </a:rPr>
              <a:t>Applications of Seasonal Patterns:</a:t>
            </a:r>
            <a:br>
              <a:rPr lang="en-IE" b="0" i="0">
                <a:effectLst/>
                <a:latin typeface="Söhne"/>
              </a:rPr>
            </a:br>
            <a:br>
              <a:rPr lang="en-IE" b="0" i="0">
                <a:effectLst/>
                <a:latin typeface="Söhne"/>
              </a:rPr>
            </a:br>
            <a:endParaRPr lang="en-IE" dirty="0"/>
          </a:p>
        </p:txBody>
      </p:sp>
      <p:sp>
        <p:nvSpPr>
          <p:cNvPr id="3" name="Content Placeholder 2">
            <a:extLst>
              <a:ext uri="{FF2B5EF4-FFF2-40B4-BE49-F238E27FC236}">
                <a16:creationId xmlns:a16="http://schemas.microsoft.com/office/drawing/2014/main" id="{EF942C40-F98C-E2A6-4845-A0FCE27C7BA1}"/>
              </a:ext>
            </a:extLst>
          </p:cNvPr>
          <p:cNvSpPr>
            <a:spLocks noGrp="1"/>
          </p:cNvSpPr>
          <p:nvPr>
            <p:ph idx="1"/>
          </p:nvPr>
        </p:nvSpPr>
        <p:spPr>
          <a:xfrm>
            <a:off x="6324601" y="914400"/>
            <a:ext cx="4800600" cy="5105400"/>
          </a:xfrm>
        </p:spPr>
        <p:txBody>
          <a:bodyPr anchor="ctr">
            <a:normAutofit/>
          </a:bodyPr>
          <a:lstStyle/>
          <a:p>
            <a:r>
              <a:rPr lang="en-GB" sz="1800" b="0" i="0" dirty="0">
                <a:effectLst/>
                <a:latin typeface="Söhne"/>
              </a:rPr>
              <a:t>By recognising and understanding seasonal patterns, analysts and decision-makers can better plan for seasonal fluctuations in data, optimize resource allocation, and make informed decisions to capitalise on or mitigate the effects of these patterns.</a:t>
            </a:r>
            <a:endParaRPr lang="en-IE" sz="1800" dirty="0"/>
          </a:p>
        </p:txBody>
      </p:sp>
    </p:spTree>
    <p:extLst>
      <p:ext uri="{BB962C8B-B14F-4D97-AF65-F5344CB8AC3E}">
        <p14:creationId xmlns:p14="http://schemas.microsoft.com/office/powerpoint/2010/main" val="33222098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4" name="Picture 13">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7" name="Rectangle 16">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C3799804-B084-6745-641D-66F798A54866}"/>
              </a:ext>
            </a:extLst>
          </p:cNvPr>
          <p:cNvSpPr>
            <a:spLocks noGrp="1" noChangeArrowheads="1"/>
          </p:cNvSpPr>
          <p:nvPr>
            <p:ph type="title"/>
          </p:nvPr>
        </p:nvSpPr>
        <p:spPr bwMode="auto">
          <a:xfrm>
            <a:off x="1143318" y="914400"/>
            <a:ext cx="4952681" cy="5105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spcBef>
                <a:spcPct val="0"/>
              </a:spcBef>
              <a:spcAft>
                <a:spcPct val="0"/>
              </a:spcAft>
              <a:buClrTx/>
              <a:buSzTx/>
              <a:buFontTx/>
              <a:buNone/>
              <a:tabLst/>
            </a:pPr>
            <a:r>
              <a:rPr kumimoji="0" lang="en-US" altLang="en-US" b="0" i="0" u="none" strike="noStrike" cap="none" normalizeH="0" baseline="0">
                <a:ln>
                  <a:noFill/>
                </a:ln>
                <a:effectLst/>
                <a:latin typeface="Söhne"/>
              </a:rPr>
              <a:t>Irregular Components: Understanding random variations and outliers </a:t>
            </a:r>
          </a:p>
          <a:p>
            <a:pPr marL="0" marR="0" lvl="0" indent="0" defTabSz="914400" rtl="0" eaLnBrk="0" fontAlgn="base" latinLnBrk="0" hangingPunct="0">
              <a:spcBef>
                <a:spcPct val="0"/>
              </a:spcBef>
              <a:spcAft>
                <a:spcPct val="0"/>
              </a:spcAft>
              <a:buClrTx/>
              <a:buSzTx/>
              <a:buFontTx/>
              <a:buNone/>
              <a:tabLst/>
            </a:pPr>
            <a:br>
              <a:rPr kumimoji="0" lang="en-US" altLang="en-US" b="0" i="0" u="none" strike="noStrike" cap="none" normalizeH="0" baseline="0">
                <a:ln>
                  <a:noFill/>
                </a:ln>
                <a:effectLst/>
                <a:latin typeface="Söhne"/>
              </a:rPr>
            </a:br>
            <a:endParaRPr kumimoji="0" lang="en-US" altLang="en-US" b="0" i="0" u="none" strike="noStrike" cap="none" normalizeH="0" baseline="0">
              <a:ln>
                <a:noFill/>
              </a:ln>
              <a:effectLst/>
            </a:endParaRPr>
          </a:p>
        </p:txBody>
      </p:sp>
      <p:sp>
        <p:nvSpPr>
          <p:cNvPr id="3" name="Content Placeholder 2">
            <a:extLst>
              <a:ext uri="{FF2B5EF4-FFF2-40B4-BE49-F238E27FC236}">
                <a16:creationId xmlns:a16="http://schemas.microsoft.com/office/drawing/2014/main" id="{BE45C164-70E9-9FB3-71AC-DB2DB00E4B81}"/>
              </a:ext>
            </a:extLst>
          </p:cNvPr>
          <p:cNvSpPr>
            <a:spLocks noGrp="1"/>
          </p:cNvSpPr>
          <p:nvPr>
            <p:ph idx="1"/>
          </p:nvPr>
        </p:nvSpPr>
        <p:spPr>
          <a:xfrm>
            <a:off x="6324601" y="914400"/>
            <a:ext cx="4800600" cy="5105400"/>
          </a:xfrm>
        </p:spPr>
        <p:txBody>
          <a:bodyPr anchor="ctr">
            <a:normAutofit/>
          </a:bodyPr>
          <a:lstStyle/>
          <a:p>
            <a:r>
              <a:rPr lang="en-GB" sz="1800" b="0" i="0">
                <a:effectLst/>
                <a:latin typeface="Söhne"/>
              </a:rPr>
              <a:t>Irregular components in time series data refer to the unpredictable and non-systematic variations that occur over time. These irregularities, often in the form of random fluctuations or outliers, do not follow any regular pattern or seasonality. Here's a more detailed explanation of irregular components:</a:t>
            </a:r>
            <a:endParaRPr lang="en-IE" sz="1800"/>
          </a:p>
        </p:txBody>
      </p:sp>
    </p:spTree>
    <p:extLst>
      <p:ext uri="{BB962C8B-B14F-4D97-AF65-F5344CB8AC3E}">
        <p14:creationId xmlns:p14="http://schemas.microsoft.com/office/powerpoint/2010/main" val="5433297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08FE61-E79C-45FD-4266-A1AA9FA5F179}"/>
              </a:ext>
            </a:extLst>
          </p:cNvPr>
          <p:cNvSpPr>
            <a:spLocks noGrp="1"/>
          </p:cNvSpPr>
          <p:nvPr>
            <p:ph type="title"/>
          </p:nvPr>
        </p:nvSpPr>
        <p:spPr>
          <a:xfrm>
            <a:off x="1143318" y="914400"/>
            <a:ext cx="4952681" cy="5105400"/>
          </a:xfrm>
        </p:spPr>
        <p:txBody>
          <a:bodyPr anchor="ctr">
            <a:normAutofit/>
          </a:bodyPr>
          <a:lstStyle/>
          <a:p>
            <a:r>
              <a:rPr lang="en-IE" b="1" i="0" dirty="0">
                <a:effectLst/>
                <a:latin typeface="Söhne"/>
              </a:rPr>
              <a:t>Definition of Irregular Components:</a:t>
            </a:r>
            <a:endParaRPr lang="en-IE" dirty="0"/>
          </a:p>
        </p:txBody>
      </p:sp>
      <p:sp>
        <p:nvSpPr>
          <p:cNvPr id="3" name="Content Placeholder 2">
            <a:extLst>
              <a:ext uri="{FF2B5EF4-FFF2-40B4-BE49-F238E27FC236}">
                <a16:creationId xmlns:a16="http://schemas.microsoft.com/office/drawing/2014/main" id="{6422EEE2-185A-DF41-1ACD-15E2122771AB}"/>
              </a:ext>
            </a:extLst>
          </p:cNvPr>
          <p:cNvSpPr>
            <a:spLocks noGrp="1"/>
          </p:cNvSpPr>
          <p:nvPr>
            <p:ph idx="1"/>
          </p:nvPr>
        </p:nvSpPr>
        <p:spPr>
          <a:xfrm>
            <a:off x="6324601" y="914400"/>
            <a:ext cx="4800600" cy="5105400"/>
          </a:xfrm>
        </p:spPr>
        <p:txBody>
          <a:bodyPr anchor="ctr">
            <a:normAutofit/>
          </a:bodyPr>
          <a:lstStyle/>
          <a:p>
            <a:r>
              <a:rPr lang="en-GB" sz="1800" b="0" i="0">
                <a:effectLst/>
                <a:latin typeface="Söhne"/>
              </a:rPr>
              <a:t>Irregular components, also known as residual components, represent the unpredictable and unsystematic variations in time series data. They are the fluctuations that do not follow any recognizable pattern or trend. Irregular components are usually attributed to random events, measurement errors, or other unforeseeable factors.</a:t>
            </a:r>
            <a:endParaRPr lang="en-IE" sz="1800"/>
          </a:p>
        </p:txBody>
      </p:sp>
    </p:spTree>
    <p:extLst>
      <p:ext uri="{BB962C8B-B14F-4D97-AF65-F5344CB8AC3E}">
        <p14:creationId xmlns:p14="http://schemas.microsoft.com/office/powerpoint/2010/main" val="41052501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4108B1-9A7A-9C8F-461E-E8CC2D4F8F74}"/>
              </a:ext>
            </a:extLst>
          </p:cNvPr>
          <p:cNvSpPr>
            <a:spLocks noGrp="1"/>
          </p:cNvSpPr>
          <p:nvPr>
            <p:ph type="title"/>
          </p:nvPr>
        </p:nvSpPr>
        <p:spPr>
          <a:xfrm>
            <a:off x="1143318" y="914400"/>
            <a:ext cx="4952681" cy="5105400"/>
          </a:xfrm>
        </p:spPr>
        <p:txBody>
          <a:bodyPr anchor="ctr">
            <a:normAutofit/>
          </a:bodyPr>
          <a:lstStyle/>
          <a:p>
            <a:r>
              <a:rPr lang="en-IE" b="1" i="0" dirty="0">
                <a:effectLst/>
                <a:latin typeface="Söhne"/>
              </a:rPr>
              <a:t>Characteristics of Irregular Components:</a:t>
            </a:r>
            <a:br>
              <a:rPr lang="en-IE" b="0" i="0" dirty="0">
                <a:effectLst/>
                <a:latin typeface="Söhne"/>
              </a:rPr>
            </a:br>
            <a:br>
              <a:rPr lang="en-IE" b="0" i="0" dirty="0">
                <a:effectLst/>
                <a:latin typeface="Söhne"/>
              </a:rPr>
            </a:br>
            <a:endParaRPr lang="en-IE" dirty="0"/>
          </a:p>
        </p:txBody>
      </p:sp>
      <p:sp>
        <p:nvSpPr>
          <p:cNvPr id="3" name="Content Placeholder 2">
            <a:extLst>
              <a:ext uri="{FF2B5EF4-FFF2-40B4-BE49-F238E27FC236}">
                <a16:creationId xmlns:a16="http://schemas.microsoft.com/office/drawing/2014/main" id="{099DA81B-CC6A-9D1F-3142-3B0CD6974088}"/>
              </a:ext>
            </a:extLst>
          </p:cNvPr>
          <p:cNvSpPr>
            <a:spLocks noGrp="1"/>
          </p:cNvSpPr>
          <p:nvPr>
            <p:ph idx="1"/>
          </p:nvPr>
        </p:nvSpPr>
        <p:spPr>
          <a:xfrm>
            <a:off x="6324601" y="914400"/>
            <a:ext cx="4800600" cy="5105400"/>
          </a:xfrm>
        </p:spPr>
        <p:txBody>
          <a:bodyPr anchor="ctr">
            <a:normAutofit/>
          </a:bodyPr>
          <a:lstStyle/>
          <a:p>
            <a:pPr marL="0" indent="0">
              <a:buNone/>
            </a:pPr>
            <a:r>
              <a:rPr lang="en-GB" sz="1800" b="0" i="0">
                <a:effectLst/>
                <a:latin typeface="Söhne"/>
              </a:rPr>
              <a:t>Irregular components exhibit the following characteristics: </a:t>
            </a:r>
          </a:p>
          <a:p>
            <a:pPr>
              <a:buFont typeface="+mj-lt"/>
              <a:buAutoNum type="arabicPeriod"/>
            </a:pPr>
            <a:r>
              <a:rPr lang="en-GB" sz="1800" b="0" i="0">
                <a:effectLst/>
                <a:latin typeface="Söhne"/>
              </a:rPr>
              <a:t>Unpredictability: They are not influenced by regular, periodic patterns, trends, or seasonality.</a:t>
            </a:r>
          </a:p>
          <a:p>
            <a:pPr>
              <a:buFont typeface="+mj-lt"/>
              <a:buAutoNum type="arabicPeriod"/>
            </a:pPr>
            <a:r>
              <a:rPr lang="en-GB" sz="1800" b="0" i="0">
                <a:effectLst/>
                <a:latin typeface="Söhne"/>
              </a:rPr>
              <a:t>Randomness: Irregular components are often considered as random noise or disturbances.</a:t>
            </a:r>
          </a:p>
          <a:p>
            <a:pPr>
              <a:buFont typeface="+mj-lt"/>
              <a:buAutoNum type="arabicPeriod"/>
            </a:pPr>
            <a:r>
              <a:rPr lang="en-GB" sz="1800" b="0" i="0">
                <a:effectLst/>
                <a:latin typeface="Söhne"/>
              </a:rPr>
              <a:t>Unsystematic: They are not caused by known external factors or variables.</a:t>
            </a:r>
          </a:p>
          <a:p>
            <a:pPr>
              <a:buFont typeface="+mj-lt"/>
              <a:buAutoNum type="arabicPeriod"/>
            </a:pPr>
            <a:r>
              <a:rPr lang="en-GB" sz="1800" b="0" i="0">
                <a:effectLst/>
                <a:latin typeface="Söhne"/>
              </a:rPr>
              <a:t>Temporary: Irregularities are typically temporary and do not persist over extended periods.</a:t>
            </a:r>
          </a:p>
          <a:p>
            <a:endParaRPr lang="en-IE" sz="1800"/>
          </a:p>
        </p:txBody>
      </p:sp>
    </p:spTree>
    <p:extLst>
      <p:ext uri="{BB962C8B-B14F-4D97-AF65-F5344CB8AC3E}">
        <p14:creationId xmlns:p14="http://schemas.microsoft.com/office/powerpoint/2010/main" val="17324606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4" name="Picture 13">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9DC93672-FCAE-8439-0EC4-53100A826728}"/>
              </a:ext>
            </a:extLst>
          </p:cNvPr>
          <p:cNvSpPr>
            <a:spLocks noGrp="1"/>
          </p:cNvSpPr>
          <p:nvPr>
            <p:ph type="title"/>
          </p:nvPr>
        </p:nvSpPr>
        <p:spPr>
          <a:xfrm>
            <a:off x="838201" y="559813"/>
            <a:ext cx="3352799" cy="5577934"/>
          </a:xfrm>
        </p:spPr>
        <p:txBody>
          <a:bodyPr>
            <a:normAutofit/>
          </a:bodyPr>
          <a:lstStyle/>
          <a:p>
            <a:r>
              <a:rPr lang="en-GB" sz="4000" b="1" i="0">
                <a:effectLst/>
                <a:latin typeface="Söhne"/>
              </a:rPr>
              <a:t>Objectives of Understanding Irregular Components:</a:t>
            </a:r>
            <a:br>
              <a:rPr lang="en-GB" sz="4000" b="0" i="0">
                <a:effectLst/>
                <a:latin typeface="Söhne"/>
              </a:rPr>
            </a:br>
            <a:br>
              <a:rPr lang="en-GB" sz="4000" b="0" i="0">
                <a:effectLst/>
                <a:latin typeface="Söhne"/>
              </a:rPr>
            </a:br>
            <a:endParaRPr lang="en-IE" sz="4000"/>
          </a:p>
        </p:txBody>
      </p:sp>
      <p:graphicFrame>
        <p:nvGraphicFramePr>
          <p:cNvPr id="5" name="Content Placeholder 2">
            <a:extLst>
              <a:ext uri="{FF2B5EF4-FFF2-40B4-BE49-F238E27FC236}">
                <a16:creationId xmlns:a16="http://schemas.microsoft.com/office/drawing/2014/main" id="{AA84F64F-638F-E554-C534-B8BB8E2562FF}"/>
              </a:ext>
            </a:extLst>
          </p:cNvPr>
          <p:cNvGraphicFramePr>
            <a:graphicFrameLocks noGrp="1"/>
          </p:cNvGraphicFramePr>
          <p:nvPr>
            <p:ph idx="1"/>
            <p:extLst>
              <p:ext uri="{D42A27DB-BD31-4B8C-83A1-F6EECF244321}">
                <p14:modId xmlns:p14="http://schemas.microsoft.com/office/powerpoint/2010/main" val="3685770524"/>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19891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4" name="Picture 13">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5141F0C2-78D0-7507-450C-6A4CB9683118}"/>
              </a:ext>
            </a:extLst>
          </p:cNvPr>
          <p:cNvSpPr>
            <a:spLocks noGrp="1"/>
          </p:cNvSpPr>
          <p:nvPr>
            <p:ph type="title"/>
          </p:nvPr>
        </p:nvSpPr>
        <p:spPr>
          <a:xfrm>
            <a:off x="838201" y="559813"/>
            <a:ext cx="3352799" cy="5577934"/>
          </a:xfrm>
        </p:spPr>
        <p:txBody>
          <a:bodyPr>
            <a:normAutofit/>
          </a:bodyPr>
          <a:lstStyle/>
          <a:p>
            <a:r>
              <a:rPr lang="en-GB" sz="4000" b="1" i="0">
                <a:effectLst/>
                <a:latin typeface="Söhne"/>
              </a:rPr>
              <a:t>Key Steps in Understanding Irregular Components:</a:t>
            </a:r>
            <a:br>
              <a:rPr lang="en-GB" sz="4000" b="0" i="0">
                <a:effectLst/>
                <a:latin typeface="Söhne"/>
              </a:rPr>
            </a:br>
            <a:br>
              <a:rPr lang="en-GB" sz="4000" b="0" i="0">
                <a:effectLst/>
                <a:latin typeface="Söhne"/>
              </a:rPr>
            </a:br>
            <a:endParaRPr lang="en-IE" sz="4000"/>
          </a:p>
        </p:txBody>
      </p:sp>
      <p:graphicFrame>
        <p:nvGraphicFramePr>
          <p:cNvPr id="5" name="Content Placeholder 2">
            <a:extLst>
              <a:ext uri="{FF2B5EF4-FFF2-40B4-BE49-F238E27FC236}">
                <a16:creationId xmlns:a16="http://schemas.microsoft.com/office/drawing/2014/main" id="{F560952D-AC97-8616-22EC-EB6CD89C4AD7}"/>
              </a:ext>
            </a:extLst>
          </p:cNvPr>
          <p:cNvGraphicFramePr>
            <a:graphicFrameLocks noGrp="1"/>
          </p:cNvGraphicFramePr>
          <p:nvPr>
            <p:ph idx="1"/>
            <p:extLst>
              <p:ext uri="{D42A27DB-BD31-4B8C-83A1-F6EECF244321}">
                <p14:modId xmlns:p14="http://schemas.microsoft.com/office/powerpoint/2010/main" val="487510725"/>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228832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4" name="Picture 13">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4E618E5B-75C4-9D09-431A-CB469C1121C2}"/>
              </a:ext>
            </a:extLst>
          </p:cNvPr>
          <p:cNvSpPr>
            <a:spLocks noGrp="1"/>
          </p:cNvSpPr>
          <p:nvPr>
            <p:ph type="title"/>
          </p:nvPr>
        </p:nvSpPr>
        <p:spPr>
          <a:xfrm>
            <a:off x="838201" y="559813"/>
            <a:ext cx="3352799" cy="5577934"/>
          </a:xfrm>
        </p:spPr>
        <p:txBody>
          <a:bodyPr>
            <a:normAutofit/>
          </a:bodyPr>
          <a:lstStyle/>
          <a:p>
            <a:r>
              <a:rPr lang="en-GB" sz="4000" b="1" i="0">
                <a:effectLst/>
                <a:latin typeface="Söhne"/>
              </a:rPr>
              <a:t>Key Steps in Understanding Irregular Components:</a:t>
            </a:r>
            <a:br>
              <a:rPr lang="en-GB" sz="4000" b="0" i="0">
                <a:effectLst/>
                <a:latin typeface="Söhne"/>
              </a:rPr>
            </a:br>
            <a:br>
              <a:rPr lang="en-GB" sz="4000" b="0" i="0">
                <a:effectLst/>
                <a:latin typeface="Söhne"/>
              </a:rPr>
            </a:br>
            <a:endParaRPr lang="en-IE" sz="4000"/>
          </a:p>
        </p:txBody>
      </p:sp>
      <p:graphicFrame>
        <p:nvGraphicFramePr>
          <p:cNvPr id="5" name="Content Placeholder 2">
            <a:extLst>
              <a:ext uri="{FF2B5EF4-FFF2-40B4-BE49-F238E27FC236}">
                <a16:creationId xmlns:a16="http://schemas.microsoft.com/office/drawing/2014/main" id="{98221951-95EC-041D-FAE7-D126694C04DE}"/>
              </a:ext>
            </a:extLst>
          </p:cNvPr>
          <p:cNvGraphicFramePr>
            <a:graphicFrameLocks noGrp="1"/>
          </p:cNvGraphicFramePr>
          <p:nvPr>
            <p:ph idx="1"/>
            <p:extLst>
              <p:ext uri="{D42A27DB-BD31-4B8C-83A1-F6EECF244321}">
                <p14:modId xmlns:p14="http://schemas.microsoft.com/office/powerpoint/2010/main" val="3470180489"/>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241737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8" name="Rectangle 17">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9" name="Group 18">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4" name="Picture 13">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CF21BDB8-F851-02D9-001E-D20D1AA9E700}"/>
              </a:ext>
            </a:extLst>
          </p:cNvPr>
          <p:cNvSpPr>
            <a:spLocks noGrp="1"/>
          </p:cNvSpPr>
          <p:nvPr>
            <p:ph type="title"/>
          </p:nvPr>
        </p:nvSpPr>
        <p:spPr>
          <a:xfrm>
            <a:off x="838201" y="559813"/>
            <a:ext cx="3352799" cy="5577934"/>
          </a:xfrm>
        </p:spPr>
        <p:txBody>
          <a:bodyPr>
            <a:normAutofit/>
          </a:bodyPr>
          <a:lstStyle/>
          <a:p>
            <a:r>
              <a:rPr lang="en-GB" sz="4000" b="1" i="0">
                <a:effectLst/>
                <a:latin typeface="Söhne"/>
              </a:rPr>
              <a:t>Applications of Understanding Irregular Components:</a:t>
            </a:r>
            <a:br>
              <a:rPr lang="en-GB" sz="4000" b="0" i="0">
                <a:effectLst/>
                <a:latin typeface="Söhne"/>
              </a:rPr>
            </a:br>
            <a:br>
              <a:rPr lang="en-GB" sz="4000" b="0" i="0">
                <a:effectLst/>
                <a:latin typeface="Söhne"/>
              </a:rPr>
            </a:br>
            <a:endParaRPr lang="en-IE" sz="4000"/>
          </a:p>
        </p:txBody>
      </p:sp>
      <p:graphicFrame>
        <p:nvGraphicFramePr>
          <p:cNvPr id="20" name="Content Placeholder 2">
            <a:extLst>
              <a:ext uri="{FF2B5EF4-FFF2-40B4-BE49-F238E27FC236}">
                <a16:creationId xmlns:a16="http://schemas.microsoft.com/office/drawing/2014/main" id="{F8143B52-0E03-1D71-B62A-A684383B5E7A}"/>
              </a:ext>
            </a:extLst>
          </p:cNvPr>
          <p:cNvGraphicFramePr>
            <a:graphicFrameLocks noGrp="1"/>
          </p:cNvGraphicFramePr>
          <p:nvPr>
            <p:ph idx="1"/>
            <p:extLst>
              <p:ext uri="{D42A27DB-BD31-4B8C-83A1-F6EECF244321}">
                <p14:modId xmlns:p14="http://schemas.microsoft.com/office/powerpoint/2010/main" val="2695648339"/>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5863090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98F7A5-47F7-263E-038F-F0592890358B}"/>
              </a:ext>
            </a:extLst>
          </p:cNvPr>
          <p:cNvSpPr>
            <a:spLocks noGrp="1"/>
          </p:cNvSpPr>
          <p:nvPr>
            <p:ph type="title"/>
          </p:nvPr>
        </p:nvSpPr>
        <p:spPr>
          <a:xfrm>
            <a:off x="1143318" y="914400"/>
            <a:ext cx="4952681" cy="5105400"/>
          </a:xfrm>
        </p:spPr>
        <p:txBody>
          <a:bodyPr anchor="ctr">
            <a:normAutofit/>
          </a:bodyPr>
          <a:lstStyle/>
          <a:p>
            <a:r>
              <a:rPr lang="en-GB" b="1" i="0">
                <a:effectLst/>
                <a:latin typeface="Söhne"/>
              </a:rPr>
              <a:t>Applications of Understanding Irregular Components:</a:t>
            </a:r>
            <a:endParaRPr lang="en-IE" dirty="0"/>
          </a:p>
        </p:txBody>
      </p:sp>
      <p:sp>
        <p:nvSpPr>
          <p:cNvPr id="3" name="Content Placeholder 2">
            <a:extLst>
              <a:ext uri="{FF2B5EF4-FFF2-40B4-BE49-F238E27FC236}">
                <a16:creationId xmlns:a16="http://schemas.microsoft.com/office/drawing/2014/main" id="{966EF3D8-F3B3-5118-3789-B19477E00F1B}"/>
              </a:ext>
            </a:extLst>
          </p:cNvPr>
          <p:cNvSpPr>
            <a:spLocks noGrp="1"/>
          </p:cNvSpPr>
          <p:nvPr>
            <p:ph idx="1"/>
          </p:nvPr>
        </p:nvSpPr>
        <p:spPr>
          <a:xfrm>
            <a:off x="6324601" y="914400"/>
            <a:ext cx="4800600" cy="5105400"/>
          </a:xfrm>
        </p:spPr>
        <p:txBody>
          <a:bodyPr anchor="ctr">
            <a:normAutofit/>
          </a:bodyPr>
          <a:lstStyle/>
          <a:p>
            <a:r>
              <a:rPr lang="en-GB" sz="1800" b="0" i="0">
                <a:effectLst/>
                <a:latin typeface="Söhne"/>
              </a:rPr>
              <a:t>By understanding irregular components in time series data, analysts can better assess data quality, detect anomalies, and make more informed decisions by accounting for the random variations that may affect the data's stability and reliability.</a:t>
            </a:r>
            <a:endParaRPr lang="en-IE" sz="1800"/>
          </a:p>
        </p:txBody>
      </p:sp>
    </p:spTree>
    <p:extLst>
      <p:ext uri="{BB962C8B-B14F-4D97-AF65-F5344CB8AC3E}">
        <p14:creationId xmlns:p14="http://schemas.microsoft.com/office/powerpoint/2010/main" val="7882751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4" name="Picture 13">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7" name="Rectangle 16">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7FA78516-F920-1435-0A26-A8C6B517A352}"/>
              </a:ext>
            </a:extLst>
          </p:cNvPr>
          <p:cNvSpPr>
            <a:spLocks noGrp="1" noChangeArrowheads="1"/>
          </p:cNvSpPr>
          <p:nvPr>
            <p:ph type="title"/>
          </p:nvPr>
        </p:nvSpPr>
        <p:spPr bwMode="auto">
          <a:xfrm>
            <a:off x="1143318" y="914400"/>
            <a:ext cx="4952681" cy="5105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spcBef>
                <a:spcPct val="0"/>
              </a:spcBef>
              <a:spcAft>
                <a:spcPct val="0"/>
              </a:spcAft>
              <a:buClrTx/>
              <a:buSzTx/>
              <a:buFontTx/>
              <a:buNone/>
              <a:tabLst/>
            </a:pPr>
            <a:r>
              <a:rPr kumimoji="0" lang="en-US" altLang="en-US" b="0" i="0" u="none" strike="noStrike" cap="none" normalizeH="0" baseline="0" dirty="0">
                <a:ln>
                  <a:noFill/>
                </a:ln>
                <a:effectLst/>
                <a:latin typeface="Söhne"/>
              </a:rPr>
              <a:t>Cyclical Patterns: </a:t>
            </a:r>
            <a:r>
              <a:rPr kumimoji="0" lang="en-US" altLang="en-US" b="0" i="0" u="none" strike="noStrike" cap="none" normalizeH="0" baseline="0" dirty="0" err="1">
                <a:ln>
                  <a:noFill/>
                </a:ln>
                <a:effectLst/>
                <a:latin typeface="Söhne"/>
              </a:rPr>
              <a:t>Analysing</a:t>
            </a:r>
            <a:r>
              <a:rPr kumimoji="0" lang="en-US" altLang="en-US" b="0" i="0" u="none" strike="noStrike" cap="none" normalizeH="0" baseline="0" dirty="0">
                <a:ln>
                  <a:noFill/>
                </a:ln>
                <a:effectLst/>
                <a:latin typeface="Söhne"/>
              </a:rPr>
              <a:t> non-seasonal cyclic trends</a:t>
            </a:r>
          </a:p>
          <a:p>
            <a:pPr marL="0" marR="0" lvl="0" indent="0" defTabSz="914400" rtl="0" eaLnBrk="0" fontAlgn="base" latinLnBrk="0" hangingPunct="0">
              <a:spcBef>
                <a:spcPct val="0"/>
              </a:spcBef>
              <a:spcAft>
                <a:spcPct val="0"/>
              </a:spcAft>
              <a:buClrTx/>
              <a:buSzTx/>
              <a:buFontTx/>
              <a:buNone/>
              <a:tabLst/>
            </a:pPr>
            <a:br>
              <a:rPr kumimoji="0" lang="en-US" altLang="en-US" b="0" i="0" u="none" strike="noStrike" cap="none" normalizeH="0" baseline="0" dirty="0">
                <a:ln>
                  <a:noFill/>
                </a:ln>
                <a:effectLst/>
                <a:latin typeface="Söhne"/>
              </a:rPr>
            </a:br>
            <a:endParaRPr kumimoji="0" lang="en-US" altLang="en-US" b="0" i="0" u="none" strike="noStrike" cap="none" normalizeH="0" baseline="0" dirty="0">
              <a:ln>
                <a:noFill/>
              </a:ln>
              <a:effectLst/>
            </a:endParaRPr>
          </a:p>
        </p:txBody>
      </p:sp>
      <p:sp>
        <p:nvSpPr>
          <p:cNvPr id="3" name="Content Placeholder 2">
            <a:extLst>
              <a:ext uri="{FF2B5EF4-FFF2-40B4-BE49-F238E27FC236}">
                <a16:creationId xmlns:a16="http://schemas.microsoft.com/office/drawing/2014/main" id="{D24DC9E9-2EB3-E88D-1ED7-F0D989E5C347}"/>
              </a:ext>
            </a:extLst>
          </p:cNvPr>
          <p:cNvSpPr>
            <a:spLocks noGrp="1"/>
          </p:cNvSpPr>
          <p:nvPr>
            <p:ph idx="1"/>
          </p:nvPr>
        </p:nvSpPr>
        <p:spPr>
          <a:xfrm>
            <a:off x="6324601" y="914400"/>
            <a:ext cx="4800600" cy="5105400"/>
          </a:xfrm>
        </p:spPr>
        <p:txBody>
          <a:bodyPr anchor="ctr">
            <a:normAutofit/>
          </a:bodyPr>
          <a:lstStyle/>
          <a:p>
            <a:pPr>
              <a:lnSpc>
                <a:spcPct val="100000"/>
              </a:lnSpc>
            </a:pPr>
            <a:r>
              <a:rPr lang="en-GB" sz="1700" b="0" i="0">
                <a:effectLst/>
                <a:latin typeface="Söhne"/>
              </a:rPr>
              <a:t>Cyclical patterns in time series data refer to longer-term, periodic fluctuations or oscillations that are not as regular as seasonal patterns. Unlike seasonality, cyclical patterns do not have a fixed and predictable duration. These patterns typically last for an extended period, often several years, and are characterized by a rise and fall in data values. Here's a more detailed explanation of cyclical patterns:</a:t>
            </a:r>
          </a:p>
          <a:p>
            <a:pPr>
              <a:lnSpc>
                <a:spcPct val="100000"/>
              </a:lnSpc>
            </a:pPr>
            <a:r>
              <a:rPr lang="en-GB" sz="1700" b="1" i="0">
                <a:effectLst/>
                <a:latin typeface="Söhne"/>
              </a:rPr>
              <a:t>Definition of Cyclical Patterns:</a:t>
            </a:r>
            <a:endParaRPr lang="en-GB" sz="1700" b="0" i="0">
              <a:effectLst/>
              <a:latin typeface="Söhne"/>
            </a:endParaRPr>
          </a:p>
          <a:p>
            <a:pPr>
              <a:lnSpc>
                <a:spcPct val="100000"/>
              </a:lnSpc>
              <a:buFont typeface="Arial" panose="020B0604020202020204" pitchFamily="34" charset="0"/>
              <a:buChar char="•"/>
            </a:pPr>
            <a:r>
              <a:rPr lang="en-GB" sz="1700" b="0" i="0">
                <a:effectLst/>
                <a:latin typeface="Söhne"/>
              </a:rPr>
              <a:t>Cyclical patterns in time series data represent the recurring, non-seasonal oscillations or fluctuations that occur over longer time frames. They are usually associated with economic, business, or other phenomena and often reflect the rise and fall of certain trends. Cyclical patterns are less predictable in terms of their duration and amplitude compared to seasonal patterns.</a:t>
            </a:r>
          </a:p>
          <a:p>
            <a:pPr>
              <a:lnSpc>
                <a:spcPct val="100000"/>
              </a:lnSpc>
            </a:pPr>
            <a:endParaRPr lang="en-IE" sz="1700"/>
          </a:p>
        </p:txBody>
      </p:sp>
    </p:spTree>
    <p:extLst>
      <p:ext uri="{BB962C8B-B14F-4D97-AF65-F5344CB8AC3E}">
        <p14:creationId xmlns:p14="http://schemas.microsoft.com/office/powerpoint/2010/main" val="383205740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4" name="Picture 13">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055F46A2-2785-8C28-A026-0660D6692B8B}"/>
              </a:ext>
            </a:extLst>
          </p:cNvPr>
          <p:cNvSpPr>
            <a:spLocks noGrp="1"/>
          </p:cNvSpPr>
          <p:nvPr>
            <p:ph type="title"/>
          </p:nvPr>
        </p:nvSpPr>
        <p:spPr>
          <a:xfrm>
            <a:off x="838201" y="559813"/>
            <a:ext cx="3352799" cy="5577934"/>
          </a:xfrm>
        </p:spPr>
        <p:txBody>
          <a:bodyPr>
            <a:normAutofit/>
          </a:bodyPr>
          <a:lstStyle/>
          <a:p>
            <a:r>
              <a:rPr lang="en-IE" sz="4000" b="1" i="0">
                <a:effectLst/>
                <a:latin typeface="Söhne"/>
              </a:rPr>
              <a:t>Characteristics of Cyclical Patterns:</a:t>
            </a:r>
            <a:endParaRPr lang="en-IE" sz="4000"/>
          </a:p>
        </p:txBody>
      </p:sp>
      <p:graphicFrame>
        <p:nvGraphicFramePr>
          <p:cNvPr id="5" name="Content Placeholder 2">
            <a:extLst>
              <a:ext uri="{FF2B5EF4-FFF2-40B4-BE49-F238E27FC236}">
                <a16:creationId xmlns:a16="http://schemas.microsoft.com/office/drawing/2014/main" id="{20DC4A35-0C2D-41B2-4416-6BF67B7355A5}"/>
              </a:ext>
            </a:extLst>
          </p:cNvPr>
          <p:cNvGraphicFramePr>
            <a:graphicFrameLocks noGrp="1"/>
          </p:cNvGraphicFramePr>
          <p:nvPr>
            <p:ph idx="1"/>
            <p:extLst>
              <p:ext uri="{D42A27DB-BD31-4B8C-83A1-F6EECF244321}">
                <p14:modId xmlns:p14="http://schemas.microsoft.com/office/powerpoint/2010/main" val="1087309513"/>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328055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4" name="Picture 13">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18009BFF-835A-D329-E67E-3000037F8766}"/>
              </a:ext>
            </a:extLst>
          </p:cNvPr>
          <p:cNvSpPr>
            <a:spLocks noGrp="1"/>
          </p:cNvSpPr>
          <p:nvPr>
            <p:ph type="title"/>
          </p:nvPr>
        </p:nvSpPr>
        <p:spPr>
          <a:xfrm>
            <a:off x="838201" y="559813"/>
            <a:ext cx="3352799" cy="5577934"/>
          </a:xfrm>
        </p:spPr>
        <p:txBody>
          <a:bodyPr>
            <a:normAutofit/>
          </a:bodyPr>
          <a:lstStyle/>
          <a:p>
            <a:r>
              <a:rPr lang="en-IE" sz="4000" b="1" i="0">
                <a:effectLst/>
                <a:latin typeface="Söhne"/>
              </a:rPr>
              <a:t>Characteristics of Cyclical Patterns:</a:t>
            </a:r>
            <a:endParaRPr lang="en-IE" sz="4000"/>
          </a:p>
        </p:txBody>
      </p:sp>
      <p:graphicFrame>
        <p:nvGraphicFramePr>
          <p:cNvPr id="5" name="Content Placeholder 2">
            <a:extLst>
              <a:ext uri="{FF2B5EF4-FFF2-40B4-BE49-F238E27FC236}">
                <a16:creationId xmlns:a16="http://schemas.microsoft.com/office/drawing/2014/main" id="{40DAFF77-6FD2-FC17-C1CF-F57158CA1C27}"/>
              </a:ext>
            </a:extLst>
          </p:cNvPr>
          <p:cNvGraphicFramePr>
            <a:graphicFrameLocks noGrp="1"/>
          </p:cNvGraphicFramePr>
          <p:nvPr>
            <p:ph idx="1"/>
            <p:extLst>
              <p:ext uri="{D42A27DB-BD31-4B8C-83A1-F6EECF244321}">
                <p14:modId xmlns:p14="http://schemas.microsoft.com/office/powerpoint/2010/main" val="4294530790"/>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540819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4" name="Picture 13">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9803AB51-52E9-4945-AC77-5DC40685C735}"/>
              </a:ext>
            </a:extLst>
          </p:cNvPr>
          <p:cNvSpPr>
            <a:spLocks noGrp="1"/>
          </p:cNvSpPr>
          <p:nvPr>
            <p:ph type="title"/>
          </p:nvPr>
        </p:nvSpPr>
        <p:spPr>
          <a:xfrm>
            <a:off x="838201" y="559813"/>
            <a:ext cx="3352799" cy="5577934"/>
          </a:xfrm>
        </p:spPr>
        <p:txBody>
          <a:bodyPr>
            <a:normAutofit/>
          </a:bodyPr>
          <a:lstStyle/>
          <a:p>
            <a:r>
              <a:rPr lang="en-GB" sz="4000" b="1" i="0">
                <a:effectLst/>
                <a:latin typeface="Söhne"/>
              </a:rPr>
              <a:t>Objectives of Analysing Cyclical Patterns:</a:t>
            </a:r>
            <a:br>
              <a:rPr lang="en-GB" sz="4000" b="0" i="0">
                <a:effectLst/>
                <a:latin typeface="Söhne"/>
              </a:rPr>
            </a:br>
            <a:br>
              <a:rPr lang="en-GB" sz="4000" b="0" i="0">
                <a:effectLst/>
                <a:latin typeface="Söhne"/>
              </a:rPr>
            </a:br>
            <a:endParaRPr lang="en-IE" sz="4000"/>
          </a:p>
        </p:txBody>
      </p:sp>
      <p:graphicFrame>
        <p:nvGraphicFramePr>
          <p:cNvPr id="5" name="Content Placeholder 2">
            <a:extLst>
              <a:ext uri="{FF2B5EF4-FFF2-40B4-BE49-F238E27FC236}">
                <a16:creationId xmlns:a16="http://schemas.microsoft.com/office/drawing/2014/main" id="{08E51360-CA53-96F1-C902-F8F4EAB8ECF4}"/>
              </a:ext>
            </a:extLst>
          </p:cNvPr>
          <p:cNvGraphicFramePr>
            <a:graphicFrameLocks noGrp="1"/>
          </p:cNvGraphicFramePr>
          <p:nvPr>
            <p:ph idx="1"/>
            <p:extLst>
              <p:ext uri="{D42A27DB-BD31-4B8C-83A1-F6EECF244321}">
                <p14:modId xmlns:p14="http://schemas.microsoft.com/office/powerpoint/2010/main" val="3406525694"/>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084215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34EF7A-11A7-6006-FAD4-AE8F9759840C}"/>
              </a:ext>
            </a:extLst>
          </p:cNvPr>
          <p:cNvSpPr>
            <a:spLocks noGrp="1"/>
          </p:cNvSpPr>
          <p:nvPr>
            <p:ph type="title"/>
          </p:nvPr>
        </p:nvSpPr>
        <p:spPr>
          <a:xfrm>
            <a:off x="1143318" y="914400"/>
            <a:ext cx="4952681" cy="5105400"/>
          </a:xfrm>
        </p:spPr>
        <p:txBody>
          <a:bodyPr anchor="ctr">
            <a:normAutofit/>
          </a:bodyPr>
          <a:lstStyle/>
          <a:p>
            <a:r>
              <a:rPr lang="en-GB" b="1" i="0">
                <a:effectLst/>
                <a:latin typeface="Söhne"/>
              </a:rPr>
              <a:t>Key Steps in Analy</a:t>
            </a:r>
            <a:r>
              <a:rPr lang="en-GB" b="1">
                <a:latin typeface="Söhne"/>
              </a:rPr>
              <a:t>s</a:t>
            </a:r>
            <a:r>
              <a:rPr lang="en-GB" b="1" i="0">
                <a:effectLst/>
                <a:latin typeface="Söhne"/>
              </a:rPr>
              <a:t>ing Cyclical Patterns:</a:t>
            </a:r>
            <a:br>
              <a:rPr lang="en-GB" b="0" i="0">
                <a:effectLst/>
                <a:latin typeface="Söhne"/>
              </a:rPr>
            </a:br>
            <a:br>
              <a:rPr lang="en-GB" b="0" i="0">
                <a:effectLst/>
                <a:latin typeface="Söhne"/>
              </a:rPr>
            </a:br>
            <a:endParaRPr lang="en-IE" dirty="0"/>
          </a:p>
        </p:txBody>
      </p:sp>
      <p:sp>
        <p:nvSpPr>
          <p:cNvPr id="3" name="Content Placeholder 2">
            <a:extLst>
              <a:ext uri="{FF2B5EF4-FFF2-40B4-BE49-F238E27FC236}">
                <a16:creationId xmlns:a16="http://schemas.microsoft.com/office/drawing/2014/main" id="{8EEC2855-563A-06F2-205B-9882A2FA10BF}"/>
              </a:ext>
            </a:extLst>
          </p:cNvPr>
          <p:cNvSpPr>
            <a:spLocks noGrp="1"/>
          </p:cNvSpPr>
          <p:nvPr>
            <p:ph idx="1"/>
          </p:nvPr>
        </p:nvSpPr>
        <p:spPr>
          <a:xfrm>
            <a:off x="6324601" y="914400"/>
            <a:ext cx="4800600" cy="5105400"/>
          </a:xfrm>
        </p:spPr>
        <p:txBody>
          <a:bodyPr anchor="ctr">
            <a:normAutofit/>
          </a:bodyPr>
          <a:lstStyle/>
          <a:p>
            <a:pPr>
              <a:buFont typeface="+mj-lt"/>
              <a:buAutoNum type="arabicPeriod"/>
            </a:pPr>
            <a:r>
              <a:rPr lang="en-GB" sz="1800" b="1" i="0">
                <a:effectLst/>
                <a:latin typeface="Söhne"/>
              </a:rPr>
              <a:t>Time Series Decomposition:</a:t>
            </a:r>
            <a:r>
              <a:rPr lang="en-GB" sz="1800" b="0" i="0">
                <a:effectLst/>
                <a:latin typeface="Söhne"/>
              </a:rPr>
              <a:t> Decompose the time series data into its constituent components, including the trend, seasonal, and irregular components. This helps in isolating the cyclical pattern.</a:t>
            </a:r>
          </a:p>
          <a:p>
            <a:pPr>
              <a:buFont typeface="+mj-lt"/>
              <a:buAutoNum type="arabicPeriod"/>
            </a:pPr>
            <a:r>
              <a:rPr lang="en-GB" sz="1800" b="1" i="0">
                <a:effectLst/>
                <a:latin typeface="Söhne"/>
              </a:rPr>
              <a:t>Cyclic Component Identification:</a:t>
            </a:r>
            <a:r>
              <a:rPr lang="en-GB" sz="1800" b="0" i="0">
                <a:effectLst/>
                <a:latin typeface="Söhne"/>
              </a:rPr>
              <a:t> Use statistical methods, data visualization, and cyclical analysis techniques to identify the cyclical component within the data.</a:t>
            </a:r>
          </a:p>
          <a:p>
            <a:pPr>
              <a:buFont typeface="+mj-lt"/>
              <a:buAutoNum type="arabicPeriod"/>
            </a:pPr>
            <a:r>
              <a:rPr lang="en-GB" sz="1800" b="1" i="0">
                <a:effectLst/>
                <a:latin typeface="Söhne"/>
              </a:rPr>
              <a:t>Cyclical Forecasting:</a:t>
            </a:r>
            <a:r>
              <a:rPr lang="en-GB" sz="1800" b="0" i="0">
                <a:effectLst/>
                <a:latin typeface="Söhne"/>
              </a:rPr>
              <a:t> Develop forecasting models that incorporate cyclical patterns. Techniques like autoregressive integrated moving average (ARIMA) models or structural time series models are often used.</a:t>
            </a:r>
          </a:p>
          <a:p>
            <a:endParaRPr lang="en-IE" sz="1800"/>
          </a:p>
        </p:txBody>
      </p:sp>
    </p:spTree>
    <p:extLst>
      <p:ext uri="{BB962C8B-B14F-4D97-AF65-F5344CB8AC3E}">
        <p14:creationId xmlns:p14="http://schemas.microsoft.com/office/powerpoint/2010/main" val="212315641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13EA8C-EF97-930D-EF05-E2A48EBC8F62}"/>
              </a:ext>
            </a:extLst>
          </p:cNvPr>
          <p:cNvSpPr>
            <a:spLocks noGrp="1"/>
          </p:cNvSpPr>
          <p:nvPr>
            <p:ph type="title"/>
          </p:nvPr>
        </p:nvSpPr>
        <p:spPr>
          <a:xfrm>
            <a:off x="1143318" y="914400"/>
            <a:ext cx="4952681" cy="5105400"/>
          </a:xfrm>
        </p:spPr>
        <p:txBody>
          <a:bodyPr anchor="ctr">
            <a:normAutofit/>
          </a:bodyPr>
          <a:lstStyle/>
          <a:p>
            <a:r>
              <a:rPr lang="en-GB" b="1" i="0">
                <a:effectLst/>
                <a:latin typeface="Söhne"/>
              </a:rPr>
              <a:t>Applications of Analysing Cyclical Patterns:</a:t>
            </a:r>
            <a:br>
              <a:rPr lang="en-GB" b="0" i="0">
                <a:effectLst/>
                <a:latin typeface="Söhne"/>
              </a:rPr>
            </a:br>
            <a:br>
              <a:rPr lang="en-GB" b="0" i="0">
                <a:effectLst/>
                <a:latin typeface="Söhne"/>
              </a:rPr>
            </a:br>
            <a:endParaRPr lang="en-IE" dirty="0"/>
          </a:p>
        </p:txBody>
      </p:sp>
      <p:sp>
        <p:nvSpPr>
          <p:cNvPr id="3" name="Content Placeholder 2">
            <a:extLst>
              <a:ext uri="{FF2B5EF4-FFF2-40B4-BE49-F238E27FC236}">
                <a16:creationId xmlns:a16="http://schemas.microsoft.com/office/drawing/2014/main" id="{8E5E4E88-A49E-527D-3FCD-8D878282C4D7}"/>
              </a:ext>
            </a:extLst>
          </p:cNvPr>
          <p:cNvSpPr>
            <a:spLocks noGrp="1"/>
          </p:cNvSpPr>
          <p:nvPr>
            <p:ph idx="1"/>
          </p:nvPr>
        </p:nvSpPr>
        <p:spPr>
          <a:xfrm>
            <a:off x="6324601" y="914400"/>
            <a:ext cx="4800600" cy="5105400"/>
          </a:xfrm>
        </p:spPr>
        <p:txBody>
          <a:bodyPr anchor="ctr">
            <a:normAutofit/>
          </a:bodyPr>
          <a:lstStyle/>
          <a:p>
            <a:pPr>
              <a:buFont typeface="Arial" panose="020B0604020202020204" pitchFamily="34" charset="0"/>
              <a:buChar char="•"/>
            </a:pPr>
            <a:r>
              <a:rPr lang="en-GB" sz="1800" b="0" i="0">
                <a:effectLst/>
                <a:latin typeface="Söhne"/>
              </a:rPr>
              <a:t>Analysing cyclical patterns is important in various fields and applications, such as Economic Analysis: Understanding the cyclical nature of economic indicators like gross domestic product (GDP) and employment rates.</a:t>
            </a:r>
          </a:p>
          <a:p>
            <a:pPr>
              <a:buFont typeface="Arial" panose="020B0604020202020204" pitchFamily="34" charset="0"/>
              <a:buChar char="•"/>
            </a:pPr>
            <a:r>
              <a:rPr lang="en-GB" sz="1800" b="0" i="0">
                <a:effectLst/>
                <a:latin typeface="Söhne"/>
              </a:rPr>
              <a:t>Financial Forecasting: Predicting trends in financial markets, commodity prices, or stock market indices.</a:t>
            </a:r>
          </a:p>
          <a:p>
            <a:pPr>
              <a:buFont typeface="Arial" panose="020B0604020202020204" pitchFamily="34" charset="0"/>
              <a:buChar char="•"/>
            </a:pPr>
            <a:r>
              <a:rPr lang="en-GB" sz="1800" b="0" i="0">
                <a:effectLst/>
                <a:latin typeface="Söhne"/>
              </a:rPr>
              <a:t>Business Strategy: Identifying cyclical trends in sales, demand, or revenue to inform business decisions.</a:t>
            </a:r>
          </a:p>
          <a:p>
            <a:pPr>
              <a:buFont typeface="Arial" panose="020B0604020202020204" pitchFamily="34" charset="0"/>
              <a:buChar char="•"/>
            </a:pPr>
            <a:r>
              <a:rPr lang="en-GB" sz="1800" b="0" i="0">
                <a:effectLst/>
                <a:latin typeface="Söhne"/>
              </a:rPr>
              <a:t>Policy Making: Guiding government policies related to economic stability and growth.</a:t>
            </a:r>
          </a:p>
          <a:p>
            <a:endParaRPr lang="en-IE" sz="1800"/>
          </a:p>
        </p:txBody>
      </p:sp>
    </p:spTree>
    <p:extLst>
      <p:ext uri="{BB962C8B-B14F-4D97-AF65-F5344CB8AC3E}">
        <p14:creationId xmlns:p14="http://schemas.microsoft.com/office/powerpoint/2010/main" val="250168232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0478C8-4F67-9306-EBA6-EAF9726C132D}"/>
              </a:ext>
            </a:extLst>
          </p:cNvPr>
          <p:cNvSpPr>
            <a:spLocks noGrp="1"/>
          </p:cNvSpPr>
          <p:nvPr>
            <p:ph type="title"/>
          </p:nvPr>
        </p:nvSpPr>
        <p:spPr>
          <a:xfrm>
            <a:off x="1143318" y="914400"/>
            <a:ext cx="4952681" cy="5105400"/>
          </a:xfrm>
        </p:spPr>
        <p:txBody>
          <a:bodyPr anchor="ctr">
            <a:normAutofit/>
          </a:bodyPr>
          <a:lstStyle/>
          <a:p>
            <a:r>
              <a:rPr lang="en-GB" b="1" i="0">
                <a:effectLst/>
                <a:latin typeface="Söhne"/>
              </a:rPr>
              <a:t>Applications of Analysing Cyclical Patterns:</a:t>
            </a:r>
            <a:br>
              <a:rPr lang="en-GB" b="0" i="0">
                <a:effectLst/>
                <a:latin typeface="Söhne"/>
              </a:rPr>
            </a:br>
            <a:br>
              <a:rPr lang="en-GB" b="0" i="0">
                <a:effectLst/>
                <a:latin typeface="Söhne"/>
              </a:rPr>
            </a:br>
            <a:endParaRPr lang="en-IE" dirty="0"/>
          </a:p>
        </p:txBody>
      </p:sp>
      <p:sp>
        <p:nvSpPr>
          <p:cNvPr id="3" name="Content Placeholder 2">
            <a:extLst>
              <a:ext uri="{FF2B5EF4-FFF2-40B4-BE49-F238E27FC236}">
                <a16:creationId xmlns:a16="http://schemas.microsoft.com/office/drawing/2014/main" id="{C46E67B4-D6FD-1832-1A73-E0E65B205DC6}"/>
              </a:ext>
            </a:extLst>
          </p:cNvPr>
          <p:cNvSpPr>
            <a:spLocks noGrp="1"/>
          </p:cNvSpPr>
          <p:nvPr>
            <p:ph idx="1"/>
          </p:nvPr>
        </p:nvSpPr>
        <p:spPr>
          <a:xfrm>
            <a:off x="6324601" y="914400"/>
            <a:ext cx="4800600" cy="5105400"/>
          </a:xfrm>
        </p:spPr>
        <p:txBody>
          <a:bodyPr anchor="ctr">
            <a:normAutofit/>
          </a:bodyPr>
          <a:lstStyle/>
          <a:p>
            <a:r>
              <a:rPr lang="en-GB" sz="1800" b="0" i="0">
                <a:effectLst/>
                <a:latin typeface="Söhne"/>
              </a:rPr>
              <a:t>By analysing cyclical patterns in time series data, analysts gain insights into the longer-term fluctuations that can significantly impact decision-making in various domains. It allows for better forecasting and planning in the presence of cyclical trends.</a:t>
            </a:r>
            <a:endParaRPr lang="en-IE" sz="1800"/>
          </a:p>
        </p:txBody>
      </p:sp>
    </p:spTree>
    <p:extLst>
      <p:ext uri="{BB962C8B-B14F-4D97-AF65-F5344CB8AC3E}">
        <p14:creationId xmlns:p14="http://schemas.microsoft.com/office/powerpoint/2010/main" val="57063461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4" name="Picture 13">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7" name="Rectangle 16">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FC5BA94B-20E3-F590-2930-F3880DFABF33}"/>
              </a:ext>
            </a:extLst>
          </p:cNvPr>
          <p:cNvSpPr>
            <a:spLocks noGrp="1" noChangeArrowheads="1"/>
          </p:cNvSpPr>
          <p:nvPr>
            <p:ph type="title"/>
          </p:nvPr>
        </p:nvSpPr>
        <p:spPr bwMode="auto">
          <a:xfrm>
            <a:off x="1143318" y="914400"/>
            <a:ext cx="4952681" cy="5105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spcBef>
                <a:spcPct val="0"/>
              </a:spcBef>
              <a:spcAft>
                <a:spcPct val="0"/>
              </a:spcAft>
              <a:buClrTx/>
              <a:buSzTx/>
              <a:buFontTx/>
              <a:buNone/>
              <a:tabLst/>
            </a:pPr>
            <a:r>
              <a:rPr kumimoji="0" lang="en-US" altLang="en-US" b="0" i="0" u="none" strike="noStrike" cap="none" normalizeH="0" baseline="0" dirty="0">
                <a:ln>
                  <a:noFill/>
                </a:ln>
                <a:effectLst/>
                <a:latin typeface="Söhne"/>
              </a:rPr>
              <a:t>Time Series Decomposition</a:t>
            </a:r>
          </a:p>
          <a:p>
            <a:pPr marL="0" marR="0" lvl="0" indent="0" defTabSz="914400" rtl="0" eaLnBrk="0" fontAlgn="base" latinLnBrk="0" hangingPunct="0">
              <a:spcBef>
                <a:spcPct val="0"/>
              </a:spcBef>
              <a:spcAft>
                <a:spcPct val="0"/>
              </a:spcAft>
              <a:buClrTx/>
              <a:buSzTx/>
              <a:buFontTx/>
              <a:buNone/>
              <a:tabLst/>
            </a:pPr>
            <a:br>
              <a:rPr kumimoji="0" lang="en-US" altLang="en-US" b="0" i="0" u="none" strike="noStrike" cap="none" normalizeH="0" baseline="0" dirty="0">
                <a:ln>
                  <a:noFill/>
                </a:ln>
                <a:effectLst/>
                <a:latin typeface="Söhne"/>
              </a:rPr>
            </a:br>
            <a:endParaRPr kumimoji="0" lang="en-US" altLang="en-US" b="0" i="0" u="none" strike="noStrike" cap="none" normalizeH="0" baseline="0" dirty="0">
              <a:ln>
                <a:noFill/>
              </a:ln>
              <a:effectLst/>
              <a:latin typeface="Arial" panose="020B0604020202020204" pitchFamily="34" charset="0"/>
            </a:endParaRPr>
          </a:p>
        </p:txBody>
      </p:sp>
      <p:sp>
        <p:nvSpPr>
          <p:cNvPr id="3" name="Content Placeholder 2">
            <a:extLst>
              <a:ext uri="{FF2B5EF4-FFF2-40B4-BE49-F238E27FC236}">
                <a16:creationId xmlns:a16="http://schemas.microsoft.com/office/drawing/2014/main" id="{82E3704B-AC8F-4CC8-ADA4-CBCBE507D872}"/>
              </a:ext>
            </a:extLst>
          </p:cNvPr>
          <p:cNvSpPr>
            <a:spLocks noGrp="1"/>
          </p:cNvSpPr>
          <p:nvPr>
            <p:ph idx="1"/>
          </p:nvPr>
        </p:nvSpPr>
        <p:spPr>
          <a:xfrm>
            <a:off x="6324601" y="914400"/>
            <a:ext cx="4800600" cy="5105400"/>
          </a:xfrm>
        </p:spPr>
        <p:txBody>
          <a:bodyPr anchor="ctr">
            <a:normAutofit/>
          </a:bodyPr>
          <a:lstStyle/>
          <a:p>
            <a:r>
              <a:rPr lang="en-GB" sz="1800" b="0" i="0">
                <a:effectLst/>
                <a:latin typeface="Söhne"/>
              </a:rPr>
              <a:t>Time series decomposition is a fundamental technique used in time series analysis to break down a complex time series dataset into its constituent components. These components include the trend, seasonal variations, cyclical patterns, and irregular or residual variations. The goal of decomposition is to understand and model each of these components separately, which helps in making more accurate forecasts, identifying patterns, and extracting valuable insights from time series data. Here's a detailed explanation of time series decomposition:</a:t>
            </a:r>
            <a:endParaRPr lang="en-IE" sz="1800"/>
          </a:p>
        </p:txBody>
      </p:sp>
    </p:spTree>
    <p:extLst>
      <p:ext uri="{BB962C8B-B14F-4D97-AF65-F5344CB8AC3E}">
        <p14:creationId xmlns:p14="http://schemas.microsoft.com/office/powerpoint/2010/main" val="411517725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02E7B4-1596-5EEC-2429-EAA9C658E356}"/>
              </a:ext>
            </a:extLst>
          </p:cNvPr>
          <p:cNvSpPr>
            <a:spLocks noGrp="1"/>
          </p:cNvSpPr>
          <p:nvPr>
            <p:ph type="title"/>
          </p:nvPr>
        </p:nvSpPr>
        <p:spPr>
          <a:xfrm>
            <a:off x="1143318" y="914400"/>
            <a:ext cx="4952681" cy="5105400"/>
          </a:xfrm>
        </p:spPr>
        <p:txBody>
          <a:bodyPr anchor="ctr">
            <a:normAutofit/>
          </a:bodyPr>
          <a:lstStyle/>
          <a:p>
            <a:r>
              <a:rPr lang="en-GB" b="1" i="0" dirty="0">
                <a:effectLst/>
                <a:latin typeface="Söhne"/>
              </a:rPr>
              <a:t>Components of Time Series Decomposition:</a:t>
            </a:r>
            <a:endParaRPr lang="en-IE" dirty="0"/>
          </a:p>
        </p:txBody>
      </p:sp>
      <p:sp>
        <p:nvSpPr>
          <p:cNvPr id="3" name="Content Placeholder 2">
            <a:extLst>
              <a:ext uri="{FF2B5EF4-FFF2-40B4-BE49-F238E27FC236}">
                <a16:creationId xmlns:a16="http://schemas.microsoft.com/office/drawing/2014/main" id="{32BE13CB-EF72-2862-6A0B-85EC7159CFD8}"/>
              </a:ext>
            </a:extLst>
          </p:cNvPr>
          <p:cNvSpPr>
            <a:spLocks noGrp="1"/>
          </p:cNvSpPr>
          <p:nvPr>
            <p:ph idx="1"/>
          </p:nvPr>
        </p:nvSpPr>
        <p:spPr>
          <a:xfrm>
            <a:off x="6324601" y="914400"/>
            <a:ext cx="4800600" cy="5105400"/>
          </a:xfrm>
        </p:spPr>
        <p:txBody>
          <a:bodyPr anchor="ctr">
            <a:normAutofit/>
          </a:bodyPr>
          <a:lstStyle/>
          <a:p>
            <a:pPr marL="342900" indent="-342900">
              <a:lnSpc>
                <a:spcPct val="100000"/>
              </a:lnSpc>
              <a:buAutoNum type="arabicPeriod"/>
            </a:pPr>
            <a:r>
              <a:rPr lang="en-GB" sz="1800" b="1" i="0" dirty="0">
                <a:effectLst/>
                <a:latin typeface="Söhne"/>
              </a:rPr>
              <a:t>Trend Component:</a:t>
            </a:r>
            <a:r>
              <a:rPr lang="en-GB" sz="1800" b="0" i="0" dirty="0">
                <a:effectLst/>
                <a:latin typeface="Söhne"/>
              </a:rPr>
              <a:t> The trend component represents the long-term, underlying movement in the time series data. It captures the general direction and persistent changes over an extended period. For example, in the context of stock prices, the trend component might reveal whether the stock is generally increasing or decreasing in value over time.</a:t>
            </a:r>
          </a:p>
          <a:p>
            <a:pPr marL="342900" indent="-342900">
              <a:lnSpc>
                <a:spcPct val="100000"/>
              </a:lnSpc>
              <a:buAutoNum type="arabicPeriod"/>
            </a:pPr>
            <a:r>
              <a:rPr lang="en-GB" sz="1800" b="1" i="0" dirty="0">
                <a:effectLst/>
                <a:latin typeface="Söhne"/>
              </a:rPr>
              <a:t>Seasonal Component:</a:t>
            </a:r>
            <a:r>
              <a:rPr lang="en-GB" sz="1800" b="0" i="0" dirty="0">
                <a:effectLst/>
                <a:latin typeface="Söhne"/>
              </a:rPr>
              <a:t> The seasonal component accounts for the regular, repetitive patterns in the data that occur at fixed time intervals. These patterns can be daily, monthly, quarterly, or any other regular interval. Seasonal variations are often linked to calendar-related events. For example, retail sales may exhibit a seasonal spike during the holiday shopping season.</a:t>
            </a:r>
          </a:p>
          <a:p>
            <a:pPr>
              <a:lnSpc>
                <a:spcPct val="100000"/>
              </a:lnSpc>
            </a:pPr>
            <a:endParaRPr lang="en-IE" sz="1800" dirty="0"/>
          </a:p>
        </p:txBody>
      </p:sp>
    </p:spTree>
    <p:extLst>
      <p:ext uri="{BB962C8B-B14F-4D97-AF65-F5344CB8AC3E}">
        <p14:creationId xmlns:p14="http://schemas.microsoft.com/office/powerpoint/2010/main" val="270842226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4" name="Picture 13">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5D4DD973-E212-4AB3-D8CE-377DEB31352B}"/>
              </a:ext>
            </a:extLst>
          </p:cNvPr>
          <p:cNvSpPr>
            <a:spLocks noGrp="1"/>
          </p:cNvSpPr>
          <p:nvPr>
            <p:ph type="title"/>
          </p:nvPr>
        </p:nvSpPr>
        <p:spPr>
          <a:xfrm>
            <a:off x="838201" y="559813"/>
            <a:ext cx="3352799" cy="5577934"/>
          </a:xfrm>
        </p:spPr>
        <p:txBody>
          <a:bodyPr>
            <a:normAutofit/>
          </a:bodyPr>
          <a:lstStyle/>
          <a:p>
            <a:r>
              <a:rPr lang="en-GB" sz="3700" b="1" i="0">
                <a:effectLst/>
                <a:latin typeface="Söhne"/>
              </a:rPr>
              <a:t>Components of Time Series Decomposition:</a:t>
            </a:r>
            <a:endParaRPr lang="en-IE" sz="3700"/>
          </a:p>
        </p:txBody>
      </p:sp>
      <p:graphicFrame>
        <p:nvGraphicFramePr>
          <p:cNvPr id="5" name="Content Placeholder 2">
            <a:extLst>
              <a:ext uri="{FF2B5EF4-FFF2-40B4-BE49-F238E27FC236}">
                <a16:creationId xmlns:a16="http://schemas.microsoft.com/office/drawing/2014/main" id="{6A20B41D-7E05-B19E-CAC1-A886CD39DE41}"/>
              </a:ext>
            </a:extLst>
          </p:cNvPr>
          <p:cNvGraphicFramePr>
            <a:graphicFrameLocks noGrp="1"/>
          </p:cNvGraphicFramePr>
          <p:nvPr>
            <p:ph idx="1"/>
            <p:extLst>
              <p:ext uri="{D42A27DB-BD31-4B8C-83A1-F6EECF244321}">
                <p14:modId xmlns:p14="http://schemas.microsoft.com/office/powerpoint/2010/main" val="3104596391"/>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7815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4" name="Picture 13">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C21DE819-31AD-278F-3BF7-541F29DB4C03}"/>
              </a:ext>
            </a:extLst>
          </p:cNvPr>
          <p:cNvSpPr>
            <a:spLocks noGrp="1"/>
          </p:cNvSpPr>
          <p:nvPr>
            <p:ph type="title"/>
          </p:nvPr>
        </p:nvSpPr>
        <p:spPr>
          <a:xfrm>
            <a:off x="838201" y="559813"/>
            <a:ext cx="3352799" cy="5577934"/>
          </a:xfrm>
        </p:spPr>
        <p:txBody>
          <a:bodyPr>
            <a:normAutofit/>
          </a:bodyPr>
          <a:lstStyle/>
          <a:p>
            <a:r>
              <a:rPr lang="en-GB" sz="3700" b="1" i="0">
                <a:effectLst/>
                <a:latin typeface="Söhne"/>
              </a:rPr>
              <a:t>Importance of Time Series Decomposition:</a:t>
            </a:r>
            <a:endParaRPr lang="en-IE" sz="3700"/>
          </a:p>
        </p:txBody>
      </p:sp>
      <p:graphicFrame>
        <p:nvGraphicFramePr>
          <p:cNvPr id="5" name="Content Placeholder 2">
            <a:extLst>
              <a:ext uri="{FF2B5EF4-FFF2-40B4-BE49-F238E27FC236}">
                <a16:creationId xmlns:a16="http://schemas.microsoft.com/office/drawing/2014/main" id="{A72A084F-2F1B-284E-7679-BA7BE60785EB}"/>
              </a:ext>
            </a:extLst>
          </p:cNvPr>
          <p:cNvGraphicFramePr>
            <a:graphicFrameLocks noGrp="1"/>
          </p:cNvGraphicFramePr>
          <p:nvPr>
            <p:ph idx="1"/>
            <p:extLst>
              <p:ext uri="{D42A27DB-BD31-4B8C-83A1-F6EECF244321}">
                <p14:modId xmlns:p14="http://schemas.microsoft.com/office/powerpoint/2010/main" val="2579012006"/>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6777267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4" name="Picture 13">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DBABC0BA-F348-7C34-B20C-5F298B269744}"/>
              </a:ext>
            </a:extLst>
          </p:cNvPr>
          <p:cNvSpPr>
            <a:spLocks noGrp="1"/>
          </p:cNvSpPr>
          <p:nvPr>
            <p:ph type="title"/>
          </p:nvPr>
        </p:nvSpPr>
        <p:spPr>
          <a:xfrm>
            <a:off x="838201" y="559813"/>
            <a:ext cx="3352799" cy="5577934"/>
          </a:xfrm>
        </p:spPr>
        <p:txBody>
          <a:bodyPr>
            <a:normAutofit/>
          </a:bodyPr>
          <a:lstStyle/>
          <a:p>
            <a:r>
              <a:rPr lang="en-GB" sz="3700" b="1" i="0">
                <a:effectLst/>
                <a:latin typeface="Söhne"/>
              </a:rPr>
              <a:t>Methods for Time Series Decomposition:</a:t>
            </a:r>
            <a:endParaRPr lang="en-IE" sz="3700"/>
          </a:p>
        </p:txBody>
      </p:sp>
      <p:graphicFrame>
        <p:nvGraphicFramePr>
          <p:cNvPr id="5" name="Content Placeholder 2">
            <a:extLst>
              <a:ext uri="{FF2B5EF4-FFF2-40B4-BE49-F238E27FC236}">
                <a16:creationId xmlns:a16="http://schemas.microsoft.com/office/drawing/2014/main" id="{D9439DE4-1980-1CEF-5E83-6F83D3FEE5D7}"/>
              </a:ext>
            </a:extLst>
          </p:cNvPr>
          <p:cNvGraphicFramePr>
            <a:graphicFrameLocks noGrp="1"/>
          </p:cNvGraphicFramePr>
          <p:nvPr>
            <p:ph idx="1"/>
            <p:extLst>
              <p:ext uri="{D42A27DB-BD31-4B8C-83A1-F6EECF244321}">
                <p14:modId xmlns:p14="http://schemas.microsoft.com/office/powerpoint/2010/main" val="3108297308"/>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3386930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3" name="Group 12">
            <a:extLst>
              <a:ext uri="{FF2B5EF4-FFF2-40B4-BE49-F238E27FC236}">
                <a16:creationId xmlns:a16="http://schemas.microsoft.com/office/drawing/2014/main" id="{7AB7BDB5-BE0D-446B-AA57-16A1D859E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3048" y="1"/>
            <a:ext cx="5236971" cy="6858000"/>
            <a:chOff x="20829" y="1"/>
            <a:chExt cx="5236971" cy="6857999"/>
          </a:xfrm>
        </p:grpSpPr>
        <p:pic>
          <p:nvPicPr>
            <p:cNvPr id="14" name="Picture 13">
              <a:extLst>
                <a:ext uri="{FF2B5EF4-FFF2-40B4-BE49-F238E27FC236}">
                  <a16:creationId xmlns:a16="http://schemas.microsoft.com/office/drawing/2014/main" id="{8908FD00-E296-493C-89F7-EE7DB15D200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5" name="Picture 14">
              <a:extLst>
                <a:ext uri="{FF2B5EF4-FFF2-40B4-BE49-F238E27FC236}">
                  <a16:creationId xmlns:a16="http://schemas.microsoft.com/office/drawing/2014/main" id="{0E9000E1-E55C-4724-B0E8-CC588826F51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duotone>
                <a:schemeClr val="accent6">
                  <a:shade val="45000"/>
                  <a:satMod val="135000"/>
                </a:schemeClr>
                <a:prstClr val="white"/>
              </a:duotone>
              <a:alphaModFix amt="10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 name="Title 1">
            <a:extLst>
              <a:ext uri="{FF2B5EF4-FFF2-40B4-BE49-F238E27FC236}">
                <a16:creationId xmlns:a16="http://schemas.microsoft.com/office/drawing/2014/main" id="{322C3737-0A4C-6168-409E-8F5C14362F87}"/>
              </a:ext>
            </a:extLst>
          </p:cNvPr>
          <p:cNvSpPr>
            <a:spLocks noGrp="1"/>
          </p:cNvSpPr>
          <p:nvPr>
            <p:ph type="title"/>
          </p:nvPr>
        </p:nvSpPr>
        <p:spPr>
          <a:xfrm>
            <a:off x="838201" y="559813"/>
            <a:ext cx="3352799" cy="5577934"/>
          </a:xfrm>
        </p:spPr>
        <p:txBody>
          <a:bodyPr>
            <a:normAutofit/>
          </a:bodyPr>
          <a:lstStyle/>
          <a:p>
            <a:r>
              <a:rPr lang="en-GB" sz="3700" b="1" i="0">
                <a:effectLst/>
                <a:latin typeface="Söhne"/>
              </a:rPr>
              <a:t>Steps in Time Series Decomposition:</a:t>
            </a:r>
            <a:endParaRPr lang="en-IE" sz="3700"/>
          </a:p>
        </p:txBody>
      </p:sp>
      <p:graphicFrame>
        <p:nvGraphicFramePr>
          <p:cNvPr id="5" name="Content Placeholder 2">
            <a:extLst>
              <a:ext uri="{FF2B5EF4-FFF2-40B4-BE49-F238E27FC236}">
                <a16:creationId xmlns:a16="http://schemas.microsoft.com/office/drawing/2014/main" id="{8B0C697B-F3D8-C7CD-A22F-AD49609341DF}"/>
              </a:ext>
            </a:extLst>
          </p:cNvPr>
          <p:cNvGraphicFramePr>
            <a:graphicFrameLocks noGrp="1"/>
          </p:cNvGraphicFramePr>
          <p:nvPr>
            <p:ph idx="1"/>
            <p:extLst>
              <p:ext uri="{D42A27DB-BD31-4B8C-83A1-F6EECF244321}">
                <p14:modId xmlns:p14="http://schemas.microsoft.com/office/powerpoint/2010/main" val="2356386510"/>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8285084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9" name="Rectangle 18">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20" name="Group 19">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294823-0239-DA48-3276-C78ED9ECB51B}"/>
              </a:ext>
            </a:extLst>
          </p:cNvPr>
          <p:cNvSpPr>
            <a:spLocks noGrp="1"/>
          </p:cNvSpPr>
          <p:nvPr>
            <p:ph type="title"/>
          </p:nvPr>
        </p:nvSpPr>
        <p:spPr>
          <a:xfrm>
            <a:off x="1143318" y="914400"/>
            <a:ext cx="4952681" cy="5105400"/>
          </a:xfrm>
        </p:spPr>
        <p:txBody>
          <a:bodyPr anchor="ctr">
            <a:normAutofit/>
          </a:bodyPr>
          <a:lstStyle/>
          <a:p>
            <a:r>
              <a:rPr lang="en-GB" b="0" i="0">
                <a:effectLst/>
                <a:latin typeface="Söhne"/>
              </a:rPr>
              <a:t>Decomposition Methods: Discussing additive and multiplicative decomposition techniques</a:t>
            </a:r>
            <a:endParaRPr lang="en-IE" dirty="0"/>
          </a:p>
        </p:txBody>
      </p:sp>
      <p:sp>
        <p:nvSpPr>
          <p:cNvPr id="3" name="Content Placeholder 2">
            <a:extLst>
              <a:ext uri="{FF2B5EF4-FFF2-40B4-BE49-F238E27FC236}">
                <a16:creationId xmlns:a16="http://schemas.microsoft.com/office/drawing/2014/main" id="{5C48BA05-7AD1-C3AC-B5E7-053C0A3126E3}"/>
              </a:ext>
            </a:extLst>
          </p:cNvPr>
          <p:cNvSpPr>
            <a:spLocks noGrp="1"/>
          </p:cNvSpPr>
          <p:nvPr>
            <p:ph idx="1"/>
          </p:nvPr>
        </p:nvSpPr>
        <p:spPr>
          <a:xfrm>
            <a:off x="6324601" y="914400"/>
            <a:ext cx="4800600" cy="5105400"/>
          </a:xfrm>
        </p:spPr>
        <p:txBody>
          <a:bodyPr anchor="ctr">
            <a:normAutofit/>
          </a:bodyPr>
          <a:lstStyle/>
          <a:p>
            <a:r>
              <a:rPr lang="en-GB" sz="1800" b="0" i="0">
                <a:effectLst/>
                <a:latin typeface="Söhne"/>
              </a:rPr>
              <a:t>Decomposition methods are fundamental in time series analysis, allowing you to break down a time series into its constituent components: trend, seasonal, cyclical, and irregular. There are two main approaches to decomposition: additive and multiplicative.</a:t>
            </a:r>
            <a:endParaRPr lang="en-IE" sz="1800"/>
          </a:p>
        </p:txBody>
      </p:sp>
    </p:spTree>
    <p:extLst>
      <p:ext uri="{BB962C8B-B14F-4D97-AF65-F5344CB8AC3E}">
        <p14:creationId xmlns:p14="http://schemas.microsoft.com/office/powerpoint/2010/main" val="297057918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B739DD-F95A-D658-20EF-2CF328E8D11D}"/>
              </a:ext>
            </a:extLst>
          </p:cNvPr>
          <p:cNvSpPr>
            <a:spLocks noGrp="1"/>
          </p:cNvSpPr>
          <p:nvPr>
            <p:ph type="title"/>
          </p:nvPr>
        </p:nvSpPr>
        <p:spPr>
          <a:xfrm>
            <a:off x="1143318" y="914400"/>
            <a:ext cx="4952681" cy="5105400"/>
          </a:xfrm>
        </p:spPr>
        <p:txBody>
          <a:bodyPr anchor="ctr">
            <a:normAutofit/>
          </a:bodyPr>
          <a:lstStyle/>
          <a:p>
            <a:r>
              <a:rPr lang="en-IE" b="1" i="0" dirty="0">
                <a:effectLst/>
                <a:latin typeface="Söhne"/>
              </a:rPr>
              <a:t>Additive Decomposition:</a:t>
            </a:r>
            <a:endParaRPr lang="en-IE" dirty="0"/>
          </a:p>
        </p:txBody>
      </p:sp>
      <p:sp>
        <p:nvSpPr>
          <p:cNvPr id="3" name="Content Placeholder 2">
            <a:extLst>
              <a:ext uri="{FF2B5EF4-FFF2-40B4-BE49-F238E27FC236}">
                <a16:creationId xmlns:a16="http://schemas.microsoft.com/office/drawing/2014/main" id="{8846FD95-4392-78E1-70E0-25B77C42733B}"/>
              </a:ext>
            </a:extLst>
          </p:cNvPr>
          <p:cNvSpPr>
            <a:spLocks noGrp="1"/>
          </p:cNvSpPr>
          <p:nvPr>
            <p:ph idx="1"/>
          </p:nvPr>
        </p:nvSpPr>
        <p:spPr>
          <a:xfrm>
            <a:off x="6324601" y="914400"/>
            <a:ext cx="4800600" cy="5105400"/>
          </a:xfrm>
        </p:spPr>
        <p:txBody>
          <a:bodyPr anchor="ctr">
            <a:normAutofit/>
          </a:bodyPr>
          <a:lstStyle/>
          <a:p>
            <a:pPr>
              <a:buFont typeface="Arial" panose="020B0604020202020204" pitchFamily="34" charset="0"/>
              <a:buChar char="•"/>
            </a:pPr>
            <a:r>
              <a:rPr lang="en-GB" sz="1800" b="0" i="0">
                <a:effectLst/>
                <a:latin typeface="Söhne"/>
              </a:rPr>
              <a:t>In additive decomposition, the components are combined by addition.</a:t>
            </a:r>
          </a:p>
          <a:p>
            <a:pPr>
              <a:buFont typeface="Arial" panose="020B0604020202020204" pitchFamily="34" charset="0"/>
              <a:buChar char="•"/>
            </a:pPr>
            <a:r>
              <a:rPr lang="en-GB" sz="1800" b="0" i="0">
                <a:effectLst/>
                <a:latin typeface="Söhne"/>
              </a:rPr>
              <a:t>The observed time series is expressed as the sum of the individual components: </a:t>
            </a:r>
            <a:r>
              <a:rPr lang="en-GB" sz="1800" b="1" i="0">
                <a:effectLst/>
                <a:latin typeface="Söhne"/>
              </a:rPr>
              <a:t>Observed = Trend + Seasonal + Cyclical + Irregular</a:t>
            </a:r>
            <a:r>
              <a:rPr lang="en-GB" sz="1800" b="0" i="0">
                <a:effectLst/>
                <a:latin typeface="Söhne"/>
              </a:rPr>
              <a:t>.</a:t>
            </a:r>
          </a:p>
          <a:p>
            <a:pPr>
              <a:buFont typeface="Arial" panose="020B0604020202020204" pitchFamily="34" charset="0"/>
              <a:buChar char="•"/>
            </a:pPr>
            <a:r>
              <a:rPr lang="en-GB" sz="1800" b="0" i="0">
                <a:effectLst/>
                <a:latin typeface="Söhne"/>
              </a:rPr>
              <a:t>Additive decomposition is appropriate when the magnitude of the seasonal and cyclical components remains relatively constant over time.</a:t>
            </a:r>
          </a:p>
          <a:p>
            <a:pPr>
              <a:buFont typeface="Arial" panose="020B0604020202020204" pitchFamily="34" charset="0"/>
              <a:buChar char="•"/>
            </a:pPr>
            <a:r>
              <a:rPr lang="en-GB" sz="1800" b="0" i="0">
                <a:effectLst/>
                <a:latin typeface="Söhne"/>
              </a:rPr>
              <a:t>It is often used when the variations in the data are linear and the seasonal fluctuations do not depend on the level of the series.</a:t>
            </a:r>
          </a:p>
          <a:p>
            <a:endParaRPr lang="en-IE" sz="1800"/>
          </a:p>
        </p:txBody>
      </p:sp>
    </p:spTree>
    <p:extLst>
      <p:ext uri="{BB962C8B-B14F-4D97-AF65-F5344CB8AC3E}">
        <p14:creationId xmlns:p14="http://schemas.microsoft.com/office/powerpoint/2010/main" val="20003057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1647DD-0280-3599-5DA2-CA2FB3B3BFF0}"/>
              </a:ext>
            </a:extLst>
          </p:cNvPr>
          <p:cNvSpPr>
            <a:spLocks noGrp="1"/>
          </p:cNvSpPr>
          <p:nvPr>
            <p:ph type="title"/>
          </p:nvPr>
        </p:nvSpPr>
        <p:spPr>
          <a:xfrm>
            <a:off x="1143318" y="914400"/>
            <a:ext cx="4952681" cy="5105400"/>
          </a:xfrm>
        </p:spPr>
        <p:txBody>
          <a:bodyPr anchor="ctr">
            <a:normAutofit/>
          </a:bodyPr>
          <a:lstStyle/>
          <a:p>
            <a:r>
              <a:rPr lang="en-IE" b="1" i="0" dirty="0">
                <a:effectLst/>
                <a:latin typeface="Söhne"/>
              </a:rPr>
              <a:t>Multiplicative Decomposition:</a:t>
            </a:r>
            <a:endParaRPr lang="en-IE" dirty="0"/>
          </a:p>
        </p:txBody>
      </p:sp>
      <p:sp>
        <p:nvSpPr>
          <p:cNvPr id="3" name="Content Placeholder 2">
            <a:extLst>
              <a:ext uri="{FF2B5EF4-FFF2-40B4-BE49-F238E27FC236}">
                <a16:creationId xmlns:a16="http://schemas.microsoft.com/office/drawing/2014/main" id="{4F89D619-56ED-4351-F691-01A0426009BD}"/>
              </a:ext>
            </a:extLst>
          </p:cNvPr>
          <p:cNvSpPr>
            <a:spLocks noGrp="1"/>
          </p:cNvSpPr>
          <p:nvPr>
            <p:ph idx="1"/>
          </p:nvPr>
        </p:nvSpPr>
        <p:spPr>
          <a:xfrm>
            <a:off x="6324601" y="914400"/>
            <a:ext cx="4800600" cy="5105400"/>
          </a:xfrm>
        </p:spPr>
        <p:txBody>
          <a:bodyPr anchor="ctr">
            <a:normAutofit/>
          </a:bodyPr>
          <a:lstStyle/>
          <a:p>
            <a:pPr>
              <a:buFont typeface="Arial" panose="020B0604020202020204" pitchFamily="34" charset="0"/>
              <a:buChar char="•"/>
            </a:pPr>
            <a:r>
              <a:rPr lang="en-GB" sz="1800" b="0" i="0">
                <a:effectLst/>
                <a:latin typeface="Söhne"/>
              </a:rPr>
              <a:t>In multiplicative decomposition, the components are combined by multiplication.</a:t>
            </a:r>
          </a:p>
          <a:p>
            <a:pPr>
              <a:buFont typeface="Arial" panose="020B0604020202020204" pitchFamily="34" charset="0"/>
              <a:buChar char="•"/>
            </a:pPr>
            <a:r>
              <a:rPr lang="en-GB" sz="1800" b="0" i="0">
                <a:effectLst/>
                <a:latin typeface="Söhne"/>
              </a:rPr>
              <a:t>The observed time series is expressed as the product of the individual components: </a:t>
            </a:r>
            <a:r>
              <a:rPr lang="en-GB" sz="1800" b="1" i="0">
                <a:effectLst/>
                <a:latin typeface="Söhne"/>
              </a:rPr>
              <a:t>Observed = Trend x Seasonal x Cyclical x Irregular</a:t>
            </a:r>
            <a:r>
              <a:rPr lang="en-GB" sz="1800" b="0" i="0">
                <a:effectLst/>
                <a:latin typeface="Söhne"/>
              </a:rPr>
              <a:t>.</a:t>
            </a:r>
          </a:p>
          <a:p>
            <a:pPr>
              <a:buFont typeface="Arial" panose="020B0604020202020204" pitchFamily="34" charset="0"/>
              <a:buChar char="•"/>
            </a:pPr>
            <a:r>
              <a:rPr lang="en-GB" sz="1800" b="0" i="0">
                <a:effectLst/>
                <a:latin typeface="Söhne"/>
              </a:rPr>
              <a:t>Multiplicative decomposition is suitable when the magnitude of the seasonal and cyclical components varies with the level of the time series.</a:t>
            </a:r>
          </a:p>
          <a:p>
            <a:pPr>
              <a:buFont typeface="Arial" panose="020B0604020202020204" pitchFamily="34" charset="0"/>
              <a:buChar char="•"/>
            </a:pPr>
            <a:r>
              <a:rPr lang="en-GB" sz="1800" b="0" i="0">
                <a:effectLst/>
                <a:latin typeface="Söhne"/>
              </a:rPr>
              <a:t>It is used when the variations are non-linear and the seasonal fluctuations are proportional to the level of the series.</a:t>
            </a:r>
          </a:p>
          <a:p>
            <a:endParaRPr lang="en-IE" sz="1800"/>
          </a:p>
        </p:txBody>
      </p:sp>
    </p:spTree>
    <p:extLst>
      <p:ext uri="{BB962C8B-B14F-4D97-AF65-F5344CB8AC3E}">
        <p14:creationId xmlns:p14="http://schemas.microsoft.com/office/powerpoint/2010/main" val="182570155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A3003B-4581-5E7F-3783-23FDD42A31DB}"/>
              </a:ext>
            </a:extLst>
          </p:cNvPr>
          <p:cNvSpPr>
            <a:spLocks noGrp="1"/>
          </p:cNvSpPr>
          <p:nvPr>
            <p:ph type="title"/>
          </p:nvPr>
        </p:nvSpPr>
        <p:spPr>
          <a:xfrm>
            <a:off x="1143318" y="914400"/>
            <a:ext cx="4952681" cy="5105400"/>
          </a:xfrm>
        </p:spPr>
        <p:txBody>
          <a:bodyPr anchor="ctr">
            <a:normAutofit/>
          </a:bodyPr>
          <a:lstStyle/>
          <a:p>
            <a:r>
              <a:rPr lang="en-IE" b="1" i="0" dirty="0">
                <a:effectLst/>
                <a:latin typeface="Söhne"/>
              </a:rPr>
              <a:t>Key Considerations:</a:t>
            </a:r>
            <a:endParaRPr lang="en-IE" dirty="0"/>
          </a:p>
        </p:txBody>
      </p:sp>
      <p:sp>
        <p:nvSpPr>
          <p:cNvPr id="3" name="Content Placeholder 2">
            <a:extLst>
              <a:ext uri="{FF2B5EF4-FFF2-40B4-BE49-F238E27FC236}">
                <a16:creationId xmlns:a16="http://schemas.microsoft.com/office/drawing/2014/main" id="{EA86CD6A-7CDC-4907-FB8D-8E9C88941CCB}"/>
              </a:ext>
            </a:extLst>
          </p:cNvPr>
          <p:cNvSpPr>
            <a:spLocks noGrp="1"/>
          </p:cNvSpPr>
          <p:nvPr>
            <p:ph idx="1"/>
          </p:nvPr>
        </p:nvSpPr>
        <p:spPr>
          <a:xfrm>
            <a:off x="6324601" y="914400"/>
            <a:ext cx="4800600" cy="5105400"/>
          </a:xfrm>
        </p:spPr>
        <p:txBody>
          <a:bodyPr anchor="ctr">
            <a:normAutofit/>
          </a:bodyPr>
          <a:lstStyle/>
          <a:p>
            <a:pPr>
              <a:buFont typeface="Arial" panose="020B0604020202020204" pitchFamily="34" charset="0"/>
              <a:buChar char="•"/>
            </a:pPr>
            <a:r>
              <a:rPr lang="en-GB" sz="1800" b="0" i="0">
                <a:effectLst/>
                <a:latin typeface="Söhne"/>
              </a:rPr>
              <a:t>The choice between additive and multiplicative decomposition depends on the nature of the data. You should select the one that best represents the underlying patterns in the time series.</a:t>
            </a:r>
          </a:p>
          <a:p>
            <a:pPr>
              <a:buFont typeface="Arial" panose="020B0604020202020204" pitchFamily="34" charset="0"/>
              <a:buChar char="•"/>
            </a:pPr>
            <a:r>
              <a:rPr lang="en-GB" sz="1800" b="0" i="0">
                <a:effectLst/>
                <a:latin typeface="Söhne"/>
              </a:rPr>
              <a:t>The selection of the decomposition method can significantly impact the accuracy of forecasting and the insights derived from the analysis.</a:t>
            </a:r>
          </a:p>
          <a:p>
            <a:pPr>
              <a:buFont typeface="Arial" panose="020B0604020202020204" pitchFamily="34" charset="0"/>
              <a:buChar char="•"/>
            </a:pPr>
            <a:r>
              <a:rPr lang="en-GB" sz="1800" b="0" i="0">
                <a:effectLst/>
                <a:latin typeface="Söhne"/>
              </a:rPr>
              <a:t>Most statistical software and time series analysis tools offer both additive and multiplicative decomposition methods, allowing you to choose the most appropriate one based on the characteristics of your data.</a:t>
            </a:r>
          </a:p>
          <a:p>
            <a:endParaRPr lang="en-IE" sz="1800"/>
          </a:p>
        </p:txBody>
      </p:sp>
    </p:spTree>
    <p:extLst>
      <p:ext uri="{BB962C8B-B14F-4D97-AF65-F5344CB8AC3E}">
        <p14:creationId xmlns:p14="http://schemas.microsoft.com/office/powerpoint/2010/main" val="267594019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80D12A-3959-B2B7-0BD3-D29C2A89D1C2}"/>
              </a:ext>
            </a:extLst>
          </p:cNvPr>
          <p:cNvSpPr>
            <a:spLocks noGrp="1"/>
          </p:cNvSpPr>
          <p:nvPr>
            <p:ph type="title"/>
          </p:nvPr>
        </p:nvSpPr>
        <p:spPr>
          <a:xfrm>
            <a:off x="1143318" y="914400"/>
            <a:ext cx="4952681" cy="5105400"/>
          </a:xfrm>
        </p:spPr>
        <p:txBody>
          <a:bodyPr anchor="ctr">
            <a:normAutofit/>
          </a:bodyPr>
          <a:lstStyle/>
          <a:p>
            <a:r>
              <a:rPr lang="en-IE" b="1" i="0" dirty="0">
                <a:effectLst/>
                <a:latin typeface="Söhne"/>
              </a:rPr>
              <a:t>Key Considerations:</a:t>
            </a:r>
            <a:endParaRPr lang="en-IE" dirty="0"/>
          </a:p>
        </p:txBody>
      </p:sp>
      <p:sp>
        <p:nvSpPr>
          <p:cNvPr id="3" name="Content Placeholder 2">
            <a:extLst>
              <a:ext uri="{FF2B5EF4-FFF2-40B4-BE49-F238E27FC236}">
                <a16:creationId xmlns:a16="http://schemas.microsoft.com/office/drawing/2014/main" id="{7F477B24-262A-2E3F-2B90-8B42DF0162B3}"/>
              </a:ext>
            </a:extLst>
          </p:cNvPr>
          <p:cNvSpPr>
            <a:spLocks noGrp="1"/>
          </p:cNvSpPr>
          <p:nvPr>
            <p:ph idx="1"/>
          </p:nvPr>
        </p:nvSpPr>
        <p:spPr>
          <a:xfrm>
            <a:off x="6324601" y="914400"/>
            <a:ext cx="4800600" cy="5105400"/>
          </a:xfrm>
        </p:spPr>
        <p:txBody>
          <a:bodyPr anchor="ctr">
            <a:normAutofit/>
          </a:bodyPr>
          <a:lstStyle/>
          <a:p>
            <a:pPr>
              <a:buFont typeface="Arial" panose="020B0604020202020204" pitchFamily="34" charset="0"/>
              <a:buChar char="•"/>
            </a:pPr>
            <a:r>
              <a:rPr lang="en-GB" sz="1800" b="0" i="0" dirty="0">
                <a:effectLst/>
                <a:latin typeface="Söhne"/>
              </a:rPr>
              <a:t>Accurate decomposition is crucial for improving forecasting and understanding the components of a time series. It can help in identifying long-term trends, seasonal patterns, cyclical fluctuations, and irregular events.</a:t>
            </a:r>
          </a:p>
          <a:p>
            <a:pPr>
              <a:buFont typeface="Arial" panose="020B0604020202020204" pitchFamily="34" charset="0"/>
              <a:buChar char="•"/>
            </a:pPr>
            <a:r>
              <a:rPr lang="en-GB" sz="1800" b="0" i="0" dirty="0">
                <a:effectLst/>
                <a:latin typeface="Söhne"/>
              </a:rPr>
              <a:t>Additionally, both methods can provide insights into the impact of different components on the overall behaviour of the time series. For example, a multiplicative decomposition might reveal that seasonal patterns become more pronounced as the series level increases.</a:t>
            </a:r>
          </a:p>
          <a:p>
            <a:endParaRPr lang="en-IE" sz="1800" dirty="0"/>
          </a:p>
        </p:txBody>
      </p:sp>
    </p:spTree>
    <p:extLst>
      <p:ext uri="{BB962C8B-B14F-4D97-AF65-F5344CB8AC3E}">
        <p14:creationId xmlns:p14="http://schemas.microsoft.com/office/powerpoint/2010/main" val="185964357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8C0D0C-B9C5-2C41-808F-83F93F0BA704}"/>
              </a:ext>
            </a:extLst>
          </p:cNvPr>
          <p:cNvSpPr>
            <a:spLocks noGrp="1"/>
          </p:cNvSpPr>
          <p:nvPr>
            <p:ph type="title"/>
          </p:nvPr>
        </p:nvSpPr>
        <p:spPr>
          <a:xfrm>
            <a:off x="1143318" y="914400"/>
            <a:ext cx="4952681" cy="5105400"/>
          </a:xfrm>
        </p:spPr>
        <p:txBody>
          <a:bodyPr anchor="ctr">
            <a:normAutofit/>
          </a:bodyPr>
          <a:lstStyle/>
          <a:p>
            <a:r>
              <a:rPr lang="en-IE" b="1" i="0" dirty="0">
                <a:effectLst/>
                <a:latin typeface="Söhne"/>
              </a:rPr>
              <a:t>Key Considerations:</a:t>
            </a:r>
            <a:endParaRPr lang="en-IE" dirty="0"/>
          </a:p>
        </p:txBody>
      </p:sp>
      <p:sp>
        <p:nvSpPr>
          <p:cNvPr id="3" name="Content Placeholder 2">
            <a:extLst>
              <a:ext uri="{FF2B5EF4-FFF2-40B4-BE49-F238E27FC236}">
                <a16:creationId xmlns:a16="http://schemas.microsoft.com/office/drawing/2014/main" id="{74888C4B-09C3-F23F-CE29-61E59264EB90}"/>
              </a:ext>
            </a:extLst>
          </p:cNvPr>
          <p:cNvSpPr>
            <a:spLocks noGrp="1"/>
          </p:cNvSpPr>
          <p:nvPr>
            <p:ph idx="1"/>
          </p:nvPr>
        </p:nvSpPr>
        <p:spPr>
          <a:xfrm>
            <a:off x="6324601" y="914400"/>
            <a:ext cx="4800600" cy="5105400"/>
          </a:xfrm>
        </p:spPr>
        <p:txBody>
          <a:bodyPr anchor="ctr">
            <a:normAutofit/>
          </a:bodyPr>
          <a:lstStyle/>
          <a:p>
            <a:r>
              <a:rPr lang="en-GB" sz="1800" b="0" i="0">
                <a:effectLst/>
                <a:latin typeface="Söhne"/>
              </a:rPr>
              <a:t>In practice, the choice between additive and multiplicative decomposition should be guided by the specific characteristics of your data, and you may need to experiment with both methods to determine which one best captures the underlying patterns in the time series.</a:t>
            </a:r>
            <a:endParaRPr lang="en-IE" sz="1800"/>
          </a:p>
        </p:txBody>
      </p:sp>
    </p:spTree>
    <p:extLst>
      <p:ext uri="{BB962C8B-B14F-4D97-AF65-F5344CB8AC3E}">
        <p14:creationId xmlns:p14="http://schemas.microsoft.com/office/powerpoint/2010/main" val="196351259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51CE89-40FB-D52E-A6F4-6580854CD95F}"/>
              </a:ext>
            </a:extLst>
          </p:cNvPr>
          <p:cNvSpPr>
            <a:spLocks noGrp="1"/>
          </p:cNvSpPr>
          <p:nvPr>
            <p:ph type="title"/>
          </p:nvPr>
        </p:nvSpPr>
        <p:spPr>
          <a:xfrm>
            <a:off x="1143318" y="914400"/>
            <a:ext cx="4952681" cy="5105400"/>
          </a:xfrm>
        </p:spPr>
        <p:txBody>
          <a:bodyPr anchor="ctr">
            <a:normAutofit/>
          </a:bodyPr>
          <a:lstStyle/>
          <a:p>
            <a:r>
              <a:rPr lang="en-GB" b="0" i="0">
                <a:effectLst/>
                <a:latin typeface="Söhne"/>
              </a:rPr>
              <a:t>Practical Examples: Deconstructing real-world time series data</a:t>
            </a:r>
            <a:endParaRPr lang="en-IE" dirty="0"/>
          </a:p>
        </p:txBody>
      </p:sp>
      <p:sp>
        <p:nvSpPr>
          <p:cNvPr id="3" name="Content Placeholder 2">
            <a:extLst>
              <a:ext uri="{FF2B5EF4-FFF2-40B4-BE49-F238E27FC236}">
                <a16:creationId xmlns:a16="http://schemas.microsoft.com/office/drawing/2014/main" id="{878A4DA2-F405-2AE2-C229-6728A7DEC70A}"/>
              </a:ext>
            </a:extLst>
          </p:cNvPr>
          <p:cNvSpPr>
            <a:spLocks noGrp="1"/>
          </p:cNvSpPr>
          <p:nvPr>
            <p:ph idx="1"/>
          </p:nvPr>
        </p:nvSpPr>
        <p:spPr>
          <a:xfrm>
            <a:off x="6324601" y="914400"/>
            <a:ext cx="4800600" cy="5105400"/>
          </a:xfrm>
        </p:spPr>
        <p:txBody>
          <a:bodyPr anchor="ctr">
            <a:normAutofit/>
          </a:bodyPr>
          <a:lstStyle/>
          <a:p>
            <a:r>
              <a:rPr lang="en-GB" sz="1800" b="0" i="0" dirty="0">
                <a:effectLst/>
                <a:latin typeface="Söhne"/>
              </a:rPr>
              <a:t>Deconstructing real-world time series data involves applying decomposition methods to </a:t>
            </a:r>
            <a:r>
              <a:rPr lang="en-GB" sz="1800" b="0" i="0" dirty="0" err="1">
                <a:effectLst/>
                <a:latin typeface="Söhne"/>
              </a:rPr>
              <a:t>analyze</a:t>
            </a:r>
            <a:r>
              <a:rPr lang="en-GB" sz="1800" b="0" i="0" dirty="0">
                <a:effectLst/>
                <a:latin typeface="Söhne"/>
              </a:rPr>
              <a:t> and understand the underlying components of the data. Let's explore practical examples to illustrate this process:</a:t>
            </a:r>
            <a:endParaRPr lang="en-IE" sz="1800" dirty="0"/>
          </a:p>
        </p:txBody>
      </p:sp>
    </p:spTree>
    <p:extLst>
      <p:ext uri="{BB962C8B-B14F-4D97-AF65-F5344CB8AC3E}">
        <p14:creationId xmlns:p14="http://schemas.microsoft.com/office/powerpoint/2010/main" val="130724070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521E3A-7438-343B-0ECC-01D6E27E1DE0}"/>
              </a:ext>
            </a:extLst>
          </p:cNvPr>
          <p:cNvSpPr>
            <a:spLocks noGrp="1"/>
          </p:cNvSpPr>
          <p:nvPr>
            <p:ph type="title"/>
          </p:nvPr>
        </p:nvSpPr>
        <p:spPr>
          <a:xfrm>
            <a:off x="1143318" y="914400"/>
            <a:ext cx="4952681" cy="5105400"/>
          </a:xfrm>
        </p:spPr>
        <p:txBody>
          <a:bodyPr anchor="ctr">
            <a:normAutofit/>
          </a:bodyPr>
          <a:lstStyle/>
          <a:p>
            <a:r>
              <a:rPr lang="en-GB" b="0" i="0">
                <a:effectLst/>
                <a:latin typeface="Söhne"/>
              </a:rPr>
              <a:t>Practical Examples: Deconstructing real-world time series data</a:t>
            </a:r>
            <a:endParaRPr lang="en-IE" dirty="0"/>
          </a:p>
        </p:txBody>
      </p:sp>
      <p:sp>
        <p:nvSpPr>
          <p:cNvPr id="3" name="Content Placeholder 2">
            <a:extLst>
              <a:ext uri="{FF2B5EF4-FFF2-40B4-BE49-F238E27FC236}">
                <a16:creationId xmlns:a16="http://schemas.microsoft.com/office/drawing/2014/main" id="{F50F16A1-0684-F761-2397-13A2B3BA1ABC}"/>
              </a:ext>
            </a:extLst>
          </p:cNvPr>
          <p:cNvSpPr>
            <a:spLocks noGrp="1"/>
          </p:cNvSpPr>
          <p:nvPr>
            <p:ph idx="1"/>
          </p:nvPr>
        </p:nvSpPr>
        <p:spPr>
          <a:xfrm>
            <a:off x="6324601" y="914400"/>
            <a:ext cx="4800600" cy="5105400"/>
          </a:xfrm>
        </p:spPr>
        <p:txBody>
          <a:bodyPr anchor="ctr">
            <a:normAutofit/>
          </a:bodyPr>
          <a:lstStyle/>
          <a:p>
            <a:r>
              <a:rPr lang="en-GB" sz="1800" b="1" i="0">
                <a:effectLst/>
                <a:latin typeface="Söhne"/>
              </a:rPr>
              <a:t>Example 1: Stock Price Analysis</a:t>
            </a:r>
            <a:endParaRPr lang="en-GB" sz="1800" b="0" i="0">
              <a:effectLst/>
              <a:latin typeface="Söhne"/>
            </a:endParaRPr>
          </a:p>
          <a:p>
            <a:r>
              <a:rPr lang="en-GB" sz="1800" b="0" i="0">
                <a:effectLst/>
                <a:latin typeface="Söhne"/>
              </a:rPr>
              <a:t>Consider a time series dataset of daily stock prices for a particular company. By applying decomposition methods, you can gain insights into the various components that influence the stock price:</a:t>
            </a:r>
          </a:p>
          <a:p>
            <a:endParaRPr lang="en-IE" sz="1800"/>
          </a:p>
        </p:txBody>
      </p:sp>
    </p:spTree>
    <p:extLst>
      <p:ext uri="{BB962C8B-B14F-4D97-AF65-F5344CB8AC3E}">
        <p14:creationId xmlns:p14="http://schemas.microsoft.com/office/powerpoint/2010/main" val="234269601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CEC134-8FBC-67C5-B1F5-60EF7A9379A8}"/>
              </a:ext>
            </a:extLst>
          </p:cNvPr>
          <p:cNvSpPr>
            <a:spLocks noGrp="1"/>
          </p:cNvSpPr>
          <p:nvPr>
            <p:ph type="title"/>
          </p:nvPr>
        </p:nvSpPr>
        <p:spPr>
          <a:xfrm>
            <a:off x="1143318" y="914400"/>
            <a:ext cx="4952681" cy="5105400"/>
          </a:xfrm>
        </p:spPr>
        <p:txBody>
          <a:bodyPr anchor="ctr">
            <a:normAutofit/>
          </a:bodyPr>
          <a:lstStyle/>
          <a:p>
            <a:r>
              <a:rPr lang="en-GB" b="0" i="0">
                <a:effectLst/>
                <a:latin typeface="Söhne"/>
              </a:rPr>
              <a:t>Practical Examples: Deconstructing real-world time series data</a:t>
            </a:r>
            <a:endParaRPr lang="en-IE" dirty="0"/>
          </a:p>
        </p:txBody>
      </p:sp>
      <p:sp>
        <p:nvSpPr>
          <p:cNvPr id="3" name="Content Placeholder 2">
            <a:extLst>
              <a:ext uri="{FF2B5EF4-FFF2-40B4-BE49-F238E27FC236}">
                <a16:creationId xmlns:a16="http://schemas.microsoft.com/office/drawing/2014/main" id="{5A2F1C9D-B191-1CBE-78F7-B7CFEA03439E}"/>
              </a:ext>
            </a:extLst>
          </p:cNvPr>
          <p:cNvSpPr>
            <a:spLocks noGrp="1"/>
          </p:cNvSpPr>
          <p:nvPr>
            <p:ph idx="1"/>
          </p:nvPr>
        </p:nvSpPr>
        <p:spPr>
          <a:xfrm>
            <a:off x="6324601" y="914400"/>
            <a:ext cx="4800600" cy="5105400"/>
          </a:xfrm>
        </p:spPr>
        <p:txBody>
          <a:bodyPr anchor="ctr">
            <a:normAutofit/>
          </a:bodyPr>
          <a:lstStyle/>
          <a:p>
            <a:pPr>
              <a:buFont typeface="Arial" panose="020B0604020202020204" pitchFamily="34" charset="0"/>
              <a:buChar char="•"/>
            </a:pPr>
            <a:r>
              <a:rPr lang="en-GB" sz="1800" b="1" i="0">
                <a:effectLst/>
                <a:latin typeface="Söhne"/>
              </a:rPr>
              <a:t>Trend:</a:t>
            </a:r>
            <a:r>
              <a:rPr lang="en-GB" sz="1800" b="0" i="0">
                <a:effectLst/>
                <a:latin typeface="Söhne"/>
              </a:rPr>
              <a:t> The long-term trend in the stock price indicates whether it's generally increasing or decreasing over time. A rising trend may suggest positive investor sentiment, while a falling trend could indicate challenges or negative news.</a:t>
            </a:r>
          </a:p>
          <a:p>
            <a:pPr>
              <a:buFont typeface="Arial" panose="020B0604020202020204" pitchFamily="34" charset="0"/>
              <a:buChar char="•"/>
            </a:pPr>
            <a:r>
              <a:rPr lang="en-GB" sz="1800" b="1" i="0">
                <a:effectLst/>
                <a:latin typeface="Söhne"/>
              </a:rPr>
              <a:t>Seasonal Patterns:</a:t>
            </a:r>
            <a:r>
              <a:rPr lang="en-GB" sz="1800" b="0" i="0">
                <a:effectLst/>
                <a:latin typeface="Söhne"/>
              </a:rPr>
              <a:t> In the stock market, there are often seasonal patterns related to quarterly earnings reports, economic seasons (e.g., holiday season), or industry-specific events. Seasonal fluctuations may impact the stock price.</a:t>
            </a:r>
          </a:p>
          <a:p>
            <a:endParaRPr lang="en-IE" sz="1800"/>
          </a:p>
        </p:txBody>
      </p:sp>
    </p:spTree>
    <p:extLst>
      <p:ext uri="{BB962C8B-B14F-4D97-AF65-F5344CB8AC3E}">
        <p14:creationId xmlns:p14="http://schemas.microsoft.com/office/powerpoint/2010/main" val="191037321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F7FC6E-1595-DE08-00E3-121A16D8A21B}"/>
              </a:ext>
            </a:extLst>
          </p:cNvPr>
          <p:cNvSpPr>
            <a:spLocks noGrp="1"/>
          </p:cNvSpPr>
          <p:nvPr>
            <p:ph type="title"/>
          </p:nvPr>
        </p:nvSpPr>
        <p:spPr>
          <a:xfrm>
            <a:off x="1143318" y="914400"/>
            <a:ext cx="4952681" cy="5105400"/>
          </a:xfrm>
        </p:spPr>
        <p:txBody>
          <a:bodyPr anchor="ctr">
            <a:normAutofit/>
          </a:bodyPr>
          <a:lstStyle/>
          <a:p>
            <a:r>
              <a:rPr lang="en-GB" b="0" i="0">
                <a:effectLst/>
                <a:latin typeface="Söhne"/>
              </a:rPr>
              <a:t>Practical Examples: Deconstructing real-world time series data</a:t>
            </a:r>
            <a:endParaRPr lang="en-IE" dirty="0"/>
          </a:p>
        </p:txBody>
      </p:sp>
      <p:sp>
        <p:nvSpPr>
          <p:cNvPr id="3" name="Content Placeholder 2">
            <a:extLst>
              <a:ext uri="{FF2B5EF4-FFF2-40B4-BE49-F238E27FC236}">
                <a16:creationId xmlns:a16="http://schemas.microsoft.com/office/drawing/2014/main" id="{4BDD00A4-B19D-473A-EC5C-F33A1CBD5CC7}"/>
              </a:ext>
            </a:extLst>
          </p:cNvPr>
          <p:cNvSpPr>
            <a:spLocks noGrp="1"/>
          </p:cNvSpPr>
          <p:nvPr>
            <p:ph idx="1"/>
          </p:nvPr>
        </p:nvSpPr>
        <p:spPr>
          <a:xfrm>
            <a:off x="6324601" y="914400"/>
            <a:ext cx="4800600" cy="5105400"/>
          </a:xfrm>
        </p:spPr>
        <p:txBody>
          <a:bodyPr anchor="ctr">
            <a:normAutofit/>
          </a:bodyPr>
          <a:lstStyle/>
          <a:p>
            <a:pPr>
              <a:buFont typeface="Arial" panose="020B0604020202020204" pitchFamily="34" charset="0"/>
              <a:buChar char="•"/>
            </a:pPr>
            <a:r>
              <a:rPr lang="en-GB" sz="1800" b="1" i="0">
                <a:effectLst/>
                <a:latin typeface="Söhne"/>
              </a:rPr>
              <a:t>Cyclical Patterns:</a:t>
            </a:r>
            <a:r>
              <a:rPr lang="en-GB" sz="1800" b="0" i="0">
                <a:effectLst/>
                <a:latin typeface="Söhne"/>
              </a:rPr>
              <a:t> Economic cycles, such as recessions and expansions, can influence stock prices. Cyclical patterns may be tied to broader economic indicators.</a:t>
            </a:r>
          </a:p>
          <a:p>
            <a:pPr>
              <a:buFont typeface="Arial" panose="020B0604020202020204" pitchFamily="34" charset="0"/>
              <a:buChar char="•"/>
            </a:pPr>
            <a:r>
              <a:rPr lang="en-GB" sz="1800" b="1" i="0">
                <a:effectLst/>
                <a:latin typeface="Söhne"/>
              </a:rPr>
              <a:t>Irregular Components:</a:t>
            </a:r>
            <a:r>
              <a:rPr lang="en-GB" sz="1800" b="0" i="0">
                <a:effectLst/>
                <a:latin typeface="Söhne"/>
              </a:rPr>
              <a:t> Unpredictable events, such as sudden market shocks or news about the company, can lead to irregular fluctuations in stock prices. These irregular components are essential to understand for risk management.</a:t>
            </a:r>
          </a:p>
          <a:p>
            <a:endParaRPr lang="en-IE" sz="1800"/>
          </a:p>
        </p:txBody>
      </p:sp>
    </p:spTree>
    <p:extLst>
      <p:ext uri="{BB962C8B-B14F-4D97-AF65-F5344CB8AC3E}">
        <p14:creationId xmlns:p14="http://schemas.microsoft.com/office/powerpoint/2010/main" val="310264967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0C0672-39E5-171C-07D0-09FFE4C42A83}"/>
              </a:ext>
            </a:extLst>
          </p:cNvPr>
          <p:cNvSpPr>
            <a:spLocks noGrp="1"/>
          </p:cNvSpPr>
          <p:nvPr>
            <p:ph type="title"/>
          </p:nvPr>
        </p:nvSpPr>
        <p:spPr>
          <a:xfrm>
            <a:off x="1143318" y="914400"/>
            <a:ext cx="4952681" cy="5105400"/>
          </a:xfrm>
        </p:spPr>
        <p:txBody>
          <a:bodyPr anchor="ctr">
            <a:normAutofit/>
          </a:bodyPr>
          <a:lstStyle/>
          <a:p>
            <a:r>
              <a:rPr lang="en-GB" b="0" i="0">
                <a:effectLst/>
                <a:latin typeface="Söhne"/>
              </a:rPr>
              <a:t>Practical Examples: Deconstructing real-world time series data</a:t>
            </a:r>
            <a:endParaRPr lang="en-IE" dirty="0"/>
          </a:p>
        </p:txBody>
      </p:sp>
      <p:sp>
        <p:nvSpPr>
          <p:cNvPr id="3" name="Content Placeholder 2">
            <a:extLst>
              <a:ext uri="{FF2B5EF4-FFF2-40B4-BE49-F238E27FC236}">
                <a16:creationId xmlns:a16="http://schemas.microsoft.com/office/drawing/2014/main" id="{2EF2A5FC-6686-BEDC-4C4D-A67D49E28871}"/>
              </a:ext>
            </a:extLst>
          </p:cNvPr>
          <p:cNvSpPr>
            <a:spLocks noGrp="1"/>
          </p:cNvSpPr>
          <p:nvPr>
            <p:ph idx="1"/>
          </p:nvPr>
        </p:nvSpPr>
        <p:spPr>
          <a:xfrm>
            <a:off x="6324601" y="914400"/>
            <a:ext cx="4800600" cy="5105400"/>
          </a:xfrm>
        </p:spPr>
        <p:txBody>
          <a:bodyPr anchor="ctr">
            <a:normAutofit/>
          </a:bodyPr>
          <a:lstStyle/>
          <a:p>
            <a:r>
              <a:rPr lang="en-GB" sz="1800" b="0" i="0">
                <a:effectLst/>
                <a:latin typeface="Söhne"/>
              </a:rPr>
              <a:t>Deconstructing real-world time series data involves applying decomposition methods to analyze and understand the underlying components of the data. Let's explore practical examples to illustrate this process:</a:t>
            </a:r>
            <a:endParaRPr lang="en-IE" sz="1800"/>
          </a:p>
        </p:txBody>
      </p:sp>
    </p:spTree>
    <p:extLst>
      <p:ext uri="{BB962C8B-B14F-4D97-AF65-F5344CB8AC3E}">
        <p14:creationId xmlns:p14="http://schemas.microsoft.com/office/powerpoint/2010/main" val="228991010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BA49DD-909D-7B16-21DE-3BE7A48EFE38}"/>
              </a:ext>
            </a:extLst>
          </p:cNvPr>
          <p:cNvSpPr>
            <a:spLocks noGrp="1"/>
          </p:cNvSpPr>
          <p:nvPr>
            <p:ph type="title"/>
          </p:nvPr>
        </p:nvSpPr>
        <p:spPr>
          <a:xfrm>
            <a:off x="1143318" y="914400"/>
            <a:ext cx="4952681" cy="5105400"/>
          </a:xfrm>
        </p:spPr>
        <p:txBody>
          <a:bodyPr anchor="ctr">
            <a:normAutofit/>
          </a:bodyPr>
          <a:lstStyle/>
          <a:p>
            <a:r>
              <a:rPr lang="en-GB" b="0" i="0">
                <a:effectLst/>
                <a:latin typeface="Söhne"/>
              </a:rPr>
              <a:t>Practical Examples: Deconstructing real-world time series data</a:t>
            </a:r>
            <a:endParaRPr lang="en-IE" dirty="0"/>
          </a:p>
        </p:txBody>
      </p:sp>
      <p:sp>
        <p:nvSpPr>
          <p:cNvPr id="3" name="Content Placeholder 2">
            <a:extLst>
              <a:ext uri="{FF2B5EF4-FFF2-40B4-BE49-F238E27FC236}">
                <a16:creationId xmlns:a16="http://schemas.microsoft.com/office/drawing/2014/main" id="{16D7B695-3A42-39BB-BDEB-BC55813DA544}"/>
              </a:ext>
            </a:extLst>
          </p:cNvPr>
          <p:cNvSpPr>
            <a:spLocks noGrp="1"/>
          </p:cNvSpPr>
          <p:nvPr>
            <p:ph idx="1"/>
          </p:nvPr>
        </p:nvSpPr>
        <p:spPr>
          <a:xfrm>
            <a:off x="6324601" y="914400"/>
            <a:ext cx="4800600" cy="5105400"/>
          </a:xfrm>
        </p:spPr>
        <p:txBody>
          <a:bodyPr anchor="ctr">
            <a:normAutofit/>
          </a:bodyPr>
          <a:lstStyle/>
          <a:p>
            <a:r>
              <a:rPr lang="en-GB" sz="1700" b="1" i="0">
                <a:effectLst/>
                <a:latin typeface="Söhne"/>
              </a:rPr>
              <a:t>Example 1: Stock Price Analysis</a:t>
            </a:r>
            <a:endParaRPr lang="en-GB" sz="1700" b="0" i="0">
              <a:effectLst/>
              <a:latin typeface="Söhne"/>
            </a:endParaRPr>
          </a:p>
          <a:p>
            <a:r>
              <a:rPr lang="en-GB" sz="1700" b="0" i="0">
                <a:effectLst/>
                <a:latin typeface="Söhne"/>
              </a:rPr>
              <a:t>Consider a time series dataset of daily stock prices for a particular company. By applying decomposition methods, you can gain insights into the various components that influence the stock price:</a:t>
            </a:r>
          </a:p>
          <a:p>
            <a:pPr>
              <a:buFont typeface="Arial" panose="020B0604020202020204" pitchFamily="34" charset="0"/>
              <a:buChar char="•"/>
            </a:pPr>
            <a:r>
              <a:rPr lang="en-GB" sz="1700" b="1" i="0">
                <a:effectLst/>
                <a:latin typeface="Söhne"/>
              </a:rPr>
              <a:t>Trend:</a:t>
            </a:r>
            <a:r>
              <a:rPr lang="en-GB" sz="1700" b="0" i="0">
                <a:effectLst/>
                <a:latin typeface="Söhne"/>
              </a:rPr>
              <a:t> The long-term trend in the stock price indicates whether it's generally increasing or decreasing over time. A rising trend may suggest positive investor sentiment, while a falling trend could indicate challenges or negative news.</a:t>
            </a:r>
          </a:p>
          <a:p>
            <a:pPr>
              <a:buFont typeface="Arial" panose="020B0604020202020204" pitchFamily="34" charset="0"/>
              <a:buChar char="•"/>
            </a:pPr>
            <a:r>
              <a:rPr lang="en-GB" sz="1700" b="1" i="0">
                <a:effectLst/>
                <a:latin typeface="Söhne"/>
              </a:rPr>
              <a:t>Seasonal Patterns:</a:t>
            </a:r>
            <a:r>
              <a:rPr lang="en-GB" sz="1700" b="0" i="0">
                <a:effectLst/>
                <a:latin typeface="Söhne"/>
              </a:rPr>
              <a:t> In the stock market, there are often seasonal patterns related to quarterly earnings reports, economic seasons (e.g., holiday season), or industry-specific events. Seasonal fluctuations may impact the stock price.</a:t>
            </a:r>
          </a:p>
          <a:p>
            <a:endParaRPr lang="en-IE" sz="1700"/>
          </a:p>
        </p:txBody>
      </p:sp>
    </p:spTree>
    <p:extLst>
      <p:ext uri="{BB962C8B-B14F-4D97-AF65-F5344CB8AC3E}">
        <p14:creationId xmlns:p14="http://schemas.microsoft.com/office/powerpoint/2010/main" val="29497245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A77CFF-C881-B225-0F7C-9EED1135051C}"/>
              </a:ext>
            </a:extLst>
          </p:cNvPr>
          <p:cNvSpPr>
            <a:spLocks noGrp="1"/>
          </p:cNvSpPr>
          <p:nvPr>
            <p:ph type="title"/>
          </p:nvPr>
        </p:nvSpPr>
        <p:spPr>
          <a:xfrm>
            <a:off x="1143318" y="914400"/>
            <a:ext cx="4952681" cy="5105400"/>
          </a:xfrm>
        </p:spPr>
        <p:txBody>
          <a:bodyPr anchor="ctr">
            <a:normAutofit/>
          </a:bodyPr>
          <a:lstStyle/>
          <a:p>
            <a:r>
              <a:rPr lang="en-GB" b="0" i="0">
                <a:effectLst/>
                <a:latin typeface="Söhne"/>
              </a:rPr>
              <a:t>Practical Examples: Deconstructing real-world time series data</a:t>
            </a:r>
            <a:endParaRPr lang="en-IE" dirty="0"/>
          </a:p>
        </p:txBody>
      </p:sp>
      <p:sp>
        <p:nvSpPr>
          <p:cNvPr id="3" name="Content Placeholder 2">
            <a:extLst>
              <a:ext uri="{FF2B5EF4-FFF2-40B4-BE49-F238E27FC236}">
                <a16:creationId xmlns:a16="http://schemas.microsoft.com/office/drawing/2014/main" id="{0C3714A5-14DE-2A3F-9F33-536E875F64D1}"/>
              </a:ext>
            </a:extLst>
          </p:cNvPr>
          <p:cNvSpPr>
            <a:spLocks noGrp="1"/>
          </p:cNvSpPr>
          <p:nvPr>
            <p:ph idx="1"/>
          </p:nvPr>
        </p:nvSpPr>
        <p:spPr>
          <a:xfrm>
            <a:off x="6324601" y="914400"/>
            <a:ext cx="4800600" cy="5105400"/>
          </a:xfrm>
        </p:spPr>
        <p:txBody>
          <a:bodyPr anchor="ctr">
            <a:normAutofit/>
          </a:bodyPr>
          <a:lstStyle/>
          <a:p>
            <a:pPr>
              <a:buFont typeface="Arial" panose="020B0604020202020204" pitchFamily="34" charset="0"/>
              <a:buChar char="•"/>
            </a:pPr>
            <a:r>
              <a:rPr lang="en-GB" sz="1800" b="1" i="0">
                <a:effectLst/>
                <a:latin typeface="Söhne"/>
              </a:rPr>
              <a:t>Cyclical Patterns:</a:t>
            </a:r>
            <a:r>
              <a:rPr lang="en-GB" sz="1800" b="0" i="0">
                <a:effectLst/>
                <a:latin typeface="Söhne"/>
              </a:rPr>
              <a:t> Economic cycles, such as recessions and expansions, can influence stock prices. Cyclical patterns may be tied to broader economic indicators.</a:t>
            </a:r>
          </a:p>
          <a:p>
            <a:pPr>
              <a:buFont typeface="Arial" panose="020B0604020202020204" pitchFamily="34" charset="0"/>
              <a:buChar char="•"/>
            </a:pPr>
            <a:r>
              <a:rPr lang="en-GB" sz="1800" b="1" i="0">
                <a:effectLst/>
                <a:latin typeface="Söhne"/>
              </a:rPr>
              <a:t>Irregular Components:</a:t>
            </a:r>
            <a:r>
              <a:rPr lang="en-GB" sz="1800" b="0" i="0">
                <a:effectLst/>
                <a:latin typeface="Söhne"/>
              </a:rPr>
              <a:t> Unpredictable events, such as sudden market shocks or news about the company, can lead to irregular fluctuations in stock prices. These irregular components are essential to understand for risk management.</a:t>
            </a:r>
          </a:p>
          <a:p>
            <a:endParaRPr lang="en-IE" sz="1800"/>
          </a:p>
        </p:txBody>
      </p:sp>
    </p:spTree>
    <p:extLst>
      <p:ext uri="{BB962C8B-B14F-4D97-AF65-F5344CB8AC3E}">
        <p14:creationId xmlns:p14="http://schemas.microsoft.com/office/powerpoint/2010/main" val="350474086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DF282B-BD0E-2121-9429-5A00D485E82B}"/>
              </a:ext>
            </a:extLst>
          </p:cNvPr>
          <p:cNvSpPr>
            <a:spLocks noGrp="1"/>
          </p:cNvSpPr>
          <p:nvPr>
            <p:ph type="title"/>
          </p:nvPr>
        </p:nvSpPr>
        <p:spPr>
          <a:xfrm>
            <a:off x="1143318" y="914400"/>
            <a:ext cx="4952681" cy="5105400"/>
          </a:xfrm>
        </p:spPr>
        <p:txBody>
          <a:bodyPr anchor="ctr">
            <a:normAutofit/>
          </a:bodyPr>
          <a:lstStyle/>
          <a:p>
            <a:r>
              <a:rPr lang="en-GB" b="0" i="0">
                <a:effectLst/>
                <a:latin typeface="Söhne"/>
              </a:rPr>
              <a:t>Practical Examples: Deconstructing real-world time series data</a:t>
            </a:r>
            <a:endParaRPr lang="en-IE" dirty="0"/>
          </a:p>
        </p:txBody>
      </p:sp>
      <p:sp>
        <p:nvSpPr>
          <p:cNvPr id="3" name="Content Placeholder 2">
            <a:extLst>
              <a:ext uri="{FF2B5EF4-FFF2-40B4-BE49-F238E27FC236}">
                <a16:creationId xmlns:a16="http://schemas.microsoft.com/office/drawing/2014/main" id="{E9C12CD5-3AA3-CAFF-E445-D360F4F802C1}"/>
              </a:ext>
            </a:extLst>
          </p:cNvPr>
          <p:cNvSpPr>
            <a:spLocks noGrp="1"/>
          </p:cNvSpPr>
          <p:nvPr>
            <p:ph idx="1"/>
          </p:nvPr>
        </p:nvSpPr>
        <p:spPr>
          <a:xfrm>
            <a:off x="6324601" y="914400"/>
            <a:ext cx="4800600" cy="5105400"/>
          </a:xfrm>
        </p:spPr>
        <p:txBody>
          <a:bodyPr anchor="ctr">
            <a:normAutofit/>
          </a:bodyPr>
          <a:lstStyle/>
          <a:p>
            <a:r>
              <a:rPr lang="en-GB" sz="1800" b="0" i="0">
                <a:effectLst/>
                <a:latin typeface="Söhne"/>
              </a:rPr>
              <a:t>Deconstructing the stock price time series can help investors and analysts make more informed decisions. For instance, identifying the presence of seasonal or cyclical patterns may aid in anticipating future price movements.</a:t>
            </a:r>
            <a:endParaRPr lang="en-IE" sz="1800"/>
          </a:p>
        </p:txBody>
      </p:sp>
    </p:spTree>
    <p:extLst>
      <p:ext uri="{BB962C8B-B14F-4D97-AF65-F5344CB8AC3E}">
        <p14:creationId xmlns:p14="http://schemas.microsoft.com/office/powerpoint/2010/main" val="321588128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9CEE0F-DEDA-8663-F75C-7DE578953F58}"/>
              </a:ext>
            </a:extLst>
          </p:cNvPr>
          <p:cNvSpPr>
            <a:spLocks noGrp="1"/>
          </p:cNvSpPr>
          <p:nvPr>
            <p:ph type="title"/>
          </p:nvPr>
        </p:nvSpPr>
        <p:spPr>
          <a:xfrm>
            <a:off x="1143318" y="914400"/>
            <a:ext cx="4952681" cy="5105400"/>
          </a:xfrm>
        </p:spPr>
        <p:txBody>
          <a:bodyPr anchor="ctr">
            <a:normAutofit/>
          </a:bodyPr>
          <a:lstStyle/>
          <a:p>
            <a:r>
              <a:rPr lang="en-GB" b="0" i="0">
                <a:effectLst/>
                <a:latin typeface="Söhne"/>
              </a:rPr>
              <a:t>Practical Examples: Deconstructing real-world time series data</a:t>
            </a:r>
            <a:endParaRPr lang="en-IE" dirty="0"/>
          </a:p>
        </p:txBody>
      </p:sp>
      <p:sp>
        <p:nvSpPr>
          <p:cNvPr id="3" name="Content Placeholder 2">
            <a:extLst>
              <a:ext uri="{FF2B5EF4-FFF2-40B4-BE49-F238E27FC236}">
                <a16:creationId xmlns:a16="http://schemas.microsoft.com/office/drawing/2014/main" id="{E49ED9B6-BFA7-B506-D301-8D2F26EB7CA3}"/>
              </a:ext>
            </a:extLst>
          </p:cNvPr>
          <p:cNvSpPr>
            <a:spLocks noGrp="1"/>
          </p:cNvSpPr>
          <p:nvPr>
            <p:ph idx="1"/>
          </p:nvPr>
        </p:nvSpPr>
        <p:spPr>
          <a:xfrm>
            <a:off x="6324601" y="914400"/>
            <a:ext cx="4800600" cy="5105400"/>
          </a:xfrm>
        </p:spPr>
        <p:txBody>
          <a:bodyPr anchor="ctr">
            <a:normAutofit/>
          </a:bodyPr>
          <a:lstStyle/>
          <a:p>
            <a:pPr>
              <a:lnSpc>
                <a:spcPct val="100000"/>
              </a:lnSpc>
            </a:pPr>
            <a:r>
              <a:rPr lang="en-GB" sz="1800" b="1" i="0">
                <a:effectLst/>
                <a:latin typeface="Söhne"/>
              </a:rPr>
              <a:t>Example 2: Retail Sales Forecasting</a:t>
            </a:r>
            <a:endParaRPr lang="en-GB" sz="1800" b="0" i="0">
              <a:effectLst/>
              <a:latin typeface="Söhne"/>
            </a:endParaRPr>
          </a:p>
          <a:p>
            <a:pPr>
              <a:lnSpc>
                <a:spcPct val="100000"/>
              </a:lnSpc>
            </a:pPr>
            <a:r>
              <a:rPr lang="en-GB" sz="1800" b="0" i="0">
                <a:effectLst/>
                <a:latin typeface="Söhne"/>
              </a:rPr>
              <a:t>Suppose you have a dataset containing daily sales data for a retail store. Using decomposition, you can uncover the underlying factors affecting sales:</a:t>
            </a:r>
          </a:p>
          <a:p>
            <a:pPr>
              <a:lnSpc>
                <a:spcPct val="100000"/>
              </a:lnSpc>
              <a:buFont typeface="Arial" panose="020B0604020202020204" pitchFamily="34" charset="0"/>
              <a:buChar char="•"/>
            </a:pPr>
            <a:r>
              <a:rPr lang="en-GB" sz="1800" b="1" i="0">
                <a:effectLst/>
                <a:latin typeface="Söhne"/>
              </a:rPr>
              <a:t>Trend:</a:t>
            </a:r>
            <a:r>
              <a:rPr lang="en-GB" sz="1800" b="0" i="0">
                <a:effectLst/>
                <a:latin typeface="Söhne"/>
              </a:rPr>
              <a:t> The long-term trend might reveal whether the store's sales are generally growing, stable, or declining. This information can guide decisions related to inventory management, staffing, and expansion plans.</a:t>
            </a:r>
          </a:p>
          <a:p>
            <a:pPr>
              <a:lnSpc>
                <a:spcPct val="100000"/>
              </a:lnSpc>
              <a:buFont typeface="Arial" panose="020B0604020202020204" pitchFamily="34" charset="0"/>
              <a:buChar char="•"/>
            </a:pPr>
            <a:r>
              <a:rPr lang="en-GB" sz="1800" b="1" i="0">
                <a:effectLst/>
                <a:latin typeface="Söhne"/>
              </a:rPr>
              <a:t>Seasonal Patterns:</a:t>
            </a:r>
            <a:r>
              <a:rPr lang="en-GB" sz="1800" b="0" i="0">
                <a:effectLst/>
                <a:latin typeface="Söhne"/>
              </a:rPr>
              <a:t> Retail sales often exhibit strong seasonality, with increased sales during holidays, weekends, or special promotions. Identifying these patterns can help retailers plan marketing campaigns and stock levels more effectively.</a:t>
            </a:r>
          </a:p>
          <a:p>
            <a:pPr>
              <a:lnSpc>
                <a:spcPct val="100000"/>
              </a:lnSpc>
            </a:pPr>
            <a:endParaRPr lang="en-IE" sz="1800"/>
          </a:p>
        </p:txBody>
      </p:sp>
    </p:spTree>
    <p:extLst>
      <p:ext uri="{BB962C8B-B14F-4D97-AF65-F5344CB8AC3E}">
        <p14:creationId xmlns:p14="http://schemas.microsoft.com/office/powerpoint/2010/main" val="40661095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C92D50-7150-58C3-2E40-BDC6778ECD9C}"/>
              </a:ext>
            </a:extLst>
          </p:cNvPr>
          <p:cNvSpPr>
            <a:spLocks noGrp="1"/>
          </p:cNvSpPr>
          <p:nvPr>
            <p:ph type="title"/>
          </p:nvPr>
        </p:nvSpPr>
        <p:spPr>
          <a:xfrm>
            <a:off x="1143318" y="914400"/>
            <a:ext cx="4952681" cy="5105400"/>
          </a:xfrm>
        </p:spPr>
        <p:txBody>
          <a:bodyPr anchor="ctr">
            <a:normAutofit/>
          </a:bodyPr>
          <a:lstStyle/>
          <a:p>
            <a:r>
              <a:rPr lang="en-GB" b="0" i="0">
                <a:effectLst/>
                <a:latin typeface="Söhne"/>
              </a:rPr>
              <a:t>Practical Examples: Deconstructing real-world time series data</a:t>
            </a:r>
            <a:endParaRPr lang="en-IE" dirty="0"/>
          </a:p>
        </p:txBody>
      </p:sp>
      <p:sp>
        <p:nvSpPr>
          <p:cNvPr id="3" name="Content Placeholder 2">
            <a:extLst>
              <a:ext uri="{FF2B5EF4-FFF2-40B4-BE49-F238E27FC236}">
                <a16:creationId xmlns:a16="http://schemas.microsoft.com/office/drawing/2014/main" id="{03DC119A-4C2B-7269-BC22-63D5551B7A7C}"/>
              </a:ext>
            </a:extLst>
          </p:cNvPr>
          <p:cNvSpPr>
            <a:spLocks noGrp="1"/>
          </p:cNvSpPr>
          <p:nvPr>
            <p:ph idx="1"/>
          </p:nvPr>
        </p:nvSpPr>
        <p:spPr>
          <a:xfrm>
            <a:off x="6324601" y="914400"/>
            <a:ext cx="4800600" cy="5105400"/>
          </a:xfrm>
        </p:spPr>
        <p:txBody>
          <a:bodyPr anchor="ctr">
            <a:normAutofit/>
          </a:bodyPr>
          <a:lstStyle/>
          <a:p>
            <a:pPr>
              <a:buFont typeface="Arial" panose="020B0604020202020204" pitchFamily="34" charset="0"/>
              <a:buChar char="•"/>
            </a:pPr>
            <a:r>
              <a:rPr lang="en-GB" sz="1800" b="1" i="0">
                <a:effectLst/>
                <a:latin typeface="Söhne"/>
              </a:rPr>
              <a:t>Cyclical Patterns:</a:t>
            </a:r>
            <a:r>
              <a:rPr lang="en-GB" sz="1800" b="0" i="0">
                <a:effectLst/>
                <a:latin typeface="Söhne"/>
              </a:rPr>
              <a:t> Economic cycles, such as recessions or expansions, can influence consumer spending. Recognizing these patterns allows retailers to adjust their strategies accordingly.</a:t>
            </a:r>
          </a:p>
          <a:p>
            <a:pPr>
              <a:buFont typeface="Arial" panose="020B0604020202020204" pitchFamily="34" charset="0"/>
              <a:buChar char="•"/>
            </a:pPr>
            <a:r>
              <a:rPr lang="en-GB" sz="1800" b="1" i="0">
                <a:effectLst/>
                <a:latin typeface="Söhne"/>
              </a:rPr>
              <a:t>Irregular Components:</a:t>
            </a:r>
            <a:r>
              <a:rPr lang="en-GB" sz="1800" b="0" i="0">
                <a:effectLst/>
                <a:latin typeface="Söhne"/>
              </a:rPr>
              <a:t> Unexpected events, like supply chain disruptions, local emergencies, or even social media trends, can create irregular fluctuations in sales. Detecting these irregularities can inform crisis management and risk mitigation.</a:t>
            </a:r>
          </a:p>
          <a:p>
            <a:endParaRPr lang="en-IE" sz="1800"/>
          </a:p>
        </p:txBody>
      </p:sp>
    </p:spTree>
    <p:extLst>
      <p:ext uri="{BB962C8B-B14F-4D97-AF65-F5344CB8AC3E}">
        <p14:creationId xmlns:p14="http://schemas.microsoft.com/office/powerpoint/2010/main" val="308870543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546F2E-08C5-E15D-B317-8F014AB7AB67}"/>
              </a:ext>
            </a:extLst>
          </p:cNvPr>
          <p:cNvSpPr>
            <a:spLocks noGrp="1"/>
          </p:cNvSpPr>
          <p:nvPr>
            <p:ph type="title"/>
          </p:nvPr>
        </p:nvSpPr>
        <p:spPr>
          <a:xfrm>
            <a:off x="1143318" y="914400"/>
            <a:ext cx="4952681" cy="5105400"/>
          </a:xfrm>
        </p:spPr>
        <p:txBody>
          <a:bodyPr anchor="ctr">
            <a:normAutofit/>
          </a:bodyPr>
          <a:lstStyle/>
          <a:p>
            <a:r>
              <a:rPr lang="en-GB" b="0" i="0">
                <a:effectLst/>
                <a:latin typeface="Söhne"/>
              </a:rPr>
              <a:t>Practical Examples: Deconstructing real-world time series data</a:t>
            </a:r>
            <a:endParaRPr lang="en-IE" dirty="0"/>
          </a:p>
        </p:txBody>
      </p:sp>
      <p:sp>
        <p:nvSpPr>
          <p:cNvPr id="3" name="Content Placeholder 2">
            <a:extLst>
              <a:ext uri="{FF2B5EF4-FFF2-40B4-BE49-F238E27FC236}">
                <a16:creationId xmlns:a16="http://schemas.microsoft.com/office/drawing/2014/main" id="{14957E5D-190F-3F59-64F9-4A2927293BDC}"/>
              </a:ext>
            </a:extLst>
          </p:cNvPr>
          <p:cNvSpPr>
            <a:spLocks noGrp="1"/>
          </p:cNvSpPr>
          <p:nvPr>
            <p:ph idx="1"/>
          </p:nvPr>
        </p:nvSpPr>
        <p:spPr>
          <a:xfrm>
            <a:off x="6324601" y="914400"/>
            <a:ext cx="4800600" cy="5105400"/>
          </a:xfrm>
        </p:spPr>
        <p:txBody>
          <a:bodyPr anchor="ctr">
            <a:normAutofit/>
          </a:bodyPr>
          <a:lstStyle/>
          <a:p>
            <a:r>
              <a:rPr lang="en-GB" sz="1800" b="0" i="0">
                <a:effectLst/>
                <a:latin typeface="Söhne"/>
              </a:rPr>
              <a:t>In this example, deconstructing retail sales data through time series decomposition enables businesses to optimize inventory, staffing, and marketing efforts.</a:t>
            </a:r>
          </a:p>
          <a:p>
            <a:r>
              <a:rPr lang="en-GB" sz="1800" b="0" i="0">
                <a:effectLst/>
                <a:latin typeface="Söhne"/>
              </a:rPr>
              <a:t>These examples illustrate the practical utility of time series decomposition in various domains. It helps in identifying trends, seasonality, cyclical influences, and irregular events, allowing for more informed decision-making and improved forecasting.</a:t>
            </a:r>
          </a:p>
          <a:p>
            <a:endParaRPr lang="en-IE" sz="1800"/>
          </a:p>
        </p:txBody>
      </p:sp>
    </p:spTree>
    <p:extLst>
      <p:ext uri="{BB962C8B-B14F-4D97-AF65-F5344CB8AC3E}">
        <p14:creationId xmlns:p14="http://schemas.microsoft.com/office/powerpoint/2010/main" val="242252930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0C254F-E722-25FB-C7A4-A702326E95CF}"/>
              </a:ext>
            </a:extLst>
          </p:cNvPr>
          <p:cNvSpPr>
            <a:spLocks noGrp="1"/>
          </p:cNvSpPr>
          <p:nvPr>
            <p:ph type="title"/>
          </p:nvPr>
        </p:nvSpPr>
        <p:spPr>
          <a:xfrm>
            <a:off x="1143318" y="914400"/>
            <a:ext cx="4952681" cy="5105400"/>
          </a:xfrm>
        </p:spPr>
        <p:txBody>
          <a:bodyPr anchor="ctr">
            <a:normAutofit/>
          </a:bodyPr>
          <a:lstStyle/>
          <a:p>
            <a:r>
              <a:rPr lang="en-IE" b="1" i="0" dirty="0">
                <a:effectLst/>
                <a:latin typeface="Söhne"/>
              </a:rPr>
              <a:t>Forecasting Methods</a:t>
            </a:r>
            <a:endParaRPr lang="en-IE" dirty="0"/>
          </a:p>
        </p:txBody>
      </p:sp>
      <p:sp>
        <p:nvSpPr>
          <p:cNvPr id="3" name="Content Placeholder 2">
            <a:extLst>
              <a:ext uri="{FF2B5EF4-FFF2-40B4-BE49-F238E27FC236}">
                <a16:creationId xmlns:a16="http://schemas.microsoft.com/office/drawing/2014/main" id="{B33FFDDA-067E-7961-04E0-5BEA0CE42F9E}"/>
              </a:ext>
            </a:extLst>
          </p:cNvPr>
          <p:cNvSpPr>
            <a:spLocks noGrp="1"/>
          </p:cNvSpPr>
          <p:nvPr>
            <p:ph idx="1"/>
          </p:nvPr>
        </p:nvSpPr>
        <p:spPr>
          <a:xfrm>
            <a:off x="6324601" y="914400"/>
            <a:ext cx="4800600" cy="5105400"/>
          </a:xfrm>
        </p:spPr>
        <p:txBody>
          <a:bodyPr anchor="ctr">
            <a:normAutofit/>
          </a:bodyPr>
          <a:lstStyle/>
          <a:p>
            <a:r>
              <a:rPr lang="en-IE" sz="1800" b="1" i="0">
                <a:effectLst/>
                <a:latin typeface="Söhne"/>
              </a:rPr>
              <a:t>Simple Moving Averages (SMA):</a:t>
            </a:r>
          </a:p>
          <a:p>
            <a:r>
              <a:rPr lang="en-GB" sz="1800" b="0" i="0">
                <a:effectLst/>
                <a:latin typeface="Söhne"/>
              </a:rPr>
              <a:t>A Simple Moving Average is a basic method used to analyze and smooth out fluctuations in time series data. It's calculated by averaging a set of data points within a specified window or time period. The key characteristics of SMAs include:</a:t>
            </a:r>
            <a:endParaRPr lang="en-IE" sz="1800" b="1">
              <a:latin typeface="Söhne"/>
            </a:endParaRPr>
          </a:p>
          <a:p>
            <a:endParaRPr lang="en-IE" sz="1800"/>
          </a:p>
        </p:txBody>
      </p:sp>
    </p:spTree>
    <p:extLst>
      <p:ext uri="{BB962C8B-B14F-4D97-AF65-F5344CB8AC3E}">
        <p14:creationId xmlns:p14="http://schemas.microsoft.com/office/powerpoint/2010/main" val="304884303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7E9F58-3345-C2A8-F522-532D89397544}"/>
              </a:ext>
            </a:extLst>
          </p:cNvPr>
          <p:cNvSpPr>
            <a:spLocks noGrp="1"/>
          </p:cNvSpPr>
          <p:nvPr>
            <p:ph type="title"/>
          </p:nvPr>
        </p:nvSpPr>
        <p:spPr>
          <a:xfrm>
            <a:off x="1143318" y="914400"/>
            <a:ext cx="4952681" cy="5105400"/>
          </a:xfrm>
        </p:spPr>
        <p:txBody>
          <a:bodyPr anchor="ctr">
            <a:normAutofit/>
          </a:bodyPr>
          <a:lstStyle/>
          <a:p>
            <a:r>
              <a:rPr lang="en-IE" b="1" i="0" dirty="0">
                <a:effectLst/>
                <a:latin typeface="Söhne"/>
              </a:rPr>
              <a:t>Forecasting Methods</a:t>
            </a:r>
            <a:endParaRPr lang="en-IE" dirty="0"/>
          </a:p>
        </p:txBody>
      </p:sp>
      <p:sp>
        <p:nvSpPr>
          <p:cNvPr id="3" name="Content Placeholder 2">
            <a:extLst>
              <a:ext uri="{FF2B5EF4-FFF2-40B4-BE49-F238E27FC236}">
                <a16:creationId xmlns:a16="http://schemas.microsoft.com/office/drawing/2014/main" id="{B6E5D4CA-37AE-C61D-FA6F-BD759B04F3EA}"/>
              </a:ext>
            </a:extLst>
          </p:cNvPr>
          <p:cNvSpPr>
            <a:spLocks noGrp="1"/>
          </p:cNvSpPr>
          <p:nvPr>
            <p:ph idx="1"/>
          </p:nvPr>
        </p:nvSpPr>
        <p:spPr>
          <a:xfrm>
            <a:off x="6324601" y="914400"/>
            <a:ext cx="4800600" cy="5105400"/>
          </a:xfrm>
        </p:spPr>
        <p:txBody>
          <a:bodyPr anchor="ctr">
            <a:normAutofit/>
          </a:bodyPr>
          <a:lstStyle/>
          <a:p>
            <a:pPr>
              <a:buFont typeface="Arial" panose="020B0604020202020204" pitchFamily="34" charset="0"/>
              <a:buChar char="•"/>
            </a:pPr>
            <a:r>
              <a:rPr lang="en-GB" sz="1800" b="1" i="0">
                <a:effectLst/>
                <a:latin typeface="Söhne"/>
              </a:rPr>
              <a:t>Equal Weighting:</a:t>
            </a:r>
            <a:r>
              <a:rPr lang="en-GB" sz="1800" b="0" i="0">
                <a:effectLst/>
                <a:latin typeface="Söhne"/>
              </a:rPr>
              <a:t> In an SMA, all data points within the moving average window are given equal importance. For example, in a 7-day SMA for daily stock prices, each of the seven prices is given the same weight.</a:t>
            </a:r>
          </a:p>
          <a:p>
            <a:pPr>
              <a:buFont typeface="Arial" panose="020B0604020202020204" pitchFamily="34" charset="0"/>
              <a:buChar char="•"/>
            </a:pPr>
            <a:r>
              <a:rPr lang="en-GB" sz="1800" b="1" i="0">
                <a:effectLst/>
                <a:latin typeface="Söhne"/>
              </a:rPr>
              <a:t>Smoothing Effect:</a:t>
            </a:r>
            <a:r>
              <a:rPr lang="en-GB" sz="1800" b="0" i="0">
                <a:effectLst/>
                <a:latin typeface="Söhne"/>
              </a:rPr>
              <a:t> SMAs are effective at reducing noise and capturing the underlying trend or pattern in time series data. This makes them useful for identifying trends and eliminating short-term fluctuations.</a:t>
            </a:r>
          </a:p>
          <a:p>
            <a:pPr>
              <a:buFont typeface="Arial" panose="020B0604020202020204" pitchFamily="34" charset="0"/>
              <a:buChar char="•"/>
            </a:pPr>
            <a:r>
              <a:rPr lang="en-GB" sz="1800" b="1" i="0">
                <a:effectLst/>
                <a:latin typeface="Söhne"/>
              </a:rPr>
              <a:t>Lagging Indicator:</a:t>
            </a:r>
            <a:r>
              <a:rPr lang="en-GB" sz="1800" b="0" i="0">
                <a:effectLst/>
                <a:latin typeface="Söhne"/>
              </a:rPr>
              <a:t> SMAs are lagging indicators because they react to changes in the data after they have occurred. This means they may not provide immediate signals about trend reversals</a:t>
            </a:r>
          </a:p>
          <a:p>
            <a:endParaRPr lang="en-IE" sz="1800"/>
          </a:p>
        </p:txBody>
      </p:sp>
    </p:spTree>
    <p:extLst>
      <p:ext uri="{BB962C8B-B14F-4D97-AF65-F5344CB8AC3E}">
        <p14:creationId xmlns:p14="http://schemas.microsoft.com/office/powerpoint/2010/main" val="235522351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FF13A2-EA01-D7F1-966F-3254E295929C}"/>
              </a:ext>
            </a:extLst>
          </p:cNvPr>
          <p:cNvSpPr>
            <a:spLocks noGrp="1"/>
          </p:cNvSpPr>
          <p:nvPr>
            <p:ph type="title"/>
          </p:nvPr>
        </p:nvSpPr>
        <p:spPr>
          <a:xfrm>
            <a:off x="1143318" y="914400"/>
            <a:ext cx="4952681" cy="5105400"/>
          </a:xfrm>
        </p:spPr>
        <p:txBody>
          <a:bodyPr anchor="ctr">
            <a:normAutofit/>
          </a:bodyPr>
          <a:lstStyle/>
          <a:p>
            <a:r>
              <a:rPr lang="en-GB" b="1" i="0">
                <a:effectLst/>
                <a:latin typeface="Söhne"/>
              </a:rPr>
              <a:t>Weighted Moving Averages (WMA):</a:t>
            </a:r>
            <a:br>
              <a:rPr lang="en-GB" b="0" i="0">
                <a:effectLst/>
                <a:latin typeface="Söhne"/>
              </a:rPr>
            </a:br>
            <a:endParaRPr lang="en-IE" dirty="0"/>
          </a:p>
        </p:txBody>
      </p:sp>
      <p:sp>
        <p:nvSpPr>
          <p:cNvPr id="3" name="Content Placeholder 2">
            <a:extLst>
              <a:ext uri="{FF2B5EF4-FFF2-40B4-BE49-F238E27FC236}">
                <a16:creationId xmlns:a16="http://schemas.microsoft.com/office/drawing/2014/main" id="{42DA90AA-6A5B-5464-79F7-2AEA4BB07BF0}"/>
              </a:ext>
            </a:extLst>
          </p:cNvPr>
          <p:cNvSpPr>
            <a:spLocks noGrp="1"/>
          </p:cNvSpPr>
          <p:nvPr>
            <p:ph idx="1"/>
          </p:nvPr>
        </p:nvSpPr>
        <p:spPr>
          <a:xfrm>
            <a:off x="6324601" y="914400"/>
            <a:ext cx="4800600" cy="5105400"/>
          </a:xfrm>
        </p:spPr>
        <p:txBody>
          <a:bodyPr anchor="ctr">
            <a:normAutofit/>
          </a:bodyPr>
          <a:lstStyle/>
          <a:p>
            <a:r>
              <a:rPr lang="en-GB" sz="1800" b="1" i="0">
                <a:effectLst/>
                <a:latin typeface="Söhne"/>
              </a:rPr>
              <a:t>Weighted Moving Averages (WMA):</a:t>
            </a:r>
            <a:endParaRPr lang="en-GB" sz="1800" b="0" i="0">
              <a:effectLst/>
              <a:latin typeface="Söhne"/>
            </a:endParaRPr>
          </a:p>
          <a:p>
            <a:r>
              <a:rPr lang="en-GB" sz="1800" b="0" i="0">
                <a:effectLst/>
                <a:latin typeface="Söhne"/>
              </a:rPr>
              <a:t>A Weighted Moving Average is an advanced variation of SMAs that allows for assigning different weights to data points within the moving average window. The key characteristics of WMAs include:</a:t>
            </a:r>
          </a:p>
          <a:p>
            <a:pPr>
              <a:buFont typeface="Arial" panose="020B0604020202020204" pitchFamily="34" charset="0"/>
              <a:buChar char="•"/>
            </a:pPr>
            <a:r>
              <a:rPr lang="en-GB" sz="1800" b="1" i="0">
                <a:effectLst/>
                <a:latin typeface="Söhne"/>
              </a:rPr>
              <a:t>Variable Weights:</a:t>
            </a:r>
            <a:r>
              <a:rPr lang="en-GB" sz="1800" b="0" i="0">
                <a:effectLst/>
                <a:latin typeface="Söhne"/>
              </a:rPr>
              <a:t> Unlike SMAs, WMAs apply different weights to data points within the window. You can assign higher weights to more recent data points or data points of higher significance.</a:t>
            </a:r>
          </a:p>
          <a:p>
            <a:pPr marL="0" indent="0">
              <a:buNone/>
            </a:pPr>
            <a:endParaRPr lang="en-IE" sz="1800"/>
          </a:p>
        </p:txBody>
      </p:sp>
    </p:spTree>
    <p:extLst>
      <p:ext uri="{BB962C8B-B14F-4D97-AF65-F5344CB8AC3E}">
        <p14:creationId xmlns:p14="http://schemas.microsoft.com/office/powerpoint/2010/main" val="185525411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F1D581-F99F-CF6C-4BD4-77E928A49461}"/>
              </a:ext>
            </a:extLst>
          </p:cNvPr>
          <p:cNvSpPr>
            <a:spLocks noGrp="1"/>
          </p:cNvSpPr>
          <p:nvPr>
            <p:ph type="title"/>
          </p:nvPr>
        </p:nvSpPr>
        <p:spPr>
          <a:xfrm>
            <a:off x="1143318" y="914400"/>
            <a:ext cx="4952681" cy="5105400"/>
          </a:xfrm>
        </p:spPr>
        <p:txBody>
          <a:bodyPr anchor="ctr">
            <a:normAutofit/>
          </a:bodyPr>
          <a:lstStyle/>
          <a:p>
            <a:r>
              <a:rPr lang="en-GB" b="1" i="0">
                <a:effectLst/>
                <a:latin typeface="Söhne"/>
              </a:rPr>
              <a:t>Weighted Moving Averages (WMA):</a:t>
            </a:r>
            <a:br>
              <a:rPr lang="en-GB" b="0" i="0">
                <a:effectLst/>
                <a:latin typeface="Söhne"/>
              </a:rPr>
            </a:br>
            <a:endParaRPr lang="en-IE" dirty="0"/>
          </a:p>
        </p:txBody>
      </p:sp>
      <p:sp>
        <p:nvSpPr>
          <p:cNvPr id="3" name="Content Placeholder 2">
            <a:extLst>
              <a:ext uri="{FF2B5EF4-FFF2-40B4-BE49-F238E27FC236}">
                <a16:creationId xmlns:a16="http://schemas.microsoft.com/office/drawing/2014/main" id="{6C05664A-5953-869B-9163-0F87F884CF0F}"/>
              </a:ext>
            </a:extLst>
          </p:cNvPr>
          <p:cNvSpPr>
            <a:spLocks noGrp="1"/>
          </p:cNvSpPr>
          <p:nvPr>
            <p:ph idx="1"/>
          </p:nvPr>
        </p:nvSpPr>
        <p:spPr>
          <a:xfrm>
            <a:off x="6324601" y="914400"/>
            <a:ext cx="4800600" cy="5105400"/>
          </a:xfrm>
        </p:spPr>
        <p:txBody>
          <a:bodyPr anchor="ctr">
            <a:normAutofit/>
          </a:bodyPr>
          <a:lstStyle/>
          <a:p>
            <a:pPr>
              <a:buFont typeface="Arial" panose="020B0604020202020204" pitchFamily="34" charset="0"/>
              <a:buChar char="•"/>
            </a:pPr>
            <a:r>
              <a:rPr lang="en-GB" sz="1800" b="1" i="0">
                <a:effectLst/>
                <a:latin typeface="Söhne"/>
              </a:rPr>
              <a:t>Adaptability:</a:t>
            </a:r>
            <a:r>
              <a:rPr lang="en-GB" sz="1800" b="0" i="0">
                <a:effectLst/>
                <a:latin typeface="Söhne"/>
              </a:rPr>
              <a:t> WMAs are more adaptable to changes in data patterns because they can respond quickly to shifts in the underlying trends. By giving more weight to recent data, they emphasize more recent changes.</a:t>
            </a:r>
          </a:p>
          <a:p>
            <a:pPr>
              <a:buFont typeface="Arial" panose="020B0604020202020204" pitchFamily="34" charset="0"/>
              <a:buChar char="•"/>
            </a:pPr>
            <a:r>
              <a:rPr lang="en-GB" sz="1800" b="1" i="0">
                <a:effectLst/>
                <a:latin typeface="Söhne"/>
              </a:rPr>
              <a:t>Better for Short-Term Analysis:</a:t>
            </a:r>
            <a:r>
              <a:rPr lang="en-GB" sz="1800" b="0" i="0">
                <a:effectLst/>
                <a:latin typeface="Söhne"/>
              </a:rPr>
              <a:t> WMAs are particularly useful for short-term analysis where recent data points are crucial for decision-making.</a:t>
            </a:r>
          </a:p>
          <a:p>
            <a:endParaRPr lang="en-IE" sz="1800"/>
          </a:p>
        </p:txBody>
      </p:sp>
    </p:spTree>
    <p:extLst>
      <p:ext uri="{BB962C8B-B14F-4D97-AF65-F5344CB8AC3E}">
        <p14:creationId xmlns:p14="http://schemas.microsoft.com/office/powerpoint/2010/main" val="408166531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5A985D-344D-0943-20F3-F60F04419D86}"/>
              </a:ext>
            </a:extLst>
          </p:cNvPr>
          <p:cNvSpPr>
            <a:spLocks noGrp="1"/>
          </p:cNvSpPr>
          <p:nvPr>
            <p:ph type="title"/>
          </p:nvPr>
        </p:nvSpPr>
        <p:spPr>
          <a:xfrm>
            <a:off x="1143318" y="914400"/>
            <a:ext cx="4952681" cy="5105400"/>
          </a:xfrm>
        </p:spPr>
        <p:txBody>
          <a:bodyPr anchor="ctr">
            <a:normAutofit/>
          </a:bodyPr>
          <a:lstStyle/>
          <a:p>
            <a:r>
              <a:rPr lang="en-IE" b="1" i="0" dirty="0">
                <a:effectLst/>
                <a:latin typeface="Söhne"/>
              </a:rPr>
              <a:t>Weighted Moving Averages (WMA):</a:t>
            </a:r>
            <a:endParaRPr lang="en-IE" dirty="0"/>
          </a:p>
        </p:txBody>
      </p:sp>
      <p:sp>
        <p:nvSpPr>
          <p:cNvPr id="3" name="Content Placeholder 2">
            <a:extLst>
              <a:ext uri="{FF2B5EF4-FFF2-40B4-BE49-F238E27FC236}">
                <a16:creationId xmlns:a16="http://schemas.microsoft.com/office/drawing/2014/main" id="{38EE2527-4266-9307-3A25-A5E7AD857F5B}"/>
              </a:ext>
            </a:extLst>
          </p:cNvPr>
          <p:cNvSpPr>
            <a:spLocks noGrp="1"/>
          </p:cNvSpPr>
          <p:nvPr>
            <p:ph idx="1"/>
          </p:nvPr>
        </p:nvSpPr>
        <p:spPr>
          <a:xfrm>
            <a:off x="6324601" y="914400"/>
            <a:ext cx="4800600" cy="5105400"/>
          </a:xfrm>
        </p:spPr>
        <p:txBody>
          <a:bodyPr anchor="ctr">
            <a:normAutofit/>
          </a:bodyPr>
          <a:lstStyle/>
          <a:p>
            <a:r>
              <a:rPr lang="en-GB" sz="1800" b="0" i="0">
                <a:effectLst/>
                <a:latin typeface="Söhne"/>
              </a:rPr>
              <a:t>Suppose you want to analyze the daily temperature in your city to identify temperature trends over time. You can calculate a 7-day moving average to smooth out daily fluctuations. Using SMAs, all seven days would be given equal weight, providing a stable trend but potentially lagging behind significant temperature shifts.</a:t>
            </a:r>
          </a:p>
          <a:p>
            <a:r>
              <a:rPr lang="en-GB" sz="1800" b="0" i="0">
                <a:effectLst/>
                <a:latin typeface="Söhne"/>
              </a:rPr>
              <a:t>However, if you decide to use WMAs, you can assign higher weights to more recent days, like 0.4 for the most recent day and decreasing weights for previous days. This allows your moving average to adapt more quickly to sudden temperature changes. For instance, it can provide a sharper response to a heatwave that started three days ago.</a:t>
            </a:r>
          </a:p>
          <a:p>
            <a:endParaRPr lang="en-IE" sz="1800"/>
          </a:p>
        </p:txBody>
      </p:sp>
    </p:spTree>
    <p:extLst>
      <p:ext uri="{BB962C8B-B14F-4D97-AF65-F5344CB8AC3E}">
        <p14:creationId xmlns:p14="http://schemas.microsoft.com/office/powerpoint/2010/main" val="413512462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150DBD-20D9-9B7A-03EF-505B99DF2768}"/>
              </a:ext>
            </a:extLst>
          </p:cNvPr>
          <p:cNvSpPr>
            <a:spLocks noGrp="1"/>
          </p:cNvSpPr>
          <p:nvPr>
            <p:ph type="title"/>
          </p:nvPr>
        </p:nvSpPr>
        <p:spPr>
          <a:xfrm>
            <a:off x="1143318" y="914400"/>
            <a:ext cx="4952681" cy="5105400"/>
          </a:xfrm>
        </p:spPr>
        <p:txBody>
          <a:bodyPr anchor="ctr">
            <a:normAutofit/>
          </a:bodyPr>
          <a:lstStyle/>
          <a:p>
            <a:r>
              <a:rPr lang="en-IE" b="1" i="0" dirty="0">
                <a:effectLst/>
                <a:latin typeface="Söhne"/>
              </a:rPr>
              <a:t>Weighted Moving Averages (WMA):</a:t>
            </a:r>
            <a:endParaRPr lang="en-IE" dirty="0"/>
          </a:p>
        </p:txBody>
      </p:sp>
      <p:sp>
        <p:nvSpPr>
          <p:cNvPr id="3" name="Content Placeholder 2">
            <a:extLst>
              <a:ext uri="{FF2B5EF4-FFF2-40B4-BE49-F238E27FC236}">
                <a16:creationId xmlns:a16="http://schemas.microsoft.com/office/drawing/2014/main" id="{CF13EF64-532C-1877-5475-245DB44FF0FD}"/>
              </a:ext>
            </a:extLst>
          </p:cNvPr>
          <p:cNvSpPr>
            <a:spLocks noGrp="1"/>
          </p:cNvSpPr>
          <p:nvPr>
            <p:ph idx="1"/>
          </p:nvPr>
        </p:nvSpPr>
        <p:spPr>
          <a:xfrm>
            <a:off x="6324601" y="914400"/>
            <a:ext cx="4800600" cy="5105400"/>
          </a:xfrm>
        </p:spPr>
        <p:txBody>
          <a:bodyPr anchor="ctr">
            <a:normAutofit/>
          </a:bodyPr>
          <a:lstStyle/>
          <a:p>
            <a:r>
              <a:rPr lang="en-GB" sz="1800" b="0" i="0">
                <a:effectLst/>
                <a:latin typeface="Söhne"/>
              </a:rPr>
              <a:t>In summary, while SMAs provide stable trend information, WMAs offer greater adaptability to recent changes. The choice between the two depends on the specific analysis and the importance of recent data points in decision-making. Both moving averages serve as valuable tools in time series analysis, smoothing data and capturing underlying patterns.</a:t>
            </a:r>
            <a:endParaRPr lang="en-IE" sz="1800"/>
          </a:p>
        </p:txBody>
      </p:sp>
    </p:spTree>
    <p:extLst>
      <p:ext uri="{BB962C8B-B14F-4D97-AF65-F5344CB8AC3E}">
        <p14:creationId xmlns:p14="http://schemas.microsoft.com/office/powerpoint/2010/main" val="392686485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446951-8B83-A978-41ED-6D444B0B1480}"/>
              </a:ext>
            </a:extLst>
          </p:cNvPr>
          <p:cNvSpPr>
            <a:spLocks noGrp="1"/>
          </p:cNvSpPr>
          <p:nvPr>
            <p:ph type="title"/>
          </p:nvPr>
        </p:nvSpPr>
        <p:spPr>
          <a:xfrm>
            <a:off x="1143318" y="914400"/>
            <a:ext cx="4952681" cy="5105400"/>
          </a:xfrm>
        </p:spPr>
        <p:txBody>
          <a:bodyPr anchor="ctr">
            <a:normAutofit/>
          </a:bodyPr>
          <a:lstStyle/>
          <a:p>
            <a:r>
              <a:rPr lang="en-IE" b="1" i="0" dirty="0">
                <a:effectLst/>
                <a:latin typeface="Söhne"/>
              </a:rPr>
              <a:t>Exponential Smoothing:</a:t>
            </a:r>
            <a:endParaRPr lang="en-IE" dirty="0"/>
          </a:p>
        </p:txBody>
      </p:sp>
      <p:sp>
        <p:nvSpPr>
          <p:cNvPr id="3" name="Content Placeholder 2">
            <a:extLst>
              <a:ext uri="{FF2B5EF4-FFF2-40B4-BE49-F238E27FC236}">
                <a16:creationId xmlns:a16="http://schemas.microsoft.com/office/drawing/2014/main" id="{8F372F57-ADA6-3BF7-D4AF-E89BCD002020}"/>
              </a:ext>
            </a:extLst>
          </p:cNvPr>
          <p:cNvSpPr>
            <a:spLocks noGrp="1"/>
          </p:cNvSpPr>
          <p:nvPr>
            <p:ph idx="1"/>
          </p:nvPr>
        </p:nvSpPr>
        <p:spPr>
          <a:xfrm>
            <a:off x="6324601" y="914400"/>
            <a:ext cx="4800600" cy="5105400"/>
          </a:xfrm>
        </p:spPr>
        <p:txBody>
          <a:bodyPr anchor="ctr">
            <a:normAutofit/>
          </a:bodyPr>
          <a:lstStyle/>
          <a:p>
            <a:r>
              <a:rPr lang="en-GB" sz="1800" b="1" i="0">
                <a:effectLst/>
                <a:latin typeface="Söhne"/>
              </a:rPr>
              <a:t>Exponential Smoothing:</a:t>
            </a:r>
            <a:endParaRPr lang="en-GB" sz="1800" b="0" i="0">
              <a:effectLst/>
              <a:latin typeface="Söhne"/>
            </a:endParaRPr>
          </a:p>
          <a:p>
            <a:r>
              <a:rPr lang="en-GB" sz="1800" b="0" i="0">
                <a:effectLst/>
                <a:latin typeface="Söhne"/>
              </a:rPr>
              <a:t>Exponential smoothing is a widely used method in time series forecasting. It's a flexible approach that applies varying weights to past observations, with more recent observations often given higher weights. This method is particularly useful when dealing with time series data that exhibits trend and seasonality. Exponential smoothing comes in different variations, including:</a:t>
            </a:r>
          </a:p>
          <a:p>
            <a:endParaRPr lang="en-IE" sz="1800"/>
          </a:p>
        </p:txBody>
      </p:sp>
    </p:spTree>
    <p:extLst>
      <p:ext uri="{BB962C8B-B14F-4D97-AF65-F5344CB8AC3E}">
        <p14:creationId xmlns:p14="http://schemas.microsoft.com/office/powerpoint/2010/main" val="279954528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FBB6BA-E70B-46AD-984F-32B913C95C1E}"/>
              </a:ext>
            </a:extLst>
          </p:cNvPr>
          <p:cNvSpPr>
            <a:spLocks noGrp="1"/>
          </p:cNvSpPr>
          <p:nvPr>
            <p:ph type="title"/>
          </p:nvPr>
        </p:nvSpPr>
        <p:spPr>
          <a:xfrm>
            <a:off x="1143318" y="914400"/>
            <a:ext cx="4952681" cy="5105400"/>
          </a:xfrm>
        </p:spPr>
        <p:txBody>
          <a:bodyPr anchor="ctr">
            <a:normAutofit/>
          </a:bodyPr>
          <a:lstStyle/>
          <a:p>
            <a:r>
              <a:rPr lang="en-IE" b="1" i="0">
                <a:effectLst/>
                <a:latin typeface="Söhne"/>
              </a:rPr>
              <a:t>Single Exponential Smoothing (SES):</a:t>
            </a:r>
            <a:br>
              <a:rPr lang="en-IE" b="0" i="0">
                <a:effectLst/>
                <a:latin typeface="Söhne"/>
              </a:rPr>
            </a:br>
            <a:br>
              <a:rPr lang="en-IE" b="0" i="0">
                <a:effectLst/>
                <a:latin typeface="Söhne"/>
              </a:rPr>
            </a:br>
            <a:endParaRPr lang="en-IE" dirty="0"/>
          </a:p>
        </p:txBody>
      </p:sp>
      <p:sp>
        <p:nvSpPr>
          <p:cNvPr id="3" name="Content Placeholder 2">
            <a:extLst>
              <a:ext uri="{FF2B5EF4-FFF2-40B4-BE49-F238E27FC236}">
                <a16:creationId xmlns:a16="http://schemas.microsoft.com/office/drawing/2014/main" id="{B258C917-4295-02C3-F36B-EA925ADB3C3E}"/>
              </a:ext>
            </a:extLst>
          </p:cNvPr>
          <p:cNvSpPr>
            <a:spLocks noGrp="1"/>
          </p:cNvSpPr>
          <p:nvPr>
            <p:ph idx="1"/>
          </p:nvPr>
        </p:nvSpPr>
        <p:spPr>
          <a:xfrm>
            <a:off x="6324601" y="914400"/>
            <a:ext cx="4800600" cy="5105400"/>
          </a:xfrm>
        </p:spPr>
        <p:txBody>
          <a:bodyPr anchor="ctr">
            <a:normAutofit/>
          </a:bodyPr>
          <a:lstStyle/>
          <a:p>
            <a:pPr>
              <a:buFont typeface="Arial" panose="020B0604020202020204" pitchFamily="34" charset="0"/>
              <a:buChar char="•"/>
            </a:pPr>
            <a:r>
              <a:rPr lang="en-GB" sz="1800" b="1" i="0">
                <a:effectLst/>
                <a:latin typeface="Söhne"/>
              </a:rPr>
              <a:t>Objective:</a:t>
            </a:r>
            <a:r>
              <a:rPr lang="en-GB" sz="1800" b="0" i="0">
                <a:effectLst/>
                <a:latin typeface="Söhne"/>
              </a:rPr>
              <a:t> Single Exponential Smoothing is used to forecast time series data when there is no significant trend or seasonality.</a:t>
            </a:r>
          </a:p>
          <a:p>
            <a:pPr>
              <a:buFont typeface="Arial" panose="020B0604020202020204" pitchFamily="34" charset="0"/>
              <a:buChar char="•"/>
            </a:pPr>
            <a:r>
              <a:rPr lang="en-GB" sz="1800" b="1" i="0">
                <a:effectLst/>
                <a:latin typeface="Söhne"/>
              </a:rPr>
              <a:t>Basic Idea:</a:t>
            </a:r>
            <a:r>
              <a:rPr lang="en-GB" sz="1800" b="0" i="0">
                <a:effectLst/>
                <a:latin typeface="Söhne"/>
              </a:rPr>
              <a:t> In SES, a weighted average of past observations is computed, with the weights decreasing exponentially as the observations get older. This means more recent observations have more influence on the forecast. SES provides a way to estimate the current level, considering past data.</a:t>
            </a:r>
          </a:p>
          <a:p>
            <a:endParaRPr lang="en-IE" sz="1800"/>
          </a:p>
        </p:txBody>
      </p:sp>
    </p:spTree>
    <p:extLst>
      <p:ext uri="{BB962C8B-B14F-4D97-AF65-F5344CB8AC3E}">
        <p14:creationId xmlns:p14="http://schemas.microsoft.com/office/powerpoint/2010/main" val="127142819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C6367D-A036-28C0-E9CD-30ECB64D1591}"/>
              </a:ext>
            </a:extLst>
          </p:cNvPr>
          <p:cNvSpPr>
            <a:spLocks noGrp="1"/>
          </p:cNvSpPr>
          <p:nvPr>
            <p:ph type="title"/>
          </p:nvPr>
        </p:nvSpPr>
        <p:spPr>
          <a:xfrm>
            <a:off x="1143318" y="914400"/>
            <a:ext cx="4952681" cy="5105400"/>
          </a:xfrm>
        </p:spPr>
        <p:txBody>
          <a:bodyPr anchor="ctr">
            <a:normAutofit/>
          </a:bodyPr>
          <a:lstStyle/>
          <a:p>
            <a:r>
              <a:rPr lang="en-IE" b="1" i="0" dirty="0">
                <a:effectLst/>
                <a:latin typeface="Söhne"/>
              </a:rPr>
              <a:t>Single Exponential Smoothing (SES):</a:t>
            </a:r>
            <a:endParaRPr lang="en-IE" dirty="0"/>
          </a:p>
        </p:txBody>
      </p:sp>
      <p:sp>
        <p:nvSpPr>
          <p:cNvPr id="3" name="Content Placeholder 2">
            <a:extLst>
              <a:ext uri="{FF2B5EF4-FFF2-40B4-BE49-F238E27FC236}">
                <a16:creationId xmlns:a16="http://schemas.microsoft.com/office/drawing/2014/main" id="{0CBD3C29-12A4-853C-4C88-E74A2D65D9AA}"/>
              </a:ext>
            </a:extLst>
          </p:cNvPr>
          <p:cNvSpPr>
            <a:spLocks noGrp="1"/>
          </p:cNvSpPr>
          <p:nvPr>
            <p:ph idx="1"/>
          </p:nvPr>
        </p:nvSpPr>
        <p:spPr>
          <a:xfrm>
            <a:off x="6324601" y="914400"/>
            <a:ext cx="4800600" cy="5105400"/>
          </a:xfrm>
        </p:spPr>
        <p:txBody>
          <a:bodyPr anchor="ctr">
            <a:normAutofit/>
          </a:bodyPr>
          <a:lstStyle/>
          <a:p>
            <a:r>
              <a:rPr lang="en-GB" sz="1800" b="1" i="0">
                <a:effectLst/>
                <a:latin typeface="Söhne"/>
              </a:rPr>
              <a:t>Double Exponential Smoothing (Holt's Linear Exponential Smoothing):</a:t>
            </a:r>
            <a:endParaRPr lang="en-GB" sz="1800" b="0" i="0">
              <a:effectLst/>
              <a:latin typeface="Söhne"/>
            </a:endParaRPr>
          </a:p>
          <a:p>
            <a:pPr>
              <a:buFont typeface="Arial" panose="020B0604020202020204" pitchFamily="34" charset="0"/>
              <a:buChar char="•"/>
            </a:pPr>
            <a:r>
              <a:rPr lang="en-GB" sz="1800" b="1" i="0">
                <a:effectLst/>
                <a:latin typeface="Söhne"/>
              </a:rPr>
              <a:t>Objective:</a:t>
            </a:r>
            <a:r>
              <a:rPr lang="en-GB" sz="1800" b="0" i="0">
                <a:effectLst/>
                <a:latin typeface="Söhne"/>
              </a:rPr>
              <a:t> Double Exponential Smoothing is used when there is an underlying trend in the time series data, but no seasonality.</a:t>
            </a:r>
          </a:p>
          <a:p>
            <a:pPr>
              <a:buFont typeface="Arial" panose="020B0604020202020204" pitchFamily="34" charset="0"/>
              <a:buChar char="•"/>
            </a:pPr>
            <a:r>
              <a:rPr lang="en-GB" sz="1800" b="1" i="0">
                <a:effectLst/>
                <a:latin typeface="Söhne"/>
              </a:rPr>
              <a:t>Basic Idea:</a:t>
            </a:r>
            <a:r>
              <a:rPr lang="en-GB" sz="1800" b="0" i="0">
                <a:effectLst/>
                <a:latin typeface="Söhne"/>
              </a:rPr>
              <a:t> In Double Exponential Smoothing, two weighted averages are calculated: one for the level of the data and one for the trend. This method is more complex than SES and is capable of capturing linear trends in data.</a:t>
            </a:r>
          </a:p>
          <a:p>
            <a:endParaRPr lang="en-IE" sz="1800"/>
          </a:p>
        </p:txBody>
      </p:sp>
    </p:spTree>
    <p:extLst>
      <p:ext uri="{BB962C8B-B14F-4D97-AF65-F5344CB8AC3E}">
        <p14:creationId xmlns:p14="http://schemas.microsoft.com/office/powerpoint/2010/main" val="386920842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762B0F-5A83-6854-1ED7-F1B7126D802B}"/>
              </a:ext>
            </a:extLst>
          </p:cNvPr>
          <p:cNvSpPr>
            <a:spLocks noGrp="1"/>
          </p:cNvSpPr>
          <p:nvPr>
            <p:ph type="title"/>
          </p:nvPr>
        </p:nvSpPr>
        <p:spPr>
          <a:xfrm>
            <a:off x="1143318" y="914400"/>
            <a:ext cx="4952681" cy="5105400"/>
          </a:xfrm>
        </p:spPr>
        <p:txBody>
          <a:bodyPr anchor="ctr">
            <a:normAutofit/>
          </a:bodyPr>
          <a:lstStyle/>
          <a:p>
            <a:r>
              <a:rPr lang="en-IE" b="1" i="0" dirty="0">
                <a:effectLst/>
                <a:latin typeface="Söhne"/>
              </a:rPr>
              <a:t>Single Exponential Smoothing (SES):</a:t>
            </a:r>
            <a:endParaRPr lang="en-IE" dirty="0"/>
          </a:p>
        </p:txBody>
      </p:sp>
      <p:sp>
        <p:nvSpPr>
          <p:cNvPr id="3" name="Content Placeholder 2">
            <a:extLst>
              <a:ext uri="{FF2B5EF4-FFF2-40B4-BE49-F238E27FC236}">
                <a16:creationId xmlns:a16="http://schemas.microsoft.com/office/drawing/2014/main" id="{2B36E14C-F5E2-69F6-23F2-1B0DC6E09645}"/>
              </a:ext>
            </a:extLst>
          </p:cNvPr>
          <p:cNvSpPr>
            <a:spLocks noGrp="1"/>
          </p:cNvSpPr>
          <p:nvPr>
            <p:ph idx="1"/>
          </p:nvPr>
        </p:nvSpPr>
        <p:spPr>
          <a:xfrm>
            <a:off x="6324601" y="914400"/>
            <a:ext cx="4800600" cy="5105400"/>
          </a:xfrm>
        </p:spPr>
        <p:txBody>
          <a:bodyPr anchor="ctr">
            <a:normAutofit/>
          </a:bodyPr>
          <a:lstStyle/>
          <a:p>
            <a:r>
              <a:rPr lang="en-GB" sz="1800" b="1" i="0">
                <a:effectLst/>
                <a:latin typeface="Söhne"/>
              </a:rPr>
              <a:t>Single Exponential Smoothing (SES):</a:t>
            </a:r>
            <a:endParaRPr lang="en-GB" sz="1800" b="0" i="0">
              <a:effectLst/>
              <a:latin typeface="Söhne"/>
            </a:endParaRPr>
          </a:p>
          <a:p>
            <a:r>
              <a:rPr lang="en-GB" sz="1800" b="0" i="0">
                <a:effectLst/>
                <a:latin typeface="Söhne"/>
              </a:rPr>
              <a:t>SES can be expressed with the following formulas:</a:t>
            </a:r>
          </a:p>
          <a:p>
            <a:pPr>
              <a:buFont typeface="Arial" panose="020B0604020202020204" pitchFamily="34" charset="0"/>
              <a:buChar char="•"/>
            </a:pPr>
            <a:r>
              <a:rPr lang="en-GB" sz="1800" b="1" i="0">
                <a:effectLst/>
                <a:latin typeface="Söhne"/>
              </a:rPr>
              <a:t>Level at time (t)</a:t>
            </a:r>
            <a:r>
              <a:rPr lang="en-GB" sz="1800" b="0" i="0">
                <a:effectLst/>
                <a:latin typeface="Söhne"/>
              </a:rPr>
              <a:t> (denoted as </a:t>
            </a:r>
            <a:r>
              <a:rPr lang="en-GB" sz="1800" b="1" i="0">
                <a:effectLst/>
                <a:latin typeface="Söhne"/>
              </a:rPr>
              <a:t>L(t)</a:t>
            </a:r>
            <a:r>
              <a:rPr lang="en-GB" sz="1800" b="0" i="0">
                <a:effectLst/>
                <a:latin typeface="Söhne"/>
              </a:rPr>
              <a:t>) is calculated as: L(t) = α * Y(t) + (1 - α) * L(t-1) Where Y(t) is the actual observation at time t, α is the smoothing parameter (0 &lt; α &lt; 1), and L(t-1) is the level at the previous time period.</a:t>
            </a:r>
          </a:p>
          <a:p>
            <a:pPr>
              <a:buFont typeface="Arial" panose="020B0604020202020204" pitchFamily="34" charset="0"/>
              <a:buChar char="•"/>
            </a:pPr>
            <a:r>
              <a:rPr lang="en-GB" sz="1800" b="1" i="0">
                <a:effectLst/>
                <a:latin typeface="Söhne"/>
              </a:rPr>
              <a:t>Forecast at time (t + 1)</a:t>
            </a:r>
            <a:r>
              <a:rPr lang="en-GB" sz="1800" b="0" i="0">
                <a:effectLst/>
                <a:latin typeface="Söhne"/>
              </a:rPr>
              <a:t> (denoted as </a:t>
            </a:r>
            <a:r>
              <a:rPr lang="en-GB" sz="1800" b="1" i="0">
                <a:effectLst/>
                <a:latin typeface="Söhne"/>
              </a:rPr>
              <a:t>F(t+1)</a:t>
            </a:r>
            <a:r>
              <a:rPr lang="en-GB" sz="1800" b="0" i="0">
                <a:effectLst/>
                <a:latin typeface="Söhne"/>
              </a:rPr>
              <a:t>) is the same as the level at time (t) calculated in the previous step: F(t+1) = L(t)</a:t>
            </a:r>
          </a:p>
          <a:p>
            <a:endParaRPr lang="en-IE" sz="1800"/>
          </a:p>
        </p:txBody>
      </p:sp>
    </p:spTree>
    <p:extLst>
      <p:ext uri="{BB962C8B-B14F-4D97-AF65-F5344CB8AC3E}">
        <p14:creationId xmlns:p14="http://schemas.microsoft.com/office/powerpoint/2010/main" val="184957462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D5377-FF42-9AD5-C933-08BF9E338A58}"/>
              </a:ext>
            </a:extLst>
          </p:cNvPr>
          <p:cNvSpPr>
            <a:spLocks noGrp="1"/>
          </p:cNvSpPr>
          <p:nvPr>
            <p:ph type="title"/>
          </p:nvPr>
        </p:nvSpPr>
        <p:spPr>
          <a:xfrm>
            <a:off x="1143318" y="914400"/>
            <a:ext cx="4952681" cy="5105400"/>
          </a:xfrm>
        </p:spPr>
        <p:txBody>
          <a:bodyPr anchor="ctr">
            <a:normAutofit/>
          </a:bodyPr>
          <a:lstStyle/>
          <a:p>
            <a:r>
              <a:rPr lang="en-GB" b="1" i="0" dirty="0">
                <a:effectLst/>
                <a:latin typeface="Söhne"/>
              </a:rPr>
              <a:t>Double Exponential Smoothing (Holt's Linear Exponential Smoothing):</a:t>
            </a:r>
            <a:endParaRPr lang="en-IE" dirty="0"/>
          </a:p>
        </p:txBody>
      </p:sp>
      <p:sp>
        <p:nvSpPr>
          <p:cNvPr id="3" name="Content Placeholder 2">
            <a:extLst>
              <a:ext uri="{FF2B5EF4-FFF2-40B4-BE49-F238E27FC236}">
                <a16:creationId xmlns:a16="http://schemas.microsoft.com/office/drawing/2014/main" id="{DFE76113-FA25-F494-1504-8F1A33CB9D45}"/>
              </a:ext>
            </a:extLst>
          </p:cNvPr>
          <p:cNvSpPr>
            <a:spLocks noGrp="1"/>
          </p:cNvSpPr>
          <p:nvPr>
            <p:ph idx="1"/>
          </p:nvPr>
        </p:nvSpPr>
        <p:spPr>
          <a:xfrm>
            <a:off x="6324601" y="914400"/>
            <a:ext cx="4800600" cy="5105400"/>
          </a:xfrm>
        </p:spPr>
        <p:txBody>
          <a:bodyPr anchor="ctr">
            <a:normAutofit/>
          </a:bodyPr>
          <a:lstStyle/>
          <a:p>
            <a:r>
              <a:rPr lang="en-GB" sz="1800" b="1" i="0">
                <a:effectLst/>
                <a:latin typeface="Söhne"/>
              </a:rPr>
              <a:t>Double Exponential Smoothing (Holt's Linear Exponential Smoothing):</a:t>
            </a:r>
            <a:endParaRPr lang="en-GB" sz="1800" b="0" i="0">
              <a:effectLst/>
              <a:latin typeface="Söhne"/>
            </a:endParaRPr>
          </a:p>
          <a:p>
            <a:r>
              <a:rPr lang="en-GB" sz="1800" b="0" i="0">
                <a:effectLst/>
                <a:latin typeface="Söhne"/>
              </a:rPr>
              <a:t>In Holt's Linear Exponential Smoothing, you calculate two components: the level and the trend. The formulas for level (L) and trend (T) are as follows:</a:t>
            </a:r>
          </a:p>
          <a:p>
            <a:pPr>
              <a:buFont typeface="Arial" panose="020B0604020202020204" pitchFamily="34" charset="0"/>
              <a:buChar char="•"/>
            </a:pPr>
            <a:r>
              <a:rPr lang="en-GB" sz="1800" b="1" i="0">
                <a:effectLst/>
                <a:latin typeface="Söhne"/>
              </a:rPr>
              <a:t>Level at time (t)</a:t>
            </a:r>
            <a:r>
              <a:rPr lang="en-GB" sz="1800" b="0" i="0">
                <a:effectLst/>
                <a:latin typeface="Söhne"/>
              </a:rPr>
              <a:t> (L(t)): L(t) = α * Y(t) + (1 - α) * (L(t-1) + T(t-1)) Where Y(t) is the actual observation at time t, α is the smoothing parameter (0 &lt; α &lt; 1), L(t-1) is the level at the previous time period, and T(t-1) is the trend at the previous time period.</a:t>
            </a:r>
          </a:p>
          <a:p>
            <a:pPr>
              <a:buFont typeface="Arial" panose="020B0604020202020204" pitchFamily="34" charset="0"/>
              <a:buChar char="•"/>
            </a:pPr>
            <a:r>
              <a:rPr lang="en-GB" sz="1800" b="1" i="0">
                <a:effectLst/>
                <a:latin typeface="Söhne"/>
              </a:rPr>
              <a:t>Trend at time (t)</a:t>
            </a:r>
            <a:r>
              <a:rPr lang="en-GB" sz="1800" b="0" i="0">
                <a:effectLst/>
                <a:latin typeface="Söhne"/>
              </a:rPr>
              <a:t> (T(t)): T(t) = β * (L(t) - L(t-1)) + (1 - β) * T(t-1) Where β is the smoothing parameter for the trend (0 &lt; β &lt; 1).</a:t>
            </a:r>
          </a:p>
          <a:p>
            <a:endParaRPr lang="en-IE" sz="1800"/>
          </a:p>
        </p:txBody>
      </p:sp>
    </p:spTree>
    <p:extLst>
      <p:ext uri="{BB962C8B-B14F-4D97-AF65-F5344CB8AC3E}">
        <p14:creationId xmlns:p14="http://schemas.microsoft.com/office/powerpoint/2010/main" val="362200739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680D53-93D1-92F4-B236-AD8931536D5D}"/>
              </a:ext>
            </a:extLst>
          </p:cNvPr>
          <p:cNvSpPr>
            <a:spLocks noGrp="1"/>
          </p:cNvSpPr>
          <p:nvPr>
            <p:ph type="title"/>
          </p:nvPr>
        </p:nvSpPr>
        <p:spPr>
          <a:xfrm>
            <a:off x="1143318" y="914400"/>
            <a:ext cx="4952681" cy="5105400"/>
          </a:xfrm>
        </p:spPr>
        <p:txBody>
          <a:bodyPr anchor="ctr">
            <a:normAutofit/>
          </a:bodyPr>
          <a:lstStyle/>
          <a:p>
            <a:r>
              <a:rPr lang="en-IE" b="1" i="0">
                <a:effectLst/>
                <a:latin typeface="Söhne"/>
              </a:rPr>
              <a:t>Exponential Smoothing (SES):</a:t>
            </a:r>
            <a:br>
              <a:rPr lang="en-IE" b="0" i="0">
                <a:effectLst/>
                <a:latin typeface="Söhne"/>
              </a:rPr>
            </a:br>
            <a:endParaRPr lang="en-IE" dirty="0"/>
          </a:p>
        </p:txBody>
      </p:sp>
      <p:sp>
        <p:nvSpPr>
          <p:cNvPr id="3" name="Content Placeholder 2">
            <a:extLst>
              <a:ext uri="{FF2B5EF4-FFF2-40B4-BE49-F238E27FC236}">
                <a16:creationId xmlns:a16="http://schemas.microsoft.com/office/drawing/2014/main" id="{60E7E4AA-8B4F-810F-31C1-6FD3BAFD81D3}"/>
              </a:ext>
            </a:extLst>
          </p:cNvPr>
          <p:cNvSpPr>
            <a:spLocks noGrp="1"/>
          </p:cNvSpPr>
          <p:nvPr>
            <p:ph idx="1"/>
          </p:nvPr>
        </p:nvSpPr>
        <p:spPr>
          <a:xfrm>
            <a:off x="6324601" y="914400"/>
            <a:ext cx="4800600" cy="5105400"/>
          </a:xfrm>
        </p:spPr>
        <p:txBody>
          <a:bodyPr anchor="ctr">
            <a:normAutofit/>
          </a:bodyPr>
          <a:lstStyle/>
          <a:p>
            <a:r>
              <a:rPr lang="en-GB" sz="1800" b="0" i="0">
                <a:effectLst/>
                <a:latin typeface="Söhne"/>
              </a:rPr>
              <a:t>Exponential smoothing methods provide a valuable tool for forecasting time series data and capturing underlying trends. SES is appropriate when dealing with data that lacks trend and seasonality, while Double Exponential Smoothing, or Holt's Linear Exponential Smoothing, is used when there's a trend but no seasonality in the data. These methods can help in making short-term predictions and are widely applied in various fields, including finance and inventory management.</a:t>
            </a:r>
            <a:endParaRPr lang="en-IE" sz="1800"/>
          </a:p>
        </p:txBody>
      </p:sp>
    </p:spTree>
    <p:extLst>
      <p:ext uri="{BB962C8B-B14F-4D97-AF65-F5344CB8AC3E}">
        <p14:creationId xmlns:p14="http://schemas.microsoft.com/office/powerpoint/2010/main" val="173418460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D6EB60-6065-0FC6-ACAC-D290615C3889}"/>
              </a:ext>
            </a:extLst>
          </p:cNvPr>
          <p:cNvSpPr>
            <a:spLocks noGrp="1"/>
          </p:cNvSpPr>
          <p:nvPr>
            <p:ph type="title"/>
          </p:nvPr>
        </p:nvSpPr>
        <p:spPr>
          <a:xfrm>
            <a:off x="1143318" y="914400"/>
            <a:ext cx="4952681" cy="5105400"/>
          </a:xfrm>
        </p:spPr>
        <p:txBody>
          <a:bodyPr anchor="ctr">
            <a:normAutofit/>
          </a:bodyPr>
          <a:lstStyle/>
          <a:p>
            <a:r>
              <a:rPr lang="en-IE" b="1" i="0" dirty="0">
                <a:effectLst/>
                <a:latin typeface="Söhne"/>
              </a:rPr>
              <a:t>ARIMA Models:</a:t>
            </a:r>
            <a:endParaRPr lang="en-IE" dirty="0"/>
          </a:p>
        </p:txBody>
      </p:sp>
      <p:sp>
        <p:nvSpPr>
          <p:cNvPr id="3" name="Content Placeholder 2">
            <a:extLst>
              <a:ext uri="{FF2B5EF4-FFF2-40B4-BE49-F238E27FC236}">
                <a16:creationId xmlns:a16="http://schemas.microsoft.com/office/drawing/2014/main" id="{66F12E46-8E32-A5EB-F2E7-913C31CD48AB}"/>
              </a:ext>
            </a:extLst>
          </p:cNvPr>
          <p:cNvSpPr>
            <a:spLocks noGrp="1"/>
          </p:cNvSpPr>
          <p:nvPr>
            <p:ph idx="1"/>
          </p:nvPr>
        </p:nvSpPr>
        <p:spPr>
          <a:xfrm>
            <a:off x="6324601" y="914400"/>
            <a:ext cx="4800600" cy="5105400"/>
          </a:xfrm>
        </p:spPr>
        <p:txBody>
          <a:bodyPr anchor="ctr">
            <a:normAutofit/>
          </a:bodyPr>
          <a:lstStyle/>
          <a:p>
            <a:r>
              <a:rPr lang="en-GB" sz="1800" b="1" i="0">
                <a:effectLst/>
                <a:latin typeface="Söhne"/>
              </a:rPr>
              <a:t>ARIMA Models:</a:t>
            </a:r>
            <a:endParaRPr lang="en-GB" sz="1800" b="0" i="0">
              <a:effectLst/>
              <a:latin typeface="Söhne"/>
            </a:endParaRPr>
          </a:p>
          <a:p>
            <a:r>
              <a:rPr lang="en-GB" sz="1800" b="0" i="0">
                <a:effectLst/>
                <a:latin typeface="Söhne"/>
              </a:rPr>
              <a:t>ARIMA, which stands for AutoRegressive Integrated Moving Average, is a class of statistical models for analysing and forecasting time series data. These models are widely used in fields such as finance, economics, and meteorology.</a:t>
            </a:r>
          </a:p>
          <a:p>
            <a:r>
              <a:rPr lang="en-GB" sz="1800" b="0" i="0">
                <a:effectLst/>
                <a:latin typeface="Söhne"/>
              </a:rPr>
              <a:t>ARIMA models consist of three main components:</a:t>
            </a:r>
          </a:p>
          <a:p>
            <a:pPr marL="0" indent="0">
              <a:buNone/>
            </a:pPr>
            <a:endParaRPr lang="en-IE" sz="1800"/>
          </a:p>
        </p:txBody>
      </p:sp>
    </p:spTree>
    <p:extLst>
      <p:ext uri="{BB962C8B-B14F-4D97-AF65-F5344CB8AC3E}">
        <p14:creationId xmlns:p14="http://schemas.microsoft.com/office/powerpoint/2010/main" val="70316591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0DDCE2-5487-56AA-9B48-3FD06AF1917A}"/>
              </a:ext>
            </a:extLst>
          </p:cNvPr>
          <p:cNvSpPr>
            <a:spLocks noGrp="1"/>
          </p:cNvSpPr>
          <p:nvPr>
            <p:ph type="title"/>
          </p:nvPr>
        </p:nvSpPr>
        <p:spPr>
          <a:xfrm>
            <a:off x="1143318" y="914400"/>
            <a:ext cx="4952681" cy="5105400"/>
          </a:xfrm>
        </p:spPr>
        <p:txBody>
          <a:bodyPr anchor="ctr">
            <a:normAutofit/>
          </a:bodyPr>
          <a:lstStyle/>
          <a:p>
            <a:r>
              <a:rPr lang="en-IE" b="1" i="0" dirty="0">
                <a:effectLst/>
                <a:latin typeface="Söhne"/>
              </a:rPr>
              <a:t>ARIMA Models:</a:t>
            </a:r>
            <a:endParaRPr lang="en-IE" dirty="0"/>
          </a:p>
        </p:txBody>
      </p:sp>
      <p:sp>
        <p:nvSpPr>
          <p:cNvPr id="3" name="Content Placeholder 2">
            <a:extLst>
              <a:ext uri="{FF2B5EF4-FFF2-40B4-BE49-F238E27FC236}">
                <a16:creationId xmlns:a16="http://schemas.microsoft.com/office/drawing/2014/main" id="{1572AA08-B988-4F29-537C-B0331F34DA8E}"/>
              </a:ext>
            </a:extLst>
          </p:cNvPr>
          <p:cNvSpPr>
            <a:spLocks noGrp="1"/>
          </p:cNvSpPr>
          <p:nvPr>
            <p:ph idx="1"/>
          </p:nvPr>
        </p:nvSpPr>
        <p:spPr>
          <a:xfrm>
            <a:off x="6324601" y="914400"/>
            <a:ext cx="4800600" cy="5105400"/>
          </a:xfrm>
        </p:spPr>
        <p:txBody>
          <a:bodyPr anchor="ctr">
            <a:normAutofit/>
          </a:bodyPr>
          <a:lstStyle/>
          <a:p>
            <a:pPr>
              <a:lnSpc>
                <a:spcPct val="100000"/>
              </a:lnSpc>
              <a:buFont typeface="+mj-lt"/>
              <a:buAutoNum type="arabicPeriod"/>
            </a:pPr>
            <a:r>
              <a:rPr lang="en-GB" sz="1500" b="1" i="0">
                <a:effectLst/>
                <a:latin typeface="Söhne"/>
              </a:rPr>
              <a:t>AutoRegressive (AR) Component:</a:t>
            </a:r>
            <a:r>
              <a:rPr lang="en-GB" sz="1500" b="0" i="0">
                <a:effectLst/>
                <a:latin typeface="Söhne"/>
              </a:rPr>
              <a:t> This component involves the use of past values from the time series itself to predict future values. It's based on the idea that the value at any given time can be predicted by a linear combination of previous values, which are called autoregressive terms. The order of this component is denoted by the parameter "p."</a:t>
            </a:r>
          </a:p>
          <a:p>
            <a:pPr>
              <a:lnSpc>
                <a:spcPct val="100000"/>
              </a:lnSpc>
              <a:buFont typeface="+mj-lt"/>
              <a:buAutoNum type="arabicPeriod"/>
            </a:pPr>
            <a:r>
              <a:rPr lang="en-GB" sz="1500" b="1" i="0">
                <a:effectLst/>
                <a:latin typeface="Söhne"/>
              </a:rPr>
              <a:t>Integrated (I) Component:</a:t>
            </a:r>
            <a:r>
              <a:rPr lang="en-GB" sz="1500" b="0" i="0">
                <a:effectLst/>
                <a:latin typeface="Söhne"/>
              </a:rPr>
              <a:t> The "integrated" part refers to differencing the time series data to make it stationary. Stationarity means that the statistical properties of the data (such as mean and variance) don't change over time. Differencing involves subtracting the current value from the previous one. The order of differencing is denoted by the parameter "d."</a:t>
            </a:r>
          </a:p>
          <a:p>
            <a:pPr>
              <a:lnSpc>
                <a:spcPct val="100000"/>
              </a:lnSpc>
              <a:buFont typeface="+mj-lt"/>
              <a:buAutoNum type="arabicPeriod"/>
            </a:pPr>
            <a:r>
              <a:rPr lang="en-GB" sz="1500" b="1" i="0">
                <a:effectLst/>
                <a:latin typeface="Söhne"/>
              </a:rPr>
              <a:t>Moving Average (MA) Component:</a:t>
            </a:r>
            <a:r>
              <a:rPr lang="en-GB" sz="1500" b="0" i="0">
                <a:effectLst/>
                <a:latin typeface="Söhne"/>
              </a:rPr>
              <a:t> The moving average component considers past forecast errors. It calculates the forecast as a weighted sum of past forecast errors, which are called moving average terms. The order of this component is denoted by the parameter "q."</a:t>
            </a:r>
          </a:p>
          <a:p>
            <a:pPr>
              <a:lnSpc>
                <a:spcPct val="100000"/>
              </a:lnSpc>
            </a:pPr>
            <a:endParaRPr lang="en-IE" sz="1500"/>
          </a:p>
        </p:txBody>
      </p:sp>
    </p:spTree>
    <p:extLst>
      <p:ext uri="{BB962C8B-B14F-4D97-AF65-F5344CB8AC3E}">
        <p14:creationId xmlns:p14="http://schemas.microsoft.com/office/powerpoint/2010/main" val="321853793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69AFF0-3DD5-4121-A6AA-B4012FD1CD40}"/>
              </a:ext>
            </a:extLst>
          </p:cNvPr>
          <p:cNvSpPr>
            <a:spLocks noGrp="1"/>
          </p:cNvSpPr>
          <p:nvPr>
            <p:ph type="title"/>
          </p:nvPr>
        </p:nvSpPr>
        <p:spPr>
          <a:xfrm>
            <a:off x="1143318" y="914400"/>
            <a:ext cx="4952681" cy="5105400"/>
          </a:xfrm>
        </p:spPr>
        <p:txBody>
          <a:bodyPr anchor="ctr">
            <a:normAutofit/>
          </a:bodyPr>
          <a:lstStyle/>
          <a:p>
            <a:r>
              <a:rPr lang="en-IE" b="1" i="0" dirty="0">
                <a:effectLst/>
                <a:latin typeface="Söhne"/>
              </a:rPr>
              <a:t>ARIMA</a:t>
            </a:r>
            <a:endParaRPr lang="en-IE" dirty="0"/>
          </a:p>
        </p:txBody>
      </p:sp>
      <p:sp>
        <p:nvSpPr>
          <p:cNvPr id="3" name="Content Placeholder 2">
            <a:extLst>
              <a:ext uri="{FF2B5EF4-FFF2-40B4-BE49-F238E27FC236}">
                <a16:creationId xmlns:a16="http://schemas.microsoft.com/office/drawing/2014/main" id="{ECC2C21A-9FD6-3139-8E29-84DC52D9BA2A}"/>
              </a:ext>
            </a:extLst>
          </p:cNvPr>
          <p:cNvSpPr>
            <a:spLocks noGrp="1"/>
          </p:cNvSpPr>
          <p:nvPr>
            <p:ph idx="1"/>
          </p:nvPr>
        </p:nvSpPr>
        <p:spPr>
          <a:xfrm>
            <a:off x="6324601" y="914400"/>
            <a:ext cx="4800600" cy="5105400"/>
          </a:xfrm>
        </p:spPr>
        <p:txBody>
          <a:bodyPr anchor="ctr">
            <a:normAutofit/>
          </a:bodyPr>
          <a:lstStyle/>
          <a:p>
            <a:r>
              <a:rPr lang="en-GB" sz="1800" b="1" i="0">
                <a:effectLst/>
                <a:latin typeface="Söhne"/>
              </a:rPr>
              <a:t>ARIMA (p, d, q) Model:</a:t>
            </a:r>
            <a:endParaRPr lang="en-GB" sz="1800" b="0" i="0">
              <a:effectLst/>
              <a:latin typeface="Söhne"/>
            </a:endParaRPr>
          </a:p>
          <a:p>
            <a:r>
              <a:rPr lang="en-GB" sz="1800" b="0" i="0">
                <a:effectLst/>
                <a:latin typeface="Söhne"/>
              </a:rPr>
              <a:t>An ARIMA model is typically denoted as ARIMA(p, d, q), where:</a:t>
            </a:r>
          </a:p>
          <a:p>
            <a:pPr>
              <a:buFont typeface="Arial" panose="020B0604020202020204" pitchFamily="34" charset="0"/>
              <a:buChar char="•"/>
            </a:pPr>
            <a:r>
              <a:rPr lang="en-GB" sz="1800" b="0" i="0">
                <a:effectLst/>
                <a:latin typeface="Söhne"/>
              </a:rPr>
              <a:t>"p" represents the number of autoregressive terms.</a:t>
            </a:r>
          </a:p>
          <a:p>
            <a:pPr>
              <a:buFont typeface="Arial" panose="020B0604020202020204" pitchFamily="34" charset="0"/>
              <a:buChar char="•"/>
            </a:pPr>
            <a:r>
              <a:rPr lang="en-GB" sz="1800" b="0" i="0">
                <a:effectLst/>
                <a:latin typeface="Söhne"/>
              </a:rPr>
              <a:t>"d" represents the order of differencing.</a:t>
            </a:r>
          </a:p>
          <a:p>
            <a:pPr>
              <a:buFont typeface="Arial" panose="020B0604020202020204" pitchFamily="34" charset="0"/>
              <a:buChar char="•"/>
            </a:pPr>
            <a:r>
              <a:rPr lang="en-GB" sz="1800" b="0" i="0">
                <a:effectLst/>
                <a:latin typeface="Söhne"/>
              </a:rPr>
              <a:t>"q" represents the number of moving average terms.</a:t>
            </a:r>
          </a:p>
          <a:p>
            <a:endParaRPr lang="en-IE" sz="1800"/>
          </a:p>
        </p:txBody>
      </p:sp>
    </p:spTree>
    <p:extLst>
      <p:ext uri="{BB962C8B-B14F-4D97-AF65-F5344CB8AC3E}">
        <p14:creationId xmlns:p14="http://schemas.microsoft.com/office/powerpoint/2010/main" val="203318066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1FBA25-5AC8-8ADB-0B20-A50271E39372}"/>
              </a:ext>
            </a:extLst>
          </p:cNvPr>
          <p:cNvSpPr>
            <a:spLocks noGrp="1"/>
          </p:cNvSpPr>
          <p:nvPr>
            <p:ph type="title"/>
          </p:nvPr>
        </p:nvSpPr>
        <p:spPr>
          <a:xfrm>
            <a:off x="1143318" y="914400"/>
            <a:ext cx="4952681" cy="5105400"/>
          </a:xfrm>
        </p:spPr>
        <p:txBody>
          <a:bodyPr anchor="ctr">
            <a:normAutofit/>
          </a:bodyPr>
          <a:lstStyle/>
          <a:p>
            <a:r>
              <a:rPr lang="en-GB" b="1" i="0" dirty="0">
                <a:effectLst/>
                <a:latin typeface="Söhne"/>
              </a:rPr>
              <a:t>Key Steps in Building ARIMA Models:</a:t>
            </a:r>
            <a:endParaRPr lang="en-IE" dirty="0"/>
          </a:p>
        </p:txBody>
      </p:sp>
      <p:sp>
        <p:nvSpPr>
          <p:cNvPr id="3" name="Content Placeholder 2">
            <a:extLst>
              <a:ext uri="{FF2B5EF4-FFF2-40B4-BE49-F238E27FC236}">
                <a16:creationId xmlns:a16="http://schemas.microsoft.com/office/drawing/2014/main" id="{93BEAD00-B153-A58E-BE9C-0FD5709AE2D1}"/>
              </a:ext>
            </a:extLst>
          </p:cNvPr>
          <p:cNvSpPr>
            <a:spLocks noGrp="1"/>
          </p:cNvSpPr>
          <p:nvPr>
            <p:ph idx="1"/>
          </p:nvPr>
        </p:nvSpPr>
        <p:spPr>
          <a:xfrm>
            <a:off x="6324601" y="914400"/>
            <a:ext cx="4800600" cy="5105400"/>
          </a:xfrm>
        </p:spPr>
        <p:txBody>
          <a:bodyPr anchor="ctr">
            <a:normAutofit/>
          </a:bodyPr>
          <a:lstStyle/>
          <a:p>
            <a:pPr>
              <a:buFont typeface="+mj-lt"/>
              <a:buAutoNum type="arabicPeriod"/>
            </a:pPr>
            <a:r>
              <a:rPr lang="en-GB" sz="1800" b="1" i="0">
                <a:effectLst/>
                <a:latin typeface="Söhne"/>
              </a:rPr>
              <a:t>Differencing:</a:t>
            </a:r>
            <a:r>
              <a:rPr lang="en-GB" sz="1800" b="0" i="0">
                <a:effectLst/>
                <a:latin typeface="Söhne"/>
              </a:rPr>
              <a:t> Begin by differencing the time series data to make it stationary. If the data is already stationary, "d" can be set to zero.</a:t>
            </a:r>
          </a:p>
          <a:p>
            <a:pPr>
              <a:buFont typeface="+mj-lt"/>
              <a:buAutoNum type="arabicPeriod"/>
            </a:pPr>
            <a:r>
              <a:rPr lang="en-GB" sz="1800" b="1" i="0">
                <a:effectLst/>
                <a:latin typeface="Söhne"/>
              </a:rPr>
              <a:t>Order Determination:</a:t>
            </a:r>
            <a:r>
              <a:rPr lang="en-GB" sz="1800" b="0" i="0">
                <a:effectLst/>
                <a:latin typeface="Söhne"/>
              </a:rPr>
              <a:t> Determine the orders "p" and "q" through statistical techniques such as ACF (AutoCorrelation Function) and PACF (Partial AutoCorrelation Function) plots. These plots help identify the appropriate lag values for autoregressive and moving average terms.</a:t>
            </a:r>
          </a:p>
          <a:p>
            <a:endParaRPr lang="en-IE" sz="1800"/>
          </a:p>
        </p:txBody>
      </p:sp>
    </p:spTree>
    <p:extLst>
      <p:ext uri="{BB962C8B-B14F-4D97-AF65-F5344CB8AC3E}">
        <p14:creationId xmlns:p14="http://schemas.microsoft.com/office/powerpoint/2010/main" val="40577789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C251A1-8AD5-D6FB-856B-820EE6D0D843}"/>
              </a:ext>
            </a:extLst>
          </p:cNvPr>
          <p:cNvSpPr>
            <a:spLocks noGrp="1"/>
          </p:cNvSpPr>
          <p:nvPr>
            <p:ph type="title"/>
          </p:nvPr>
        </p:nvSpPr>
        <p:spPr>
          <a:xfrm>
            <a:off x="1143318" y="914400"/>
            <a:ext cx="4952681" cy="5105400"/>
          </a:xfrm>
        </p:spPr>
        <p:txBody>
          <a:bodyPr anchor="ctr">
            <a:normAutofit/>
          </a:bodyPr>
          <a:lstStyle/>
          <a:p>
            <a:r>
              <a:rPr lang="en-GB" b="1" i="0" dirty="0">
                <a:effectLst/>
                <a:latin typeface="Söhne"/>
              </a:rPr>
              <a:t>ARIMA Models:</a:t>
            </a:r>
            <a:endParaRPr lang="en-IE" dirty="0"/>
          </a:p>
        </p:txBody>
      </p:sp>
      <p:sp>
        <p:nvSpPr>
          <p:cNvPr id="3" name="Content Placeholder 2">
            <a:extLst>
              <a:ext uri="{FF2B5EF4-FFF2-40B4-BE49-F238E27FC236}">
                <a16:creationId xmlns:a16="http://schemas.microsoft.com/office/drawing/2014/main" id="{669E6D9D-7747-CDD5-6E37-60A6A0388DC4}"/>
              </a:ext>
            </a:extLst>
          </p:cNvPr>
          <p:cNvSpPr>
            <a:spLocks noGrp="1"/>
          </p:cNvSpPr>
          <p:nvPr>
            <p:ph idx="1"/>
          </p:nvPr>
        </p:nvSpPr>
        <p:spPr>
          <a:xfrm>
            <a:off x="6324601" y="914400"/>
            <a:ext cx="4800600" cy="5105400"/>
          </a:xfrm>
        </p:spPr>
        <p:txBody>
          <a:bodyPr anchor="ctr">
            <a:normAutofit/>
          </a:bodyPr>
          <a:lstStyle/>
          <a:p>
            <a:pPr>
              <a:buFont typeface="+mj-lt"/>
              <a:buAutoNum type="arabicPeriod"/>
            </a:pPr>
            <a:r>
              <a:rPr lang="en-GB" sz="1800" b="1" i="0">
                <a:effectLst/>
                <a:latin typeface="Söhne"/>
              </a:rPr>
              <a:t>Differencing:</a:t>
            </a:r>
            <a:r>
              <a:rPr lang="en-GB" sz="1800" b="0" i="0">
                <a:effectLst/>
                <a:latin typeface="Söhne"/>
              </a:rPr>
              <a:t> Begin by differencing the time series data to make it stationary. If the data is already stationary, "d" can be set to zero.</a:t>
            </a:r>
          </a:p>
          <a:p>
            <a:pPr>
              <a:buFont typeface="+mj-lt"/>
              <a:buAutoNum type="arabicPeriod"/>
            </a:pPr>
            <a:r>
              <a:rPr lang="en-GB" sz="1800" b="1" i="0">
                <a:effectLst/>
                <a:latin typeface="Söhne"/>
              </a:rPr>
              <a:t>Order Determination:</a:t>
            </a:r>
            <a:r>
              <a:rPr lang="en-GB" sz="1800" b="0" i="0">
                <a:effectLst/>
                <a:latin typeface="Söhne"/>
              </a:rPr>
              <a:t> Determine the orders "p" and "q" through statistical techniques such as ACF (AutoCorrelation Function) and PACF (Partial AutoCorrelation Function) plots. These plots help identify the appropriate lag values for autoregressive and moving average terms.</a:t>
            </a:r>
          </a:p>
          <a:p>
            <a:endParaRPr lang="en-IE" sz="1800"/>
          </a:p>
        </p:txBody>
      </p:sp>
    </p:spTree>
    <p:extLst>
      <p:ext uri="{BB962C8B-B14F-4D97-AF65-F5344CB8AC3E}">
        <p14:creationId xmlns:p14="http://schemas.microsoft.com/office/powerpoint/2010/main" val="272343562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BC6EA8-66E6-9FF2-0D91-5F530DD67DC0}"/>
              </a:ext>
            </a:extLst>
          </p:cNvPr>
          <p:cNvSpPr>
            <a:spLocks noGrp="1"/>
          </p:cNvSpPr>
          <p:nvPr>
            <p:ph type="title"/>
          </p:nvPr>
        </p:nvSpPr>
        <p:spPr>
          <a:xfrm>
            <a:off x="1143318" y="914400"/>
            <a:ext cx="4952681" cy="5105400"/>
          </a:xfrm>
        </p:spPr>
        <p:txBody>
          <a:bodyPr anchor="ctr">
            <a:normAutofit/>
          </a:bodyPr>
          <a:lstStyle/>
          <a:p>
            <a:r>
              <a:rPr lang="en-GB" b="1" i="0" dirty="0">
                <a:effectLst/>
                <a:latin typeface="Söhne"/>
              </a:rPr>
              <a:t>ARIMA Models:</a:t>
            </a:r>
            <a:endParaRPr lang="en-IE" dirty="0"/>
          </a:p>
        </p:txBody>
      </p:sp>
      <p:sp>
        <p:nvSpPr>
          <p:cNvPr id="3" name="Content Placeholder 2">
            <a:extLst>
              <a:ext uri="{FF2B5EF4-FFF2-40B4-BE49-F238E27FC236}">
                <a16:creationId xmlns:a16="http://schemas.microsoft.com/office/drawing/2014/main" id="{7D351969-E90D-27B4-62ED-37C091E546D6}"/>
              </a:ext>
            </a:extLst>
          </p:cNvPr>
          <p:cNvSpPr>
            <a:spLocks noGrp="1"/>
          </p:cNvSpPr>
          <p:nvPr>
            <p:ph idx="1"/>
          </p:nvPr>
        </p:nvSpPr>
        <p:spPr>
          <a:xfrm>
            <a:off x="6324601" y="914400"/>
            <a:ext cx="4800600" cy="5105400"/>
          </a:xfrm>
        </p:spPr>
        <p:txBody>
          <a:bodyPr anchor="ctr">
            <a:normAutofit/>
          </a:bodyPr>
          <a:lstStyle/>
          <a:p>
            <a:pPr>
              <a:buFont typeface="+mj-lt"/>
              <a:buAutoNum type="arabicPeriod"/>
            </a:pPr>
            <a:r>
              <a:rPr lang="en-GB" sz="1800" b="1" i="0">
                <a:effectLst/>
                <a:latin typeface="Söhne"/>
              </a:rPr>
              <a:t>Model Estimation:</a:t>
            </a:r>
            <a:r>
              <a:rPr lang="en-GB" sz="1800" b="0" i="0">
                <a:effectLst/>
                <a:latin typeface="Söhne"/>
              </a:rPr>
              <a:t> Once you have determined the order (p, d, q), you can estimate the coefficients of the ARIMA model using data from the time series.</a:t>
            </a:r>
          </a:p>
          <a:p>
            <a:pPr>
              <a:buFont typeface="+mj-lt"/>
              <a:buAutoNum type="arabicPeriod"/>
            </a:pPr>
            <a:r>
              <a:rPr lang="en-GB" sz="1800" b="1" i="0">
                <a:effectLst/>
                <a:latin typeface="Söhne"/>
              </a:rPr>
              <a:t>Model Evaluation:</a:t>
            </a:r>
            <a:r>
              <a:rPr lang="en-GB" sz="1800" b="0" i="0">
                <a:effectLst/>
                <a:latin typeface="Söhne"/>
              </a:rPr>
              <a:t> Evaluate the model's performance using measures like Mean Absolute Error (MAE), Mean Squared Error (MSE), and Root Mean Squared Error (RMSE). You can also use AIC (Akaike Information Criterion) or BIC (Bayesian Information Criterion) for model selection.</a:t>
            </a:r>
          </a:p>
          <a:p>
            <a:endParaRPr lang="en-IE" sz="1800"/>
          </a:p>
        </p:txBody>
      </p:sp>
    </p:spTree>
    <p:extLst>
      <p:ext uri="{BB962C8B-B14F-4D97-AF65-F5344CB8AC3E}">
        <p14:creationId xmlns:p14="http://schemas.microsoft.com/office/powerpoint/2010/main" val="134250695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4BFA92-0AAC-6FC7-3EF6-183E4901DE39}"/>
              </a:ext>
            </a:extLst>
          </p:cNvPr>
          <p:cNvSpPr>
            <a:spLocks noGrp="1"/>
          </p:cNvSpPr>
          <p:nvPr>
            <p:ph type="title"/>
          </p:nvPr>
        </p:nvSpPr>
        <p:spPr>
          <a:xfrm>
            <a:off x="1143318" y="914400"/>
            <a:ext cx="4952681" cy="5105400"/>
          </a:xfrm>
        </p:spPr>
        <p:txBody>
          <a:bodyPr anchor="ctr">
            <a:normAutofit/>
          </a:bodyPr>
          <a:lstStyle/>
          <a:p>
            <a:r>
              <a:rPr lang="en-GB" b="1" i="0" dirty="0">
                <a:effectLst/>
                <a:latin typeface="Söhne"/>
              </a:rPr>
              <a:t>ARIMA Models:</a:t>
            </a:r>
            <a:endParaRPr lang="en-IE" dirty="0"/>
          </a:p>
        </p:txBody>
      </p:sp>
      <p:sp>
        <p:nvSpPr>
          <p:cNvPr id="3" name="Content Placeholder 2">
            <a:extLst>
              <a:ext uri="{FF2B5EF4-FFF2-40B4-BE49-F238E27FC236}">
                <a16:creationId xmlns:a16="http://schemas.microsoft.com/office/drawing/2014/main" id="{C273B71C-1B7D-106D-BC61-31BF989E7DC6}"/>
              </a:ext>
            </a:extLst>
          </p:cNvPr>
          <p:cNvSpPr>
            <a:spLocks noGrp="1"/>
          </p:cNvSpPr>
          <p:nvPr>
            <p:ph idx="1"/>
          </p:nvPr>
        </p:nvSpPr>
        <p:spPr>
          <a:xfrm>
            <a:off x="6324601" y="914400"/>
            <a:ext cx="4800600" cy="5105400"/>
          </a:xfrm>
        </p:spPr>
        <p:txBody>
          <a:bodyPr anchor="ctr">
            <a:normAutofit/>
          </a:bodyPr>
          <a:lstStyle/>
          <a:p>
            <a:r>
              <a:rPr lang="en-GB" sz="1800" b="0" i="0">
                <a:effectLst/>
                <a:latin typeface="Söhne"/>
              </a:rPr>
              <a:t>ARIMA models are versatile and widely used for time series forecasting. By adjusting the values of "p," "d," and "q," you can capture various time series patterns, including seasonality and trends. </a:t>
            </a:r>
          </a:p>
          <a:p>
            <a:r>
              <a:rPr lang="en-GB" sz="1800" b="0" i="0">
                <a:effectLst/>
                <a:latin typeface="Söhne"/>
              </a:rPr>
              <a:t>These models are valuable tools for making both short-term and long-term predictions in various domains, such as finance for stock price forecasting or economics for GDP predictions.</a:t>
            </a:r>
            <a:endParaRPr lang="en-IE" sz="1800"/>
          </a:p>
        </p:txBody>
      </p:sp>
    </p:spTree>
    <p:extLst>
      <p:ext uri="{BB962C8B-B14F-4D97-AF65-F5344CB8AC3E}">
        <p14:creationId xmlns:p14="http://schemas.microsoft.com/office/powerpoint/2010/main" val="198235221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A0A5E0-F311-7675-7B17-C48215507EB7}"/>
              </a:ext>
            </a:extLst>
          </p:cNvPr>
          <p:cNvSpPr>
            <a:spLocks noGrp="1"/>
          </p:cNvSpPr>
          <p:nvPr>
            <p:ph type="title"/>
          </p:nvPr>
        </p:nvSpPr>
        <p:spPr>
          <a:xfrm>
            <a:off x="1143318" y="914400"/>
            <a:ext cx="4952681" cy="5105400"/>
          </a:xfrm>
        </p:spPr>
        <p:txBody>
          <a:bodyPr anchor="ctr">
            <a:normAutofit/>
          </a:bodyPr>
          <a:lstStyle/>
          <a:p>
            <a:r>
              <a:rPr lang="en-IE" b="1" i="0" dirty="0">
                <a:effectLst/>
                <a:latin typeface="Söhne"/>
              </a:rPr>
              <a:t>Evaluation of Forecasting Models</a:t>
            </a:r>
            <a:endParaRPr lang="en-IE" dirty="0"/>
          </a:p>
        </p:txBody>
      </p:sp>
      <p:sp>
        <p:nvSpPr>
          <p:cNvPr id="3" name="Content Placeholder 2">
            <a:extLst>
              <a:ext uri="{FF2B5EF4-FFF2-40B4-BE49-F238E27FC236}">
                <a16:creationId xmlns:a16="http://schemas.microsoft.com/office/drawing/2014/main" id="{71094605-8354-811C-CF76-81212CA54FCE}"/>
              </a:ext>
            </a:extLst>
          </p:cNvPr>
          <p:cNvSpPr>
            <a:spLocks noGrp="1"/>
          </p:cNvSpPr>
          <p:nvPr>
            <p:ph idx="1"/>
          </p:nvPr>
        </p:nvSpPr>
        <p:spPr>
          <a:xfrm>
            <a:off x="6324601" y="914400"/>
            <a:ext cx="4800600" cy="5105400"/>
          </a:xfrm>
        </p:spPr>
        <p:txBody>
          <a:bodyPr anchor="ctr">
            <a:normAutofit/>
          </a:bodyPr>
          <a:lstStyle/>
          <a:p>
            <a:r>
              <a:rPr lang="en-GB" sz="1800" b="1" i="0">
                <a:effectLst/>
                <a:latin typeface="Söhne"/>
              </a:rPr>
              <a:t>Forecasting Accuracy Metrics:</a:t>
            </a:r>
            <a:endParaRPr lang="en-GB" sz="1800" b="0" i="0">
              <a:effectLst/>
              <a:latin typeface="Söhne"/>
            </a:endParaRPr>
          </a:p>
          <a:p>
            <a:r>
              <a:rPr lang="en-GB" sz="1800" b="0" i="0">
                <a:effectLst/>
                <a:latin typeface="Söhne"/>
              </a:rPr>
              <a:t>Forecasting accuracy metrics are essential for evaluating the performance of time series forecasting models. They help you assess how well your model's predictions align with the actual values. Here are some common forecasting accuracy metrics:</a:t>
            </a:r>
          </a:p>
          <a:p>
            <a:endParaRPr lang="en-IE" sz="1800"/>
          </a:p>
        </p:txBody>
      </p:sp>
    </p:spTree>
    <p:extLst>
      <p:ext uri="{BB962C8B-B14F-4D97-AF65-F5344CB8AC3E}">
        <p14:creationId xmlns:p14="http://schemas.microsoft.com/office/powerpoint/2010/main" val="377156221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4" name="Rectangle 13">
            <a:extLst>
              <a:ext uri="{FF2B5EF4-FFF2-40B4-BE49-F238E27FC236}">
                <a16:creationId xmlns:a16="http://schemas.microsoft.com/office/drawing/2014/main" id="{A56932E6-5BA9-4C85-82EA-A307011BB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62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E5196B39-DFEE-10D1-E4AC-6BE99AD9AC77}"/>
              </a:ext>
            </a:extLst>
          </p:cNvPr>
          <p:cNvSpPr>
            <a:spLocks noGrp="1"/>
          </p:cNvSpPr>
          <p:nvPr>
            <p:ph type="title"/>
          </p:nvPr>
        </p:nvSpPr>
        <p:spPr>
          <a:xfrm>
            <a:off x="1198182" y="381000"/>
            <a:ext cx="10003218" cy="1600124"/>
          </a:xfrm>
        </p:spPr>
        <p:txBody>
          <a:bodyPr>
            <a:normAutofit/>
          </a:bodyPr>
          <a:lstStyle/>
          <a:p>
            <a:r>
              <a:rPr lang="en-IE" b="1" i="0">
                <a:solidFill>
                  <a:srgbClr val="FFFFFF"/>
                </a:solidFill>
                <a:effectLst/>
                <a:latin typeface="Söhne"/>
              </a:rPr>
              <a:t>Forecasting Accuracy Metrics:</a:t>
            </a:r>
            <a:endParaRPr lang="en-IE">
              <a:solidFill>
                <a:srgbClr val="FFFFFF"/>
              </a:solidFill>
            </a:endParaRPr>
          </a:p>
        </p:txBody>
      </p:sp>
      <p:sp>
        <p:nvSpPr>
          <p:cNvPr id="3" name="Content Placeholder 2">
            <a:extLst>
              <a:ext uri="{FF2B5EF4-FFF2-40B4-BE49-F238E27FC236}">
                <a16:creationId xmlns:a16="http://schemas.microsoft.com/office/drawing/2014/main" id="{398F9574-6D97-0B91-B7E5-C3A4243ADF6A}"/>
              </a:ext>
            </a:extLst>
          </p:cNvPr>
          <p:cNvSpPr>
            <a:spLocks noGrp="1"/>
          </p:cNvSpPr>
          <p:nvPr>
            <p:ph idx="1"/>
          </p:nvPr>
        </p:nvSpPr>
        <p:spPr>
          <a:xfrm>
            <a:off x="1175355" y="2514600"/>
            <a:ext cx="9841290" cy="3662363"/>
          </a:xfrm>
        </p:spPr>
        <p:txBody>
          <a:bodyPr/>
          <a:lstStyle/>
          <a:p>
            <a:pPr marL="198882" indent="-198882" defTabSz="795528">
              <a:spcBef>
                <a:spcPts val="870"/>
              </a:spcBef>
            </a:pPr>
            <a:r>
              <a:rPr lang="en-GB" sz="2436" b="1" kern="1200">
                <a:solidFill>
                  <a:schemeClr val="tx1"/>
                </a:solidFill>
                <a:latin typeface="Söhne"/>
                <a:ea typeface="+mn-ea"/>
                <a:cs typeface="+mn-cs"/>
              </a:rPr>
              <a:t>Mean Absolute Error (MAE):</a:t>
            </a:r>
            <a:r>
              <a:rPr lang="en-GB" sz="2436" kern="1200">
                <a:solidFill>
                  <a:srgbClr val="374151"/>
                </a:solidFill>
                <a:latin typeface="Söhne"/>
                <a:ea typeface="+mn-ea"/>
                <a:cs typeface="+mn-cs"/>
              </a:rPr>
              <a:t> MAE measures the average absolute difference between the predicted values and the actual values. It gives equal weight to all errors, making it straightforward to understand and compute. </a:t>
            </a:r>
            <a:endParaRPr lang="en-IE"/>
          </a:p>
        </p:txBody>
      </p:sp>
      <p:pic>
        <p:nvPicPr>
          <p:cNvPr id="5" name="Picture 4">
            <a:extLst>
              <a:ext uri="{FF2B5EF4-FFF2-40B4-BE49-F238E27FC236}">
                <a16:creationId xmlns:a16="http://schemas.microsoft.com/office/drawing/2014/main" id="{786FE28D-BD4B-67FC-C4D8-41FD4DEA36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4533" y="4332478"/>
            <a:ext cx="8996178" cy="985637"/>
          </a:xfrm>
          <a:prstGeom prst="rect">
            <a:avLst/>
          </a:prstGeom>
        </p:spPr>
      </p:pic>
    </p:spTree>
    <p:extLst>
      <p:ext uri="{BB962C8B-B14F-4D97-AF65-F5344CB8AC3E}">
        <p14:creationId xmlns:p14="http://schemas.microsoft.com/office/powerpoint/2010/main" val="91255061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4" name="Rectangle 13">
            <a:extLst>
              <a:ext uri="{FF2B5EF4-FFF2-40B4-BE49-F238E27FC236}">
                <a16:creationId xmlns:a16="http://schemas.microsoft.com/office/drawing/2014/main" id="{A56932E6-5BA9-4C85-82EA-A307011BB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62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06C3ED77-1BC5-9048-3280-20DDB2967386}"/>
              </a:ext>
            </a:extLst>
          </p:cNvPr>
          <p:cNvSpPr>
            <a:spLocks noGrp="1"/>
          </p:cNvSpPr>
          <p:nvPr>
            <p:ph type="title"/>
          </p:nvPr>
        </p:nvSpPr>
        <p:spPr>
          <a:xfrm>
            <a:off x="1198182" y="381000"/>
            <a:ext cx="10003218" cy="1600124"/>
          </a:xfrm>
        </p:spPr>
        <p:txBody>
          <a:bodyPr>
            <a:normAutofit/>
          </a:bodyPr>
          <a:lstStyle/>
          <a:p>
            <a:r>
              <a:rPr lang="en-IE" b="1" i="0">
                <a:solidFill>
                  <a:srgbClr val="FFFFFF"/>
                </a:solidFill>
                <a:effectLst/>
                <a:latin typeface="Söhne"/>
              </a:rPr>
              <a:t>Forecasting Accuracy Metrics:</a:t>
            </a:r>
            <a:endParaRPr lang="en-IE">
              <a:solidFill>
                <a:srgbClr val="FFFFFF"/>
              </a:solidFill>
            </a:endParaRPr>
          </a:p>
        </p:txBody>
      </p:sp>
      <p:sp>
        <p:nvSpPr>
          <p:cNvPr id="3" name="Content Placeholder 2">
            <a:extLst>
              <a:ext uri="{FF2B5EF4-FFF2-40B4-BE49-F238E27FC236}">
                <a16:creationId xmlns:a16="http://schemas.microsoft.com/office/drawing/2014/main" id="{2F9E4C5C-D8AD-F0E5-67A7-4C857A535CBD}"/>
              </a:ext>
            </a:extLst>
          </p:cNvPr>
          <p:cNvSpPr>
            <a:spLocks noGrp="1"/>
          </p:cNvSpPr>
          <p:nvPr>
            <p:ph idx="1"/>
          </p:nvPr>
        </p:nvSpPr>
        <p:spPr>
          <a:xfrm>
            <a:off x="1175355" y="2514600"/>
            <a:ext cx="9841290" cy="3662363"/>
          </a:xfrm>
        </p:spPr>
        <p:txBody>
          <a:bodyPr/>
          <a:lstStyle/>
          <a:p>
            <a:pPr marL="198882" indent="-198882" defTabSz="795528">
              <a:spcBef>
                <a:spcPts val="870"/>
              </a:spcBef>
            </a:pPr>
            <a:r>
              <a:rPr lang="en-GB" sz="2436" b="1" kern="1200">
                <a:solidFill>
                  <a:schemeClr val="tx1"/>
                </a:solidFill>
                <a:latin typeface="Söhne"/>
                <a:ea typeface="+mn-ea"/>
                <a:cs typeface="+mn-cs"/>
              </a:rPr>
              <a:t>Mean Squared Error (MSE):</a:t>
            </a:r>
            <a:r>
              <a:rPr lang="en-GB" sz="2436" kern="1200">
                <a:solidFill>
                  <a:srgbClr val="374151"/>
                </a:solidFill>
                <a:latin typeface="Söhne"/>
                <a:ea typeface="+mn-ea"/>
                <a:cs typeface="+mn-cs"/>
              </a:rPr>
              <a:t> MSE calculates the average of the squared differences between the predicted and actual values. Squaring the errors penalizes larger errors more than smaller ones.</a:t>
            </a:r>
          </a:p>
          <a:p>
            <a:endParaRPr lang="en-IE" dirty="0"/>
          </a:p>
        </p:txBody>
      </p:sp>
      <p:pic>
        <p:nvPicPr>
          <p:cNvPr id="5" name="Picture 4">
            <a:extLst>
              <a:ext uri="{FF2B5EF4-FFF2-40B4-BE49-F238E27FC236}">
                <a16:creationId xmlns:a16="http://schemas.microsoft.com/office/drawing/2014/main" id="{5578C73E-D746-466C-C5CA-85B89A6D335E}"/>
              </a:ext>
            </a:extLst>
          </p:cNvPr>
          <p:cNvPicPr>
            <a:picLocks noChangeAspect="1"/>
          </p:cNvPicPr>
          <p:nvPr/>
        </p:nvPicPr>
        <p:blipFill>
          <a:blip r:embed="rId2"/>
          <a:stretch>
            <a:fillRect/>
          </a:stretch>
        </p:blipFill>
        <p:spPr>
          <a:xfrm>
            <a:off x="1489523" y="4141385"/>
            <a:ext cx="9270864" cy="963890"/>
          </a:xfrm>
          <a:prstGeom prst="rect">
            <a:avLst/>
          </a:prstGeom>
        </p:spPr>
      </p:pic>
    </p:spTree>
    <p:extLst>
      <p:ext uri="{BB962C8B-B14F-4D97-AF65-F5344CB8AC3E}">
        <p14:creationId xmlns:p14="http://schemas.microsoft.com/office/powerpoint/2010/main" val="405710650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4" name="Rectangle 13">
            <a:extLst>
              <a:ext uri="{FF2B5EF4-FFF2-40B4-BE49-F238E27FC236}">
                <a16:creationId xmlns:a16="http://schemas.microsoft.com/office/drawing/2014/main" id="{A56932E6-5BA9-4C85-82EA-A307011BB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62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17B91761-B607-CF8D-7333-491A29033E2F}"/>
              </a:ext>
            </a:extLst>
          </p:cNvPr>
          <p:cNvSpPr>
            <a:spLocks noGrp="1"/>
          </p:cNvSpPr>
          <p:nvPr>
            <p:ph type="title"/>
          </p:nvPr>
        </p:nvSpPr>
        <p:spPr>
          <a:xfrm>
            <a:off x="1198182" y="381000"/>
            <a:ext cx="10003218" cy="1600124"/>
          </a:xfrm>
        </p:spPr>
        <p:txBody>
          <a:bodyPr>
            <a:normAutofit/>
          </a:bodyPr>
          <a:lstStyle/>
          <a:p>
            <a:r>
              <a:rPr lang="en-IE" b="1" i="0">
                <a:solidFill>
                  <a:srgbClr val="FFFFFF"/>
                </a:solidFill>
                <a:effectLst/>
                <a:latin typeface="Söhne"/>
              </a:rPr>
              <a:t>Forecasting Accuracy Metrics:</a:t>
            </a:r>
            <a:endParaRPr lang="en-IE">
              <a:solidFill>
                <a:srgbClr val="FFFFFF"/>
              </a:solidFill>
            </a:endParaRPr>
          </a:p>
        </p:txBody>
      </p:sp>
      <p:sp>
        <p:nvSpPr>
          <p:cNvPr id="3" name="Content Placeholder 2">
            <a:extLst>
              <a:ext uri="{FF2B5EF4-FFF2-40B4-BE49-F238E27FC236}">
                <a16:creationId xmlns:a16="http://schemas.microsoft.com/office/drawing/2014/main" id="{F1A317EE-0A34-0B8D-9886-D4BECC810BB2}"/>
              </a:ext>
            </a:extLst>
          </p:cNvPr>
          <p:cNvSpPr>
            <a:spLocks noGrp="1"/>
          </p:cNvSpPr>
          <p:nvPr>
            <p:ph idx="1"/>
          </p:nvPr>
        </p:nvSpPr>
        <p:spPr>
          <a:xfrm>
            <a:off x="1175355" y="2514600"/>
            <a:ext cx="9841290" cy="3662363"/>
          </a:xfrm>
        </p:spPr>
        <p:txBody>
          <a:bodyPr/>
          <a:lstStyle/>
          <a:p>
            <a:pPr marL="198882" indent="-198882" defTabSz="795528">
              <a:spcBef>
                <a:spcPts val="870"/>
              </a:spcBef>
            </a:pPr>
            <a:r>
              <a:rPr lang="en-GB" sz="2436" b="1" kern="1200">
                <a:solidFill>
                  <a:schemeClr val="tx1"/>
                </a:solidFill>
                <a:latin typeface="+mn-lt"/>
                <a:ea typeface="+mn-ea"/>
                <a:cs typeface="+mn-cs"/>
              </a:rPr>
              <a:t>Root Mean Squared Error (RMSE):</a:t>
            </a:r>
            <a:r>
              <a:rPr lang="en-GB" sz="2436" kern="1200">
                <a:solidFill>
                  <a:schemeClr val="tx1"/>
                </a:solidFill>
                <a:latin typeface="+mn-lt"/>
                <a:ea typeface="+mn-ea"/>
                <a:cs typeface="+mn-cs"/>
              </a:rPr>
              <a:t> RMSE is the square root of the MSE. It provides an error measure in the same units as the original data, making it more interpretable.</a:t>
            </a:r>
          </a:p>
          <a:p>
            <a:pPr marL="0" indent="0" defTabSz="795528">
              <a:spcBef>
                <a:spcPts val="870"/>
              </a:spcBef>
              <a:buNone/>
            </a:pPr>
            <a:br>
              <a:rPr lang="en-GB" sz="2436" kern="1200">
                <a:solidFill>
                  <a:srgbClr val="374151"/>
                </a:solidFill>
                <a:latin typeface="KaTeX_Main"/>
                <a:ea typeface="+mn-ea"/>
                <a:cs typeface="+mn-cs"/>
              </a:rPr>
            </a:br>
            <a:endParaRPr lang="en-IE"/>
          </a:p>
        </p:txBody>
      </p:sp>
      <p:pic>
        <p:nvPicPr>
          <p:cNvPr id="5" name="Picture 4">
            <a:extLst>
              <a:ext uri="{FF2B5EF4-FFF2-40B4-BE49-F238E27FC236}">
                <a16:creationId xmlns:a16="http://schemas.microsoft.com/office/drawing/2014/main" id="{DDB30C83-B4B0-2BA0-13CA-2958682CC096}"/>
              </a:ext>
            </a:extLst>
          </p:cNvPr>
          <p:cNvPicPr>
            <a:picLocks noChangeAspect="1"/>
          </p:cNvPicPr>
          <p:nvPr/>
        </p:nvPicPr>
        <p:blipFill>
          <a:blip r:embed="rId2"/>
          <a:stretch>
            <a:fillRect/>
          </a:stretch>
        </p:blipFill>
        <p:spPr>
          <a:xfrm>
            <a:off x="2651773" y="4108129"/>
            <a:ext cx="5944038" cy="1157046"/>
          </a:xfrm>
          <a:prstGeom prst="rect">
            <a:avLst/>
          </a:prstGeom>
        </p:spPr>
      </p:pic>
    </p:spTree>
    <p:extLst>
      <p:ext uri="{BB962C8B-B14F-4D97-AF65-F5344CB8AC3E}">
        <p14:creationId xmlns:p14="http://schemas.microsoft.com/office/powerpoint/2010/main" val="368913815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2" name="Rectangle 11">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4" name="Rectangle 13">
            <a:extLst>
              <a:ext uri="{FF2B5EF4-FFF2-40B4-BE49-F238E27FC236}">
                <a16:creationId xmlns:a16="http://schemas.microsoft.com/office/drawing/2014/main" id="{A56932E6-5BA9-4C85-82EA-A307011BB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62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38DBAACF-1C43-1D44-0981-804E29ACFB82}"/>
              </a:ext>
            </a:extLst>
          </p:cNvPr>
          <p:cNvSpPr>
            <a:spLocks noGrp="1"/>
          </p:cNvSpPr>
          <p:nvPr>
            <p:ph type="title"/>
          </p:nvPr>
        </p:nvSpPr>
        <p:spPr>
          <a:xfrm>
            <a:off x="1198182" y="381000"/>
            <a:ext cx="10003218" cy="1600124"/>
          </a:xfrm>
        </p:spPr>
        <p:txBody>
          <a:bodyPr>
            <a:normAutofit/>
          </a:bodyPr>
          <a:lstStyle/>
          <a:p>
            <a:r>
              <a:rPr lang="en-IE" b="1" i="0">
                <a:solidFill>
                  <a:srgbClr val="FFFFFF"/>
                </a:solidFill>
                <a:effectLst/>
                <a:latin typeface="Söhne"/>
              </a:rPr>
              <a:t>Forecasting Accuracy Metrics:</a:t>
            </a:r>
            <a:endParaRPr lang="en-IE">
              <a:solidFill>
                <a:srgbClr val="FFFFFF"/>
              </a:solidFill>
            </a:endParaRPr>
          </a:p>
        </p:txBody>
      </p:sp>
      <p:sp>
        <p:nvSpPr>
          <p:cNvPr id="3" name="Content Placeholder 2">
            <a:extLst>
              <a:ext uri="{FF2B5EF4-FFF2-40B4-BE49-F238E27FC236}">
                <a16:creationId xmlns:a16="http://schemas.microsoft.com/office/drawing/2014/main" id="{7208745C-8D4D-7989-5F81-5D7D7A02D3AF}"/>
              </a:ext>
            </a:extLst>
          </p:cNvPr>
          <p:cNvSpPr>
            <a:spLocks noGrp="1"/>
          </p:cNvSpPr>
          <p:nvPr>
            <p:ph idx="1"/>
          </p:nvPr>
        </p:nvSpPr>
        <p:spPr>
          <a:xfrm>
            <a:off x="1175355" y="2514600"/>
            <a:ext cx="9841290" cy="3662363"/>
          </a:xfrm>
        </p:spPr>
        <p:txBody>
          <a:bodyPr/>
          <a:lstStyle/>
          <a:p>
            <a:pPr marL="198882" indent="-198882" defTabSz="795528">
              <a:spcBef>
                <a:spcPts val="870"/>
              </a:spcBef>
            </a:pPr>
            <a:r>
              <a:rPr lang="en-GB" sz="2436" b="1" kern="1200">
                <a:solidFill>
                  <a:schemeClr val="tx1"/>
                </a:solidFill>
                <a:latin typeface="Söhne"/>
                <a:ea typeface="+mn-ea"/>
                <a:cs typeface="+mn-cs"/>
              </a:rPr>
              <a:t>Mean Absolute Percentage Error (MAPE):</a:t>
            </a:r>
            <a:r>
              <a:rPr lang="en-GB" sz="2436" kern="1200">
                <a:solidFill>
                  <a:srgbClr val="374151"/>
                </a:solidFill>
                <a:latin typeface="Söhne"/>
                <a:ea typeface="+mn-ea"/>
                <a:cs typeface="+mn-cs"/>
              </a:rPr>
              <a:t> MAPE expresses the error as a percentage of the actual values. It's useful when you want to understand the magnitude of the errors relative to the actual data.</a:t>
            </a:r>
          </a:p>
          <a:p>
            <a:endParaRPr lang="en-IE" dirty="0"/>
          </a:p>
        </p:txBody>
      </p:sp>
      <p:pic>
        <p:nvPicPr>
          <p:cNvPr id="5" name="Picture 4">
            <a:extLst>
              <a:ext uri="{FF2B5EF4-FFF2-40B4-BE49-F238E27FC236}">
                <a16:creationId xmlns:a16="http://schemas.microsoft.com/office/drawing/2014/main" id="{6CF23871-6177-2309-883E-309990F0783A}"/>
              </a:ext>
            </a:extLst>
          </p:cNvPr>
          <p:cNvPicPr>
            <a:picLocks noChangeAspect="1"/>
          </p:cNvPicPr>
          <p:nvPr/>
        </p:nvPicPr>
        <p:blipFill>
          <a:blip r:embed="rId2"/>
          <a:stretch>
            <a:fillRect/>
          </a:stretch>
        </p:blipFill>
        <p:spPr>
          <a:xfrm>
            <a:off x="2574655" y="4545448"/>
            <a:ext cx="6286692" cy="772667"/>
          </a:xfrm>
          <a:prstGeom prst="rect">
            <a:avLst/>
          </a:prstGeom>
        </p:spPr>
      </p:pic>
    </p:spTree>
    <p:extLst>
      <p:ext uri="{BB962C8B-B14F-4D97-AF65-F5344CB8AC3E}">
        <p14:creationId xmlns:p14="http://schemas.microsoft.com/office/powerpoint/2010/main" val="221645893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069AC0-662F-BC39-1271-4F438D164137}"/>
              </a:ext>
            </a:extLst>
          </p:cNvPr>
          <p:cNvSpPr>
            <a:spLocks noGrp="1"/>
          </p:cNvSpPr>
          <p:nvPr>
            <p:ph type="title"/>
          </p:nvPr>
        </p:nvSpPr>
        <p:spPr>
          <a:xfrm>
            <a:off x="1143318" y="914400"/>
            <a:ext cx="4952681" cy="5105400"/>
          </a:xfrm>
        </p:spPr>
        <p:txBody>
          <a:bodyPr anchor="ctr">
            <a:normAutofit/>
          </a:bodyPr>
          <a:lstStyle/>
          <a:p>
            <a:r>
              <a:rPr lang="en-IE" b="1" i="0" dirty="0">
                <a:effectLst/>
                <a:latin typeface="Söhne"/>
              </a:rPr>
              <a:t>Forecasting Accuracy Metrics:</a:t>
            </a:r>
            <a:endParaRPr lang="en-IE" dirty="0"/>
          </a:p>
        </p:txBody>
      </p:sp>
      <p:sp>
        <p:nvSpPr>
          <p:cNvPr id="3" name="Content Placeholder 2">
            <a:extLst>
              <a:ext uri="{FF2B5EF4-FFF2-40B4-BE49-F238E27FC236}">
                <a16:creationId xmlns:a16="http://schemas.microsoft.com/office/drawing/2014/main" id="{87E7317E-D06E-2CC7-BA8A-7603E65F32D4}"/>
              </a:ext>
            </a:extLst>
          </p:cNvPr>
          <p:cNvSpPr>
            <a:spLocks noGrp="1"/>
          </p:cNvSpPr>
          <p:nvPr>
            <p:ph idx="1"/>
          </p:nvPr>
        </p:nvSpPr>
        <p:spPr>
          <a:xfrm>
            <a:off x="6324601" y="914400"/>
            <a:ext cx="4800600" cy="5105400"/>
          </a:xfrm>
        </p:spPr>
        <p:txBody>
          <a:bodyPr anchor="ctr">
            <a:normAutofit/>
          </a:bodyPr>
          <a:lstStyle/>
          <a:p>
            <a:r>
              <a:rPr lang="en-GB" sz="1800" b="0" i="0">
                <a:effectLst/>
                <a:latin typeface="Söhne"/>
              </a:rPr>
              <a:t>These metrics help you compare different forecasting models and choose the one that provides the most accurate predictions. However, it's important to use multiple metrics to get a comprehensive view of a model's performance.</a:t>
            </a:r>
            <a:endParaRPr lang="en-IE" sz="1800"/>
          </a:p>
        </p:txBody>
      </p:sp>
    </p:spTree>
    <p:extLst>
      <p:ext uri="{BB962C8B-B14F-4D97-AF65-F5344CB8AC3E}">
        <p14:creationId xmlns:p14="http://schemas.microsoft.com/office/powerpoint/2010/main" val="389979315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9E3BE5-86BC-F31A-E6E7-8DD1DBA5C3F1}"/>
              </a:ext>
            </a:extLst>
          </p:cNvPr>
          <p:cNvSpPr>
            <a:spLocks noGrp="1"/>
          </p:cNvSpPr>
          <p:nvPr>
            <p:ph type="title"/>
          </p:nvPr>
        </p:nvSpPr>
        <p:spPr>
          <a:xfrm>
            <a:off x="1143318" y="914400"/>
            <a:ext cx="4952681" cy="5105400"/>
          </a:xfrm>
        </p:spPr>
        <p:txBody>
          <a:bodyPr anchor="ctr">
            <a:normAutofit/>
          </a:bodyPr>
          <a:lstStyle/>
          <a:p>
            <a:r>
              <a:rPr lang="en-IE" b="1" i="0" dirty="0">
                <a:effectLst/>
                <a:latin typeface="Söhne"/>
              </a:rPr>
              <a:t>Model Selection:</a:t>
            </a:r>
            <a:endParaRPr lang="en-IE" dirty="0"/>
          </a:p>
        </p:txBody>
      </p:sp>
      <p:sp>
        <p:nvSpPr>
          <p:cNvPr id="3" name="Content Placeholder 2">
            <a:extLst>
              <a:ext uri="{FF2B5EF4-FFF2-40B4-BE49-F238E27FC236}">
                <a16:creationId xmlns:a16="http://schemas.microsoft.com/office/drawing/2014/main" id="{54083CE7-4B9A-4D02-7CB8-2AE440CE94DF}"/>
              </a:ext>
            </a:extLst>
          </p:cNvPr>
          <p:cNvSpPr>
            <a:spLocks noGrp="1"/>
          </p:cNvSpPr>
          <p:nvPr>
            <p:ph idx="1"/>
          </p:nvPr>
        </p:nvSpPr>
        <p:spPr>
          <a:xfrm>
            <a:off x="6324601" y="914400"/>
            <a:ext cx="4800600" cy="5105400"/>
          </a:xfrm>
        </p:spPr>
        <p:txBody>
          <a:bodyPr anchor="ctr">
            <a:normAutofit/>
          </a:bodyPr>
          <a:lstStyle/>
          <a:p>
            <a:r>
              <a:rPr lang="en-GB" sz="1800" b="0" i="0">
                <a:effectLst/>
                <a:latin typeface="Söhne"/>
              </a:rPr>
              <a:t>Selecting the appropriate forecasting method is crucial for building accurate time series models. There are various methods available, including ARIMA, exponential smoothing, and machine learning models. The choice of method depends on the characteristics of your time series data and the forecasting objectives. Here's a basic guideline for model selection:</a:t>
            </a:r>
            <a:endParaRPr lang="en-IE" sz="1800"/>
          </a:p>
        </p:txBody>
      </p:sp>
    </p:spTree>
    <p:extLst>
      <p:ext uri="{BB962C8B-B14F-4D97-AF65-F5344CB8AC3E}">
        <p14:creationId xmlns:p14="http://schemas.microsoft.com/office/powerpoint/2010/main" val="99642776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2F0A06-D5DC-4A33-8F28-171F5888EBD0}"/>
              </a:ext>
            </a:extLst>
          </p:cNvPr>
          <p:cNvSpPr>
            <a:spLocks noGrp="1"/>
          </p:cNvSpPr>
          <p:nvPr>
            <p:ph type="title"/>
          </p:nvPr>
        </p:nvSpPr>
        <p:spPr>
          <a:xfrm>
            <a:off x="1143318" y="914400"/>
            <a:ext cx="4952681" cy="5105400"/>
          </a:xfrm>
        </p:spPr>
        <p:txBody>
          <a:bodyPr anchor="ctr">
            <a:normAutofit/>
          </a:bodyPr>
          <a:lstStyle/>
          <a:p>
            <a:r>
              <a:rPr lang="en-IE" b="1" i="0" dirty="0">
                <a:effectLst/>
                <a:latin typeface="Söhne"/>
              </a:rPr>
              <a:t>Model Selection:</a:t>
            </a:r>
            <a:endParaRPr lang="en-IE" dirty="0"/>
          </a:p>
        </p:txBody>
      </p:sp>
      <p:sp>
        <p:nvSpPr>
          <p:cNvPr id="3" name="Content Placeholder 2">
            <a:extLst>
              <a:ext uri="{FF2B5EF4-FFF2-40B4-BE49-F238E27FC236}">
                <a16:creationId xmlns:a16="http://schemas.microsoft.com/office/drawing/2014/main" id="{D848476D-E4BF-3A2D-CBC0-774DC4CFCFAE}"/>
              </a:ext>
            </a:extLst>
          </p:cNvPr>
          <p:cNvSpPr>
            <a:spLocks noGrp="1"/>
          </p:cNvSpPr>
          <p:nvPr>
            <p:ph idx="1"/>
          </p:nvPr>
        </p:nvSpPr>
        <p:spPr>
          <a:xfrm>
            <a:off x="6324601" y="914400"/>
            <a:ext cx="4800600" cy="5105400"/>
          </a:xfrm>
        </p:spPr>
        <p:txBody>
          <a:bodyPr anchor="ctr">
            <a:normAutofit/>
          </a:bodyPr>
          <a:lstStyle/>
          <a:p>
            <a:pPr>
              <a:buFont typeface="+mj-lt"/>
              <a:buAutoNum type="arabicPeriod"/>
            </a:pPr>
            <a:r>
              <a:rPr lang="en-GB" sz="1800" b="1" i="0">
                <a:effectLst/>
                <a:latin typeface="Söhne"/>
              </a:rPr>
              <a:t>ARIMA Models:</a:t>
            </a:r>
            <a:r>
              <a:rPr lang="en-GB" sz="1800" b="0" i="0">
                <a:effectLst/>
                <a:latin typeface="Söhne"/>
              </a:rPr>
              <a:t> ARIMA models are suitable for stationary time series data with autocorrelation patterns. If your data exhibits a clear trend and seasonality, consider ARIMA models. Use ACF and PACF plots to help determine the model orders (p, d, q).</a:t>
            </a:r>
          </a:p>
          <a:p>
            <a:pPr>
              <a:buFont typeface="+mj-lt"/>
              <a:buAutoNum type="arabicPeriod"/>
            </a:pPr>
            <a:r>
              <a:rPr lang="en-GB" sz="1800" b="1" i="0">
                <a:effectLst/>
                <a:latin typeface="Söhne"/>
              </a:rPr>
              <a:t>Exponential Smoothing:</a:t>
            </a:r>
            <a:r>
              <a:rPr lang="en-GB" sz="1800" b="0" i="0">
                <a:effectLst/>
                <a:latin typeface="Söhne"/>
              </a:rPr>
              <a:t> Exponential smoothing methods are useful for data with exponential growth or decay patterns. There are different variants like Holt-Winters for handling seasonality. Exponential smoothing is particularly suitable for univariate time series.</a:t>
            </a:r>
          </a:p>
          <a:p>
            <a:endParaRPr lang="en-IE" sz="1800"/>
          </a:p>
        </p:txBody>
      </p:sp>
    </p:spTree>
    <p:extLst>
      <p:ext uri="{BB962C8B-B14F-4D97-AF65-F5344CB8AC3E}">
        <p14:creationId xmlns:p14="http://schemas.microsoft.com/office/powerpoint/2010/main" val="343380642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C6E52B-8433-7F10-C713-6874168C76E3}"/>
              </a:ext>
            </a:extLst>
          </p:cNvPr>
          <p:cNvSpPr>
            <a:spLocks noGrp="1"/>
          </p:cNvSpPr>
          <p:nvPr>
            <p:ph type="title"/>
          </p:nvPr>
        </p:nvSpPr>
        <p:spPr>
          <a:xfrm>
            <a:off x="1143318" y="914400"/>
            <a:ext cx="4952681" cy="5105400"/>
          </a:xfrm>
        </p:spPr>
        <p:txBody>
          <a:bodyPr anchor="ctr">
            <a:normAutofit/>
          </a:bodyPr>
          <a:lstStyle/>
          <a:p>
            <a:r>
              <a:rPr lang="en-IE" b="1" i="0" dirty="0">
                <a:effectLst/>
                <a:latin typeface="Söhne"/>
              </a:rPr>
              <a:t>Model Selection:</a:t>
            </a:r>
            <a:endParaRPr lang="en-IE" dirty="0"/>
          </a:p>
        </p:txBody>
      </p:sp>
      <p:sp>
        <p:nvSpPr>
          <p:cNvPr id="3" name="Content Placeholder 2">
            <a:extLst>
              <a:ext uri="{FF2B5EF4-FFF2-40B4-BE49-F238E27FC236}">
                <a16:creationId xmlns:a16="http://schemas.microsoft.com/office/drawing/2014/main" id="{B97BD1CD-9C2F-893C-652B-9793FF587ADD}"/>
              </a:ext>
            </a:extLst>
          </p:cNvPr>
          <p:cNvSpPr>
            <a:spLocks noGrp="1"/>
          </p:cNvSpPr>
          <p:nvPr>
            <p:ph idx="1"/>
          </p:nvPr>
        </p:nvSpPr>
        <p:spPr>
          <a:xfrm>
            <a:off x="6324601" y="914400"/>
            <a:ext cx="4800600" cy="5105400"/>
          </a:xfrm>
        </p:spPr>
        <p:txBody>
          <a:bodyPr anchor="ctr">
            <a:normAutofit/>
          </a:bodyPr>
          <a:lstStyle/>
          <a:p>
            <a:pPr>
              <a:buFont typeface="+mj-lt"/>
              <a:buAutoNum type="arabicPeriod"/>
            </a:pPr>
            <a:r>
              <a:rPr lang="en-GB" sz="1800" b="1" i="0">
                <a:effectLst/>
                <a:latin typeface="Söhne"/>
              </a:rPr>
              <a:t>Machine Learning Models:</a:t>
            </a:r>
            <a:r>
              <a:rPr lang="en-GB" sz="1800" b="0" i="0">
                <a:effectLst/>
                <a:latin typeface="Söhne"/>
              </a:rPr>
              <a:t> Machine learning models, such as regression, decision trees, or neural networks, can handle complex relationships and non-linear patterns. They are especially valuable for multivariate time series or when you have a large dataset.</a:t>
            </a:r>
          </a:p>
          <a:p>
            <a:pPr>
              <a:buFont typeface="+mj-lt"/>
              <a:buAutoNum type="arabicPeriod"/>
            </a:pPr>
            <a:r>
              <a:rPr lang="en-GB" sz="1800" b="1" i="0">
                <a:effectLst/>
                <a:latin typeface="Söhne"/>
              </a:rPr>
              <a:t>Hybrid Approaches:</a:t>
            </a:r>
            <a:r>
              <a:rPr lang="en-GB" sz="1800" b="0" i="0">
                <a:effectLst/>
                <a:latin typeface="Söhne"/>
              </a:rPr>
              <a:t> Sometimes, a combination of methods works best. For example, you can use ARIMA for detrending and machine learning models to capture residuals.</a:t>
            </a:r>
          </a:p>
          <a:p>
            <a:endParaRPr lang="en-IE" sz="1800"/>
          </a:p>
        </p:txBody>
      </p:sp>
    </p:spTree>
    <p:extLst>
      <p:ext uri="{BB962C8B-B14F-4D97-AF65-F5344CB8AC3E}">
        <p14:creationId xmlns:p14="http://schemas.microsoft.com/office/powerpoint/2010/main" val="387609336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981B73-D485-4FA5-C9AA-0ADC7E2C77D7}"/>
              </a:ext>
            </a:extLst>
          </p:cNvPr>
          <p:cNvSpPr>
            <a:spLocks noGrp="1"/>
          </p:cNvSpPr>
          <p:nvPr>
            <p:ph type="title"/>
          </p:nvPr>
        </p:nvSpPr>
        <p:spPr>
          <a:xfrm>
            <a:off x="1143318" y="914400"/>
            <a:ext cx="4952681" cy="5105400"/>
          </a:xfrm>
        </p:spPr>
        <p:txBody>
          <a:bodyPr anchor="ctr">
            <a:normAutofit/>
          </a:bodyPr>
          <a:lstStyle/>
          <a:p>
            <a:r>
              <a:rPr lang="en-GB" b="0" i="0">
                <a:effectLst/>
                <a:latin typeface="Söhne"/>
              </a:rPr>
              <a:t>Cross-Validation: The importance of validating models with holdout datasets</a:t>
            </a:r>
            <a:endParaRPr lang="en-IE" dirty="0"/>
          </a:p>
        </p:txBody>
      </p:sp>
      <p:sp>
        <p:nvSpPr>
          <p:cNvPr id="3" name="Content Placeholder 2">
            <a:extLst>
              <a:ext uri="{FF2B5EF4-FFF2-40B4-BE49-F238E27FC236}">
                <a16:creationId xmlns:a16="http://schemas.microsoft.com/office/drawing/2014/main" id="{A02F930E-4E81-A35A-EAED-91170FA86583}"/>
              </a:ext>
            </a:extLst>
          </p:cNvPr>
          <p:cNvSpPr>
            <a:spLocks noGrp="1"/>
          </p:cNvSpPr>
          <p:nvPr>
            <p:ph idx="1"/>
          </p:nvPr>
        </p:nvSpPr>
        <p:spPr>
          <a:xfrm>
            <a:off x="6324601" y="914400"/>
            <a:ext cx="4800600" cy="5105400"/>
          </a:xfrm>
        </p:spPr>
        <p:txBody>
          <a:bodyPr anchor="ctr">
            <a:normAutofit/>
          </a:bodyPr>
          <a:lstStyle/>
          <a:p>
            <a:r>
              <a:rPr lang="en-GB" sz="1800" b="0" i="0">
                <a:effectLst/>
                <a:latin typeface="Söhne"/>
              </a:rPr>
              <a:t>Cross-validation is an essential technique in data analytics, especially when building predictive models, to assess how well a model is expected to perform on unseen data. It helps estimate the model's performance, detect issues like overfitting, and choose the best model for the task. Here's an explanation of the importance of cross-validation and how it works:</a:t>
            </a:r>
            <a:endParaRPr lang="en-IE" sz="1800"/>
          </a:p>
        </p:txBody>
      </p:sp>
    </p:spTree>
    <p:extLst>
      <p:ext uri="{BB962C8B-B14F-4D97-AF65-F5344CB8AC3E}">
        <p14:creationId xmlns:p14="http://schemas.microsoft.com/office/powerpoint/2010/main" val="194588618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FB2ADC-9CC4-02B5-7608-8F78E90DA17D}"/>
              </a:ext>
            </a:extLst>
          </p:cNvPr>
          <p:cNvSpPr>
            <a:spLocks noGrp="1"/>
          </p:cNvSpPr>
          <p:nvPr>
            <p:ph type="title"/>
          </p:nvPr>
        </p:nvSpPr>
        <p:spPr>
          <a:xfrm>
            <a:off x="1143318" y="914400"/>
            <a:ext cx="4952681" cy="5105400"/>
          </a:xfrm>
        </p:spPr>
        <p:txBody>
          <a:bodyPr anchor="ctr">
            <a:normAutofit/>
          </a:bodyPr>
          <a:lstStyle/>
          <a:p>
            <a:r>
              <a:rPr lang="en-IE" b="1" i="0" dirty="0">
                <a:effectLst/>
                <a:latin typeface="Söhne"/>
              </a:rPr>
              <a:t>The Importance of Cross-Validation:</a:t>
            </a:r>
            <a:endParaRPr lang="en-IE" dirty="0"/>
          </a:p>
        </p:txBody>
      </p:sp>
      <p:sp>
        <p:nvSpPr>
          <p:cNvPr id="3" name="Content Placeholder 2">
            <a:extLst>
              <a:ext uri="{FF2B5EF4-FFF2-40B4-BE49-F238E27FC236}">
                <a16:creationId xmlns:a16="http://schemas.microsoft.com/office/drawing/2014/main" id="{428B4CC1-FC09-C4B9-8684-51E45F4F9A61}"/>
              </a:ext>
            </a:extLst>
          </p:cNvPr>
          <p:cNvSpPr>
            <a:spLocks noGrp="1"/>
          </p:cNvSpPr>
          <p:nvPr>
            <p:ph idx="1"/>
          </p:nvPr>
        </p:nvSpPr>
        <p:spPr>
          <a:xfrm>
            <a:off x="6324601" y="914400"/>
            <a:ext cx="4800600" cy="5105400"/>
          </a:xfrm>
        </p:spPr>
        <p:txBody>
          <a:bodyPr anchor="ctr">
            <a:normAutofit/>
          </a:bodyPr>
          <a:lstStyle/>
          <a:p>
            <a:pPr>
              <a:buFont typeface="+mj-lt"/>
              <a:buAutoNum type="arabicPeriod"/>
            </a:pPr>
            <a:r>
              <a:rPr lang="en-GB" sz="1800" b="1" i="0">
                <a:effectLst/>
                <a:latin typeface="Söhne"/>
              </a:rPr>
              <a:t>Estimating Model Performance:</a:t>
            </a:r>
            <a:r>
              <a:rPr lang="en-GB" sz="1800" b="0" i="0">
                <a:effectLst/>
                <a:latin typeface="Söhne"/>
              </a:rPr>
              <a:t> Cross-validation provides a more realistic estimate of a model's performance compared to using a single fixed dataset for training and testing. With cross-validation, the model is tested on multiple subsets of data, giving you a better understanding of how it generalizes to different data points.</a:t>
            </a:r>
          </a:p>
          <a:p>
            <a:pPr>
              <a:buFont typeface="+mj-lt"/>
              <a:buAutoNum type="arabicPeriod"/>
            </a:pPr>
            <a:r>
              <a:rPr lang="en-GB" sz="1800" b="1" i="0">
                <a:effectLst/>
                <a:latin typeface="Söhne"/>
              </a:rPr>
              <a:t>Detecting Overfitting:</a:t>
            </a:r>
            <a:r>
              <a:rPr lang="en-GB" sz="1800" b="0" i="0">
                <a:effectLst/>
                <a:latin typeface="Söhne"/>
              </a:rPr>
              <a:t> Overfitting occurs when a model learns to fit the training data too closely, capturing noise rather than the underlying patterns. Cross-validation helps identify overfitting by revealing if the model's performance drops significantly on unseen data (validation or test sets).</a:t>
            </a:r>
          </a:p>
          <a:p>
            <a:endParaRPr lang="en-IE" sz="1800"/>
          </a:p>
        </p:txBody>
      </p:sp>
    </p:spTree>
    <p:extLst>
      <p:ext uri="{BB962C8B-B14F-4D97-AF65-F5344CB8AC3E}">
        <p14:creationId xmlns:p14="http://schemas.microsoft.com/office/powerpoint/2010/main" val="6959242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AD6313-C47A-5762-47A9-D60EBEA82361}"/>
              </a:ext>
            </a:extLst>
          </p:cNvPr>
          <p:cNvSpPr>
            <a:spLocks noGrp="1"/>
          </p:cNvSpPr>
          <p:nvPr>
            <p:ph type="title"/>
          </p:nvPr>
        </p:nvSpPr>
        <p:spPr>
          <a:xfrm>
            <a:off x="1143318" y="914400"/>
            <a:ext cx="4952681" cy="5105400"/>
          </a:xfrm>
        </p:spPr>
        <p:txBody>
          <a:bodyPr anchor="ctr">
            <a:normAutofit/>
          </a:bodyPr>
          <a:lstStyle/>
          <a:p>
            <a:r>
              <a:rPr lang="en-IE" b="1" i="0" dirty="0">
                <a:effectLst/>
                <a:latin typeface="Söhne"/>
              </a:rPr>
              <a:t>The Importance of Cross-Validation:</a:t>
            </a:r>
            <a:endParaRPr lang="en-IE" dirty="0"/>
          </a:p>
        </p:txBody>
      </p:sp>
      <p:sp>
        <p:nvSpPr>
          <p:cNvPr id="3" name="Content Placeholder 2">
            <a:extLst>
              <a:ext uri="{FF2B5EF4-FFF2-40B4-BE49-F238E27FC236}">
                <a16:creationId xmlns:a16="http://schemas.microsoft.com/office/drawing/2014/main" id="{9B6015C6-BB1A-001B-B01D-C9EDAAB3517C}"/>
              </a:ext>
            </a:extLst>
          </p:cNvPr>
          <p:cNvSpPr>
            <a:spLocks noGrp="1"/>
          </p:cNvSpPr>
          <p:nvPr>
            <p:ph idx="1"/>
          </p:nvPr>
        </p:nvSpPr>
        <p:spPr>
          <a:xfrm>
            <a:off x="6324601" y="914400"/>
            <a:ext cx="4800600" cy="5105400"/>
          </a:xfrm>
        </p:spPr>
        <p:txBody>
          <a:bodyPr anchor="ctr">
            <a:normAutofit/>
          </a:bodyPr>
          <a:lstStyle/>
          <a:p>
            <a:pPr>
              <a:buFont typeface="+mj-lt"/>
              <a:buAutoNum type="arabicPeriod"/>
            </a:pPr>
            <a:r>
              <a:rPr lang="en-GB" sz="1800" b="1" i="0">
                <a:effectLst/>
                <a:latin typeface="Söhne"/>
              </a:rPr>
              <a:t>Model Selection:</a:t>
            </a:r>
            <a:r>
              <a:rPr lang="en-GB" sz="1800" b="0" i="0">
                <a:effectLst/>
                <a:latin typeface="Söhne"/>
              </a:rPr>
              <a:t> Cross-validation is invaluable when comparing different models or selecting hyperparameters. It allows you to evaluate various models on multiple validation sets, aiding in the selection of the best-performing model for your specific task.</a:t>
            </a:r>
          </a:p>
          <a:p>
            <a:pPr>
              <a:buFont typeface="+mj-lt"/>
              <a:buAutoNum type="arabicPeriod"/>
            </a:pPr>
            <a:r>
              <a:rPr lang="en-GB" sz="1800" b="1" i="0">
                <a:effectLst/>
                <a:latin typeface="Söhne"/>
              </a:rPr>
              <a:t>Robustness:</a:t>
            </a:r>
            <a:r>
              <a:rPr lang="en-GB" sz="1800" b="0" i="0">
                <a:effectLst/>
                <a:latin typeface="Söhne"/>
              </a:rPr>
              <a:t> Cross-validation provides a robust assessment of a model's performance, reducing the impact of random chance in a single train-test split. This makes your conclusions more reliable.</a:t>
            </a:r>
          </a:p>
          <a:p>
            <a:endParaRPr lang="en-IE" sz="1800"/>
          </a:p>
        </p:txBody>
      </p:sp>
    </p:spTree>
    <p:extLst>
      <p:ext uri="{BB962C8B-B14F-4D97-AF65-F5344CB8AC3E}">
        <p14:creationId xmlns:p14="http://schemas.microsoft.com/office/powerpoint/2010/main" val="313057752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4D2C91-6AB3-FA65-8FE3-2619B30605EC}"/>
              </a:ext>
            </a:extLst>
          </p:cNvPr>
          <p:cNvSpPr>
            <a:spLocks noGrp="1"/>
          </p:cNvSpPr>
          <p:nvPr>
            <p:ph type="title"/>
          </p:nvPr>
        </p:nvSpPr>
        <p:spPr>
          <a:xfrm>
            <a:off x="1143318" y="914400"/>
            <a:ext cx="4952681" cy="5105400"/>
          </a:xfrm>
        </p:spPr>
        <p:txBody>
          <a:bodyPr anchor="ctr">
            <a:normAutofit/>
          </a:bodyPr>
          <a:lstStyle/>
          <a:p>
            <a:r>
              <a:rPr lang="en-IE" b="1" i="0" dirty="0">
                <a:effectLst/>
                <a:latin typeface="Söhne"/>
              </a:rPr>
              <a:t>How Cross-Validation Works:</a:t>
            </a:r>
            <a:endParaRPr lang="en-IE" dirty="0"/>
          </a:p>
        </p:txBody>
      </p:sp>
      <p:sp>
        <p:nvSpPr>
          <p:cNvPr id="3" name="Content Placeholder 2">
            <a:extLst>
              <a:ext uri="{FF2B5EF4-FFF2-40B4-BE49-F238E27FC236}">
                <a16:creationId xmlns:a16="http://schemas.microsoft.com/office/drawing/2014/main" id="{B9A964C1-5B14-FFA6-2446-8D7B0EB7B25D}"/>
              </a:ext>
            </a:extLst>
          </p:cNvPr>
          <p:cNvSpPr>
            <a:spLocks noGrp="1"/>
          </p:cNvSpPr>
          <p:nvPr>
            <p:ph idx="1"/>
          </p:nvPr>
        </p:nvSpPr>
        <p:spPr>
          <a:xfrm>
            <a:off x="6324601" y="914400"/>
            <a:ext cx="4800600" cy="5105400"/>
          </a:xfrm>
        </p:spPr>
        <p:txBody>
          <a:bodyPr anchor="ctr">
            <a:normAutofit/>
          </a:bodyPr>
          <a:lstStyle/>
          <a:p>
            <a:r>
              <a:rPr lang="en-GB" sz="1800" b="0" i="0">
                <a:effectLst/>
                <a:latin typeface="Söhne"/>
              </a:rPr>
              <a:t>The most common form of cross-validation is k-fold cross-validation, where you partition your dataset into 'k' subsets of roughly equal size. The process typically proceeds as follows:</a:t>
            </a:r>
          </a:p>
          <a:p>
            <a:pPr>
              <a:buFont typeface="+mj-lt"/>
              <a:buAutoNum type="arabicPeriod"/>
            </a:pPr>
            <a:r>
              <a:rPr lang="en-GB" sz="1800" b="1" i="0">
                <a:effectLst/>
                <a:latin typeface="Söhne"/>
              </a:rPr>
              <a:t>Dataset Split:</a:t>
            </a:r>
            <a:r>
              <a:rPr lang="en-GB" sz="1800" b="0" i="0">
                <a:effectLst/>
                <a:latin typeface="Söhne"/>
              </a:rPr>
              <a:t> The dataset is divided into k subsets or "folds."</a:t>
            </a:r>
          </a:p>
          <a:p>
            <a:pPr>
              <a:buFont typeface="+mj-lt"/>
              <a:buAutoNum type="arabicPeriod"/>
            </a:pPr>
            <a:r>
              <a:rPr lang="en-GB" sz="1800" b="1" i="0">
                <a:effectLst/>
                <a:latin typeface="Söhne"/>
              </a:rPr>
              <a:t>Training and Testing:</a:t>
            </a:r>
            <a:r>
              <a:rPr lang="en-GB" sz="1800" b="0" i="0">
                <a:effectLst/>
                <a:latin typeface="Söhne"/>
              </a:rPr>
              <a:t> The model is trained on k-1 folds and tested on the remaining fold. This process is repeated k times, with each fold serving as the test set once.</a:t>
            </a:r>
          </a:p>
          <a:p>
            <a:endParaRPr lang="en-IE" sz="1800"/>
          </a:p>
        </p:txBody>
      </p:sp>
    </p:spTree>
    <p:extLst>
      <p:ext uri="{BB962C8B-B14F-4D97-AF65-F5344CB8AC3E}">
        <p14:creationId xmlns:p14="http://schemas.microsoft.com/office/powerpoint/2010/main" val="427779630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355F3C-DF44-904B-6AFA-8AB156A9FEC3}"/>
              </a:ext>
            </a:extLst>
          </p:cNvPr>
          <p:cNvSpPr>
            <a:spLocks noGrp="1"/>
          </p:cNvSpPr>
          <p:nvPr>
            <p:ph type="title"/>
          </p:nvPr>
        </p:nvSpPr>
        <p:spPr>
          <a:xfrm>
            <a:off x="1143318" y="914400"/>
            <a:ext cx="4952681" cy="5105400"/>
          </a:xfrm>
        </p:spPr>
        <p:txBody>
          <a:bodyPr anchor="ctr">
            <a:normAutofit/>
          </a:bodyPr>
          <a:lstStyle/>
          <a:p>
            <a:r>
              <a:rPr lang="en-IE" b="1" i="0" dirty="0">
                <a:effectLst/>
                <a:latin typeface="Söhne"/>
              </a:rPr>
              <a:t>How Cross-Validation Works:</a:t>
            </a:r>
            <a:endParaRPr lang="en-IE" dirty="0"/>
          </a:p>
        </p:txBody>
      </p:sp>
      <p:sp>
        <p:nvSpPr>
          <p:cNvPr id="3" name="Content Placeholder 2">
            <a:extLst>
              <a:ext uri="{FF2B5EF4-FFF2-40B4-BE49-F238E27FC236}">
                <a16:creationId xmlns:a16="http://schemas.microsoft.com/office/drawing/2014/main" id="{C63D1A8D-5AFD-BFAC-31AD-C5620105851E}"/>
              </a:ext>
            </a:extLst>
          </p:cNvPr>
          <p:cNvSpPr>
            <a:spLocks noGrp="1"/>
          </p:cNvSpPr>
          <p:nvPr>
            <p:ph idx="1"/>
          </p:nvPr>
        </p:nvSpPr>
        <p:spPr>
          <a:xfrm>
            <a:off x="6324601" y="914400"/>
            <a:ext cx="4800600" cy="5105400"/>
          </a:xfrm>
        </p:spPr>
        <p:txBody>
          <a:bodyPr anchor="ctr">
            <a:normAutofit/>
          </a:bodyPr>
          <a:lstStyle/>
          <a:p>
            <a:pPr>
              <a:buFont typeface="+mj-lt"/>
              <a:buAutoNum type="arabicPeriod"/>
            </a:pPr>
            <a:r>
              <a:rPr lang="en-GB" sz="1800" b="1" i="0">
                <a:effectLst/>
                <a:latin typeface="Söhne"/>
              </a:rPr>
              <a:t>Performance Evaluation:</a:t>
            </a:r>
            <a:r>
              <a:rPr lang="en-GB" sz="1800" b="0" i="0">
                <a:effectLst/>
                <a:latin typeface="Söhne"/>
              </a:rPr>
              <a:t> The model's performance on each fold (test set) is assessed using appropriate metrics (e.g., accuracy, mean squared error).</a:t>
            </a:r>
          </a:p>
          <a:p>
            <a:pPr>
              <a:buFont typeface="+mj-lt"/>
              <a:buAutoNum type="arabicPeriod"/>
            </a:pPr>
            <a:r>
              <a:rPr lang="en-GB" sz="1800" b="1" i="0">
                <a:effectLst/>
                <a:latin typeface="Söhne"/>
              </a:rPr>
              <a:t>Performance Aggregation:</a:t>
            </a:r>
            <a:r>
              <a:rPr lang="en-GB" sz="1800" b="0" i="0">
                <a:effectLst/>
                <a:latin typeface="Söhne"/>
              </a:rPr>
              <a:t> The performance scores from each fold are averaged or otherwise aggregated to provide an overall estimate of the model's performance.</a:t>
            </a:r>
          </a:p>
          <a:p>
            <a:endParaRPr lang="en-IE" sz="1800"/>
          </a:p>
        </p:txBody>
      </p:sp>
    </p:spTree>
    <p:extLst>
      <p:ext uri="{BB962C8B-B14F-4D97-AF65-F5344CB8AC3E}">
        <p14:creationId xmlns:p14="http://schemas.microsoft.com/office/powerpoint/2010/main" val="341210194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9" name="Rectangle 18">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21" name="Group 20">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22" name="Picture 21">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23" name="Picture 22">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5" name="Rectangle 24">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F643DD-542A-2BA5-8D05-90840148CCA2}"/>
              </a:ext>
            </a:extLst>
          </p:cNvPr>
          <p:cNvSpPr>
            <a:spLocks noGrp="1"/>
          </p:cNvSpPr>
          <p:nvPr>
            <p:ph type="title"/>
          </p:nvPr>
        </p:nvSpPr>
        <p:spPr>
          <a:xfrm>
            <a:off x="1143318" y="914400"/>
            <a:ext cx="4952681" cy="5105400"/>
          </a:xfrm>
        </p:spPr>
        <p:txBody>
          <a:bodyPr anchor="ctr">
            <a:normAutofit/>
          </a:bodyPr>
          <a:lstStyle/>
          <a:p>
            <a:r>
              <a:rPr lang="en-IE" b="1" i="0" dirty="0">
                <a:effectLst/>
                <a:latin typeface="Söhne"/>
              </a:rPr>
              <a:t>How Cross-Validation Works:</a:t>
            </a:r>
            <a:endParaRPr lang="en-IE" dirty="0"/>
          </a:p>
        </p:txBody>
      </p:sp>
      <p:sp>
        <p:nvSpPr>
          <p:cNvPr id="12" name="Rectangle 7">
            <a:extLst>
              <a:ext uri="{FF2B5EF4-FFF2-40B4-BE49-F238E27FC236}">
                <a16:creationId xmlns:a16="http://schemas.microsoft.com/office/drawing/2014/main" id="{0E1A7B57-24BF-6E43-2EA4-820EA3DDBF7B}"/>
              </a:ext>
            </a:extLst>
          </p:cNvPr>
          <p:cNvSpPr>
            <a:spLocks noGrp="1" noChangeArrowheads="1"/>
          </p:cNvSpPr>
          <p:nvPr>
            <p:ph idx="1"/>
          </p:nvPr>
        </p:nvSpPr>
        <p:spPr bwMode="auto">
          <a:xfrm>
            <a:off x="6324601" y="914400"/>
            <a:ext cx="4800600" cy="51054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spcBef>
                <a:spcPct val="0"/>
              </a:spcBef>
              <a:spcAft>
                <a:spcPts val="600"/>
              </a:spcAft>
              <a:buClrTx/>
              <a:buSzTx/>
              <a:buFontTx/>
              <a:buNone/>
              <a:tabLst/>
            </a:pPr>
            <a:r>
              <a:rPr kumimoji="0" lang="en-US" altLang="en-US" sz="1800" b="0" i="0" u="none" strike="noStrike" cap="none" normalizeH="0" baseline="0">
                <a:ln>
                  <a:noFill/>
                </a:ln>
                <a:effectLst/>
                <a:latin typeface="Söhne"/>
              </a:rPr>
              <a:t>Common variations of k-fold cross-validation include stratified k-fold, leave-one-out cross-validation (k equals the dataset size), and nested cross-validation (used for model selection within cross-validation loops).</a:t>
            </a:r>
          </a:p>
          <a:p>
            <a:pPr marL="0" marR="0" lvl="0" indent="0" defTabSz="914400" rtl="0" eaLnBrk="0" fontAlgn="base" latinLnBrk="0" hangingPunct="0">
              <a:spcBef>
                <a:spcPct val="0"/>
              </a:spcBef>
              <a:spcAft>
                <a:spcPts val="600"/>
              </a:spcAft>
              <a:buClrTx/>
              <a:buSzTx/>
              <a:buFontTx/>
              <a:buNone/>
              <a:tabLst/>
            </a:pPr>
            <a:r>
              <a:rPr kumimoji="0" lang="en-US" altLang="en-US" sz="1800" b="0" i="0" u="none" strike="noStrike" cap="none" normalizeH="0" baseline="0">
                <a:ln>
                  <a:noFill/>
                </a:ln>
                <a:effectLst/>
                <a:latin typeface="Söhne"/>
              </a:rPr>
              <a:t>In summary, cross-validation is an integral part of model evaluation and selection. It ensures that your model's performance estimates are more robust, accurate, and reflective of its real-world performance. This approach is particularly crucial when working with limited data or when dealing with complex models.</a:t>
            </a:r>
          </a:p>
          <a:p>
            <a:pPr marL="0" marR="0" lvl="0" indent="0" defTabSz="914400" rtl="0" eaLnBrk="0" fontAlgn="base" latinLnBrk="0" hangingPunct="0">
              <a:spcBef>
                <a:spcPct val="0"/>
              </a:spcBef>
              <a:spcAft>
                <a:spcPts val="600"/>
              </a:spcAft>
              <a:buClrTx/>
              <a:buSzTx/>
              <a:buFontTx/>
              <a:buNone/>
              <a:tabLst/>
            </a:pPr>
            <a:br>
              <a:rPr kumimoji="0" lang="en-US" altLang="en-US" sz="1800" b="0" i="0" u="none" strike="noStrike" cap="none" normalizeH="0" baseline="0">
                <a:ln>
                  <a:noFill/>
                </a:ln>
                <a:effectLst/>
                <a:latin typeface="Söhne"/>
              </a:rPr>
            </a:br>
            <a:endParaRPr kumimoji="0" lang="en-US" altLang="en-US" sz="1800" b="0" i="0" u="none" strike="noStrike" cap="none" normalizeH="0" baseline="0">
              <a:ln>
                <a:noFill/>
              </a:ln>
              <a:effectLst/>
              <a:latin typeface="Arial" panose="020B0604020202020204" pitchFamily="34" charset="0"/>
            </a:endParaRPr>
          </a:p>
        </p:txBody>
      </p:sp>
    </p:spTree>
    <p:extLst>
      <p:ext uri="{BB962C8B-B14F-4D97-AF65-F5344CB8AC3E}">
        <p14:creationId xmlns:p14="http://schemas.microsoft.com/office/powerpoint/2010/main" val="31613955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 name="Rectangle 9">
            <a:extLst>
              <a:ext uri="{FF2B5EF4-FFF2-40B4-BE49-F238E27FC236}">
                <a16:creationId xmlns:a16="http://schemas.microsoft.com/office/drawing/2014/main" id="{7462BFBC-0E19-4E6F-B0C7-CD5C519BC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2" name="Group 11">
            <a:extLst>
              <a:ext uri="{FF2B5EF4-FFF2-40B4-BE49-F238E27FC236}">
                <a16:creationId xmlns:a16="http://schemas.microsoft.com/office/drawing/2014/main" id="{F2C2A007-4AE9-49C4-B364-5FDF345962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3" name="Picture 12">
              <a:extLst>
                <a:ext uri="{FF2B5EF4-FFF2-40B4-BE49-F238E27FC236}">
                  <a16:creationId xmlns:a16="http://schemas.microsoft.com/office/drawing/2014/main" id="{7078F960-6916-4F42-8EF7-539F7BCF6E1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14" name="Picture 13">
              <a:extLst>
                <a:ext uri="{FF2B5EF4-FFF2-40B4-BE49-F238E27FC236}">
                  <a16:creationId xmlns:a16="http://schemas.microsoft.com/office/drawing/2014/main" id="{5DDD393C-0974-429B-BE40-48457E19E48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2">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16" name="Rectangle 15">
            <a:extLst>
              <a:ext uri="{FF2B5EF4-FFF2-40B4-BE49-F238E27FC236}">
                <a16:creationId xmlns:a16="http://schemas.microsoft.com/office/drawing/2014/main" id="{D813CD98-5EBE-426D-A4AC-FA5518B09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53545A-B2D3-41EE-A91C-DBF43402D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276"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8C80FF-1458-672B-EF54-F93163D8543A}"/>
              </a:ext>
            </a:extLst>
          </p:cNvPr>
          <p:cNvSpPr>
            <a:spLocks noGrp="1"/>
          </p:cNvSpPr>
          <p:nvPr>
            <p:ph type="title"/>
          </p:nvPr>
        </p:nvSpPr>
        <p:spPr>
          <a:xfrm>
            <a:off x="1143318" y="914400"/>
            <a:ext cx="4952681" cy="5105400"/>
          </a:xfrm>
        </p:spPr>
        <p:txBody>
          <a:bodyPr anchor="ctr">
            <a:normAutofit/>
          </a:bodyPr>
          <a:lstStyle/>
          <a:p>
            <a:r>
              <a:rPr lang="en-GB" b="1" i="0">
                <a:effectLst/>
                <a:latin typeface="Söhne"/>
              </a:rPr>
              <a:t>Real-World Applications</a:t>
            </a:r>
            <a:br>
              <a:rPr lang="en-GB" b="0" i="0">
                <a:effectLst/>
                <a:latin typeface="Söhne"/>
              </a:rPr>
            </a:br>
            <a:endParaRPr lang="en-IE" dirty="0"/>
          </a:p>
        </p:txBody>
      </p:sp>
      <p:sp>
        <p:nvSpPr>
          <p:cNvPr id="3" name="Content Placeholder 2">
            <a:extLst>
              <a:ext uri="{FF2B5EF4-FFF2-40B4-BE49-F238E27FC236}">
                <a16:creationId xmlns:a16="http://schemas.microsoft.com/office/drawing/2014/main" id="{BF614BA2-B1D4-0252-24E5-E5CED64E1BF3}"/>
              </a:ext>
            </a:extLst>
          </p:cNvPr>
          <p:cNvSpPr>
            <a:spLocks noGrp="1"/>
          </p:cNvSpPr>
          <p:nvPr>
            <p:ph idx="1"/>
          </p:nvPr>
        </p:nvSpPr>
        <p:spPr>
          <a:xfrm>
            <a:off x="6324601" y="914400"/>
            <a:ext cx="4800600" cy="5105400"/>
          </a:xfrm>
        </p:spPr>
        <p:txBody>
          <a:bodyPr anchor="ctr">
            <a:normAutofit/>
          </a:bodyPr>
          <a:lstStyle/>
          <a:p>
            <a:pPr>
              <a:buFont typeface="Arial" panose="020B0604020202020204" pitchFamily="34" charset="0"/>
              <a:buChar char="•"/>
            </a:pPr>
            <a:r>
              <a:rPr lang="en-GB" sz="1800" b="0" i="0" dirty="0">
                <a:effectLst/>
                <a:latin typeface="Söhne"/>
              </a:rPr>
              <a:t>Finance: Forecasting stock prices, market trends, and currency exchange rates</a:t>
            </a:r>
          </a:p>
          <a:p>
            <a:pPr>
              <a:buFont typeface="Arial" panose="020B0604020202020204" pitchFamily="34" charset="0"/>
              <a:buChar char="•"/>
            </a:pPr>
            <a:r>
              <a:rPr lang="en-GB" sz="1800" b="0" i="0" dirty="0">
                <a:effectLst/>
                <a:latin typeface="Söhne"/>
              </a:rPr>
              <a:t>Supply Chain Management: Demand forecasting, inventory management, and production planning</a:t>
            </a:r>
          </a:p>
          <a:p>
            <a:pPr>
              <a:buFont typeface="Arial" panose="020B0604020202020204" pitchFamily="34" charset="0"/>
              <a:buChar char="•"/>
            </a:pPr>
            <a:r>
              <a:rPr lang="en-GB" sz="1800" b="0" i="0" dirty="0">
                <a:effectLst/>
                <a:latin typeface="Söhne"/>
              </a:rPr>
              <a:t>Weather Forecasting: Predicting weather conditions, temperature, and precipitation</a:t>
            </a:r>
          </a:p>
          <a:p>
            <a:pPr>
              <a:buFont typeface="Arial" panose="020B0604020202020204" pitchFamily="34" charset="0"/>
              <a:buChar char="•"/>
            </a:pPr>
            <a:r>
              <a:rPr lang="en-GB" sz="1800" b="0" i="0" dirty="0">
                <a:effectLst/>
                <a:latin typeface="Söhne"/>
              </a:rPr>
              <a:t>Energy Consumption: Forecasting energy usage and optimizing distribution</a:t>
            </a:r>
          </a:p>
          <a:p>
            <a:endParaRPr lang="en-IE" sz="1800" dirty="0"/>
          </a:p>
        </p:txBody>
      </p:sp>
    </p:spTree>
    <p:extLst>
      <p:ext uri="{BB962C8B-B14F-4D97-AF65-F5344CB8AC3E}">
        <p14:creationId xmlns:p14="http://schemas.microsoft.com/office/powerpoint/2010/main" val="152527274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4"/>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12" name="Picture 11">
            <a:extLst>
              <a:ext uri="{FF2B5EF4-FFF2-40B4-BE49-F238E27FC236}">
                <a16:creationId xmlns:a16="http://schemas.microsoft.com/office/drawing/2014/main" id="{BC526B7A-4801-4FD1-95C8-03AF22629E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8534400" y="0"/>
            <a:ext cx="3654612" cy="4575348"/>
          </a:xfrm>
          <a:prstGeom prst="rect">
            <a:avLst/>
          </a:prstGeom>
        </p:spPr>
      </p:pic>
      <p:sp useBgFill="1">
        <p:nvSpPr>
          <p:cNvPr id="14" name="Rectangle 13">
            <a:extLst>
              <a:ext uri="{FF2B5EF4-FFF2-40B4-BE49-F238E27FC236}">
                <a16:creationId xmlns:a16="http://schemas.microsoft.com/office/drawing/2014/main" id="{DE61FBD7-E37C-4B38-BE44-A6D4978D7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6" name="Rectangle 15">
            <a:extLst>
              <a:ext uri="{FF2B5EF4-FFF2-40B4-BE49-F238E27FC236}">
                <a16:creationId xmlns:a16="http://schemas.microsoft.com/office/drawing/2014/main" id="{392BFCFE-FD78-4EDF-BEFE-CC444DC5F3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8" name="Group 17">
            <a:extLst>
              <a:ext uri="{FF2B5EF4-FFF2-40B4-BE49-F238E27FC236}">
                <a16:creationId xmlns:a16="http://schemas.microsoft.com/office/drawing/2014/main" id="{0292BAD4-5BB2-4CD3-AB5B-C35EF9F7D2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V="1">
            <a:off x="0" y="1"/>
            <a:ext cx="5236971" cy="6858000"/>
            <a:chOff x="20829" y="1"/>
            <a:chExt cx="5236971" cy="6857999"/>
          </a:xfrm>
        </p:grpSpPr>
        <p:pic>
          <p:nvPicPr>
            <p:cNvPr id="19" name="Picture 18">
              <a:extLst>
                <a:ext uri="{FF2B5EF4-FFF2-40B4-BE49-F238E27FC236}">
                  <a16:creationId xmlns:a16="http://schemas.microsoft.com/office/drawing/2014/main" id="{BA91DE0E-6861-418E-964C-304C560A350C}"/>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Lst>
            </a:blip>
            <a:stretch>
              <a:fillRect/>
            </a:stretch>
          </p:blipFill>
          <p:spPr>
            <a:xfrm>
              <a:off x="20829" y="692703"/>
              <a:ext cx="5236971" cy="6165297"/>
            </a:xfrm>
            <a:prstGeom prst="rect">
              <a:avLst/>
            </a:prstGeom>
          </p:spPr>
        </p:pic>
        <p:pic>
          <p:nvPicPr>
            <p:cNvPr id="20" name="Picture 19">
              <a:extLst>
                <a:ext uri="{FF2B5EF4-FFF2-40B4-BE49-F238E27FC236}">
                  <a16:creationId xmlns:a16="http://schemas.microsoft.com/office/drawing/2014/main" id="{BE848AF8-FC50-42AF-8B5B-3F6D2EC34CB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alphaModFix amt="8000"/>
              <a:extLst>
                <a:ext uri="{28A0092B-C50C-407E-A947-70E740481C1C}">
                  <a14:useLocalDpi xmlns:a14="http://schemas.microsoft.com/office/drawing/2010/main" val="0"/>
                </a:ext>
              </a:extLst>
            </a:blip>
            <a:srcRect l="19154" b="19117"/>
            <a:stretch/>
          </p:blipFill>
          <p:spPr>
            <a:xfrm rot="5400000">
              <a:off x="393956" y="-373126"/>
              <a:ext cx="4197222" cy="4943475"/>
            </a:xfrm>
            <a:prstGeom prst="rect">
              <a:avLst/>
            </a:prstGeom>
          </p:spPr>
        </p:pic>
      </p:grpSp>
      <p:sp>
        <p:nvSpPr>
          <p:cNvPr id="22" name="Rectangle 21">
            <a:extLst>
              <a:ext uri="{FF2B5EF4-FFF2-40B4-BE49-F238E27FC236}">
                <a16:creationId xmlns:a16="http://schemas.microsoft.com/office/drawing/2014/main" id="{B629C0B3-01E5-4A82-B87C-62B1483F11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1228"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4DFA784-845D-4F99-B808-5C025E39B8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1228" y="685800"/>
            <a:ext cx="10820400" cy="54864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A1AB77-89B2-0608-58ED-DF151C31CDA2}"/>
              </a:ext>
            </a:extLst>
          </p:cNvPr>
          <p:cNvSpPr>
            <a:spLocks noGrp="1"/>
          </p:cNvSpPr>
          <p:nvPr>
            <p:ph type="title"/>
          </p:nvPr>
        </p:nvSpPr>
        <p:spPr>
          <a:xfrm>
            <a:off x="5638800" y="1066800"/>
            <a:ext cx="5367527" cy="2833528"/>
          </a:xfrm>
        </p:spPr>
        <p:txBody>
          <a:bodyPr vert="horz" lIns="91440" tIns="45720" rIns="91440" bIns="45720" rtlCol="0" anchor="b">
            <a:normAutofit/>
          </a:bodyPr>
          <a:lstStyle/>
          <a:p>
            <a:r>
              <a:rPr lang="en-US" dirty="0"/>
              <a:t>Questions</a:t>
            </a:r>
          </a:p>
        </p:txBody>
      </p:sp>
      <p:pic>
        <p:nvPicPr>
          <p:cNvPr id="7" name="Graphic 6" descr="Help">
            <a:extLst>
              <a:ext uri="{FF2B5EF4-FFF2-40B4-BE49-F238E27FC236}">
                <a16:creationId xmlns:a16="http://schemas.microsoft.com/office/drawing/2014/main" id="{4D4CE038-9375-7610-9D31-F0D8BD06985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6800" y="1360539"/>
            <a:ext cx="4209625" cy="4209625"/>
          </a:xfrm>
          <a:prstGeom prst="rect">
            <a:avLst/>
          </a:prstGeom>
        </p:spPr>
      </p:pic>
    </p:spTree>
    <p:extLst>
      <p:ext uri="{BB962C8B-B14F-4D97-AF65-F5344CB8AC3E}">
        <p14:creationId xmlns:p14="http://schemas.microsoft.com/office/powerpoint/2010/main" val="1634784529"/>
      </p:ext>
    </p:extLst>
  </p:cSld>
  <p:clrMapOvr>
    <a:masterClrMapping/>
  </p:clrMapOvr>
</p:sld>
</file>

<file path=ppt/theme/theme1.xml><?xml version="1.0" encoding="utf-8"?>
<a:theme xmlns:a="http://schemas.openxmlformats.org/drawingml/2006/main" name="DappledVTI">
  <a:themeElements>
    <a:clrScheme name="AnalogousFromRegularSeedRightStep">
      <a:dk1>
        <a:srgbClr val="000000"/>
      </a:dk1>
      <a:lt1>
        <a:srgbClr val="FFFFFF"/>
      </a:lt1>
      <a:dk2>
        <a:srgbClr val="1C2732"/>
      </a:dk2>
      <a:lt2>
        <a:srgbClr val="F3F0F1"/>
      </a:lt2>
      <a:accent1>
        <a:srgbClr val="21B782"/>
      </a:accent1>
      <a:accent2>
        <a:srgbClr val="14B1BC"/>
      </a:accent2>
      <a:accent3>
        <a:srgbClr val="298CE7"/>
      </a:accent3>
      <a:accent4>
        <a:srgbClr val="2E40D9"/>
      </a:accent4>
      <a:accent5>
        <a:srgbClr val="6529E7"/>
      </a:accent5>
      <a:accent6>
        <a:srgbClr val="A217D5"/>
      </a:accent6>
      <a:hlink>
        <a:srgbClr val="BF3F6C"/>
      </a:hlink>
      <a:folHlink>
        <a:srgbClr val="7F7F7F"/>
      </a:folHlink>
    </a:clrScheme>
    <a:fontScheme name="Custom 67">
      <a:majorFont>
        <a:latin typeface="Sabon Next L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ppledVTI" id="{204FEFAB-F02B-4FE8-B509-C50A618B972D}" vid="{7EAEADA8-5A8E-45B2-B0E4-448EC7E7A94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1779</TotalTime>
  <Words>10484</Words>
  <Application>Microsoft Office PowerPoint</Application>
  <PresentationFormat>Widescreen</PresentationFormat>
  <Paragraphs>539</Paragraphs>
  <Slides>128</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128</vt:i4>
      </vt:variant>
    </vt:vector>
  </HeadingPairs>
  <TitlesOfParts>
    <vt:vector size="137" baseType="lpstr">
      <vt:lpstr>Aptos</vt:lpstr>
      <vt:lpstr>Arial</vt:lpstr>
      <vt:lpstr>Avenir Next LT Pro</vt:lpstr>
      <vt:lpstr>AvenirNext LT Pro Medium</vt:lpstr>
      <vt:lpstr>KaTeX_Main</vt:lpstr>
      <vt:lpstr>Raleway</vt:lpstr>
      <vt:lpstr>Sabon Next LT</vt:lpstr>
      <vt:lpstr>Söhne</vt:lpstr>
      <vt:lpstr>DappledVTI</vt:lpstr>
      <vt:lpstr>Lecture Topic :Fundamentals of Data Analytics  Date : (Week 7)  Lecturer : Aidan Pender</vt:lpstr>
      <vt:lpstr>  Time Series Analysis and Forecasting</vt:lpstr>
      <vt:lpstr>What is Time Series Analysis / Forecasting</vt:lpstr>
      <vt:lpstr>What is Time Series Analysis / Forecasting</vt:lpstr>
      <vt:lpstr>What is Time Series Analysis / Forecasting</vt:lpstr>
      <vt:lpstr>What is Forecasting?</vt:lpstr>
      <vt:lpstr>What is Forecasting?</vt:lpstr>
      <vt:lpstr>What is Forecasting?</vt:lpstr>
      <vt:lpstr>What is Forecasting?</vt:lpstr>
      <vt:lpstr>Significance of Time Series Analysis  </vt:lpstr>
      <vt:lpstr>Significance of Time Series Analysis</vt:lpstr>
      <vt:lpstr>Significance of Time Series Analysis</vt:lpstr>
      <vt:lpstr>Significance of Time Series Analysis</vt:lpstr>
      <vt:lpstr>Significance of Time Series Analysis</vt:lpstr>
      <vt:lpstr>Significance of Time Series Analysis</vt:lpstr>
      <vt:lpstr>YouTube / Extra Resources</vt:lpstr>
      <vt:lpstr>Objectives of Time Series Forecasting   </vt:lpstr>
      <vt:lpstr>Objectives of Time Series Forecasting </vt:lpstr>
      <vt:lpstr>Objectives of Time Series Forecasting </vt:lpstr>
      <vt:lpstr>Objectives of Time Series Forecasting </vt:lpstr>
      <vt:lpstr>Objectives of Time Series Forecasting </vt:lpstr>
      <vt:lpstr>Objectives of Time Series Forecasting </vt:lpstr>
      <vt:lpstr>Extra Resources  </vt:lpstr>
      <vt:lpstr>Definition of Time Series Data  </vt:lpstr>
      <vt:lpstr>Definition of Time Series Data</vt:lpstr>
      <vt:lpstr>Definition of Time Series Data</vt:lpstr>
      <vt:lpstr>Definition of Time Series Data</vt:lpstr>
      <vt:lpstr>Characteristics of Time Series Data   </vt:lpstr>
      <vt:lpstr>Characteristics of Time Series Data </vt:lpstr>
      <vt:lpstr>Characteristics of Time Series Data </vt:lpstr>
      <vt:lpstr>Characteristics of Time Series Data </vt:lpstr>
      <vt:lpstr>Characteristics of Time Series Data </vt:lpstr>
      <vt:lpstr>Types of Time Series Data (e.g., univariate and multivariate)  </vt:lpstr>
      <vt:lpstr>Univariate Time Series Data:  </vt:lpstr>
      <vt:lpstr>Multivariate Time Series Data:</vt:lpstr>
      <vt:lpstr>Multivariate Time Series Data:</vt:lpstr>
      <vt:lpstr>Time Series Components</vt:lpstr>
      <vt:lpstr>Time Series Components</vt:lpstr>
      <vt:lpstr>Time Series Components</vt:lpstr>
      <vt:lpstr>Time Series Components</vt:lpstr>
      <vt:lpstr>Time Series Components</vt:lpstr>
      <vt:lpstr>Trend Analysis: Identifying long-term trends in time series data  </vt:lpstr>
      <vt:lpstr>Trend Analysis: Identifying long-term trends in time series data</vt:lpstr>
      <vt:lpstr>Trend Analysis: Identifying long-term trends in time series data</vt:lpstr>
      <vt:lpstr>Key Steps in Trend Analysis:</vt:lpstr>
      <vt:lpstr>Key Steps in Trend Analysis:</vt:lpstr>
      <vt:lpstr>Applications of Trend Analysis:  </vt:lpstr>
      <vt:lpstr>Trend Analysis:  </vt:lpstr>
      <vt:lpstr>Seasonal Patterns: Recognizing recurring patterns over specific time intervals  </vt:lpstr>
      <vt:lpstr>Seasonal Patterns: Recognising recurring patterns over specific time intervals</vt:lpstr>
      <vt:lpstr>Objectives of Recognising Seasonal Patterns:  </vt:lpstr>
      <vt:lpstr>Key Steps in Recognising Seasonal Patterns:  </vt:lpstr>
      <vt:lpstr>Applications of Seasonal Patterns:  </vt:lpstr>
      <vt:lpstr>Applications of Seasonal Patterns:  </vt:lpstr>
      <vt:lpstr>Irregular Components: Understanding random variations and outliers   </vt:lpstr>
      <vt:lpstr>Definition of Irregular Components:</vt:lpstr>
      <vt:lpstr>Characteristics of Irregular Components:  </vt:lpstr>
      <vt:lpstr>Objectives of Understanding Irregular Components:  </vt:lpstr>
      <vt:lpstr>Key Steps in Understanding Irregular Components:  </vt:lpstr>
      <vt:lpstr>Key Steps in Understanding Irregular Components:  </vt:lpstr>
      <vt:lpstr>Applications of Understanding Irregular Components:  </vt:lpstr>
      <vt:lpstr>Applications of Understanding Irregular Components:</vt:lpstr>
      <vt:lpstr>Cyclical Patterns: Analysing non-seasonal cyclic trends  </vt:lpstr>
      <vt:lpstr>Characteristics of Cyclical Patterns:</vt:lpstr>
      <vt:lpstr>Characteristics of Cyclical Patterns:</vt:lpstr>
      <vt:lpstr>Objectives of Analysing Cyclical Patterns:  </vt:lpstr>
      <vt:lpstr>Key Steps in Analysing Cyclical Patterns:  </vt:lpstr>
      <vt:lpstr>Applications of Analysing Cyclical Patterns:  </vt:lpstr>
      <vt:lpstr>Applications of Analysing Cyclical Patterns:  </vt:lpstr>
      <vt:lpstr>Time Series Decomposition  </vt:lpstr>
      <vt:lpstr>Components of Time Series Decomposition:</vt:lpstr>
      <vt:lpstr>Components of Time Series Decomposition:</vt:lpstr>
      <vt:lpstr>Importance of Time Series Decomposition:</vt:lpstr>
      <vt:lpstr>Methods for Time Series Decomposition:</vt:lpstr>
      <vt:lpstr>Steps in Time Series Decomposition:</vt:lpstr>
      <vt:lpstr>Decomposition Methods: Discussing additive and multiplicative decomposition techniques</vt:lpstr>
      <vt:lpstr>Additive Decomposition:</vt:lpstr>
      <vt:lpstr>Multiplicative Decomposition:</vt:lpstr>
      <vt:lpstr>Key Considerations:</vt:lpstr>
      <vt:lpstr>Key Considerations:</vt:lpstr>
      <vt:lpstr>Key Considerations:</vt:lpstr>
      <vt:lpstr>Practical Examples: Deconstructing real-world time series data</vt:lpstr>
      <vt:lpstr>Practical Examples: Deconstructing real-world time series data</vt:lpstr>
      <vt:lpstr>Practical Examples: Deconstructing real-world time series data</vt:lpstr>
      <vt:lpstr>Practical Examples: Deconstructing real-world time series data</vt:lpstr>
      <vt:lpstr>Practical Examples: Deconstructing real-world time series data</vt:lpstr>
      <vt:lpstr>Practical Examples: Deconstructing real-world time series data</vt:lpstr>
      <vt:lpstr>Practical Examples: Deconstructing real-world time series data</vt:lpstr>
      <vt:lpstr>Practical Examples: Deconstructing real-world time series data</vt:lpstr>
      <vt:lpstr>Practical Examples: Deconstructing real-world time series data</vt:lpstr>
      <vt:lpstr>Practical Examples: Deconstructing real-world time series data</vt:lpstr>
      <vt:lpstr>Practical Examples: Deconstructing real-world time series data</vt:lpstr>
      <vt:lpstr>Forecasting Methods</vt:lpstr>
      <vt:lpstr>Forecasting Methods</vt:lpstr>
      <vt:lpstr>Weighted Moving Averages (WMA): </vt:lpstr>
      <vt:lpstr>Weighted Moving Averages (WMA): </vt:lpstr>
      <vt:lpstr>Weighted Moving Averages (WMA):</vt:lpstr>
      <vt:lpstr>Weighted Moving Averages (WMA):</vt:lpstr>
      <vt:lpstr>Exponential Smoothing:</vt:lpstr>
      <vt:lpstr>Single Exponential Smoothing (SES):  </vt:lpstr>
      <vt:lpstr>Single Exponential Smoothing (SES):</vt:lpstr>
      <vt:lpstr>Single Exponential Smoothing (SES):</vt:lpstr>
      <vt:lpstr>Double Exponential Smoothing (Holt's Linear Exponential Smoothing):</vt:lpstr>
      <vt:lpstr>Exponential Smoothing (SES): </vt:lpstr>
      <vt:lpstr>ARIMA Models:</vt:lpstr>
      <vt:lpstr>ARIMA Models:</vt:lpstr>
      <vt:lpstr>ARIMA</vt:lpstr>
      <vt:lpstr>Key Steps in Building ARIMA Models:</vt:lpstr>
      <vt:lpstr>ARIMA Models:</vt:lpstr>
      <vt:lpstr>ARIMA Models:</vt:lpstr>
      <vt:lpstr>ARIMA Models:</vt:lpstr>
      <vt:lpstr>Evaluation of Forecasting Models</vt:lpstr>
      <vt:lpstr>Forecasting Accuracy Metrics:</vt:lpstr>
      <vt:lpstr>Forecasting Accuracy Metrics:</vt:lpstr>
      <vt:lpstr>Forecasting Accuracy Metrics:</vt:lpstr>
      <vt:lpstr>Forecasting Accuracy Metrics:</vt:lpstr>
      <vt:lpstr>Forecasting Accuracy Metrics:</vt:lpstr>
      <vt:lpstr>Model Selection:</vt:lpstr>
      <vt:lpstr>Model Selection:</vt:lpstr>
      <vt:lpstr>Model Selection:</vt:lpstr>
      <vt:lpstr>Cross-Validation: The importance of validating models with holdout datasets</vt:lpstr>
      <vt:lpstr>The Importance of Cross-Validation:</vt:lpstr>
      <vt:lpstr>The Importance of Cross-Validation:</vt:lpstr>
      <vt:lpstr>How Cross-Validation Works:</vt:lpstr>
      <vt:lpstr>How Cross-Validation Works:</vt:lpstr>
      <vt:lpstr>How Cross-Validation Works:</vt:lpstr>
      <vt:lpstr>Real-World Applications </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Topic :Fundamentals of Data Analytics  Date : 31st October 2023 (Week 7)  Lecturer : Aidan Pender</dc:title>
  <dc:creator>Aidan Pender</dc:creator>
  <cp:lastModifiedBy>Aidan Pender</cp:lastModifiedBy>
  <cp:revision>6</cp:revision>
  <dcterms:created xsi:type="dcterms:W3CDTF">2023-10-29T19:27:47Z</dcterms:created>
  <dcterms:modified xsi:type="dcterms:W3CDTF">2025-04-14T09:32:20Z</dcterms:modified>
</cp:coreProperties>
</file>